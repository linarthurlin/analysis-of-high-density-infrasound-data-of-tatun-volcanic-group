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8D0D8"/>
    <a:srgbClr val="FFFBF6"/>
    <a:srgbClr val="E9E2F7"/>
    <a:srgbClr val="595959"/>
    <a:srgbClr val="BDBEBE"/>
    <a:srgbClr val="CECECF"/>
    <a:srgbClr val="A3988E"/>
    <a:srgbClr val="EAA700"/>
    <a:srgbClr val="FFC7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33" d="100"/>
          <a:sy n="33" d="100"/>
        </p:scale>
        <p:origin x="2658" y="-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58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11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173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35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74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7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394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03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44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08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F8018-0AC7-4BA2-BE49-88A3DC346BC0}" type="datetimeFigureOut">
              <a:rPr lang="zh-TW" altLang="en-US" smtClean="0"/>
              <a:t>2023/8/13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0C195-63BF-4C1C-8E91-6AAD7E24C0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69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9518D49-FB22-20C3-2E01-7B1860190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679" y="862139"/>
            <a:ext cx="4464988" cy="1495579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381B28F-0F31-4DC4-9E0E-7B6F6A607A47}"/>
              </a:ext>
            </a:extLst>
          </p:cNvPr>
          <p:cNvSpPr txBox="1"/>
          <p:nvPr/>
        </p:nvSpPr>
        <p:spPr>
          <a:xfrm>
            <a:off x="5763490" y="1026614"/>
            <a:ext cx="117262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大屯火山群高密度次聲波資料分析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7E7E7D9-C601-4B47-B530-93B01E5D76CA}"/>
              </a:ext>
            </a:extLst>
          </p:cNvPr>
          <p:cNvSpPr txBox="1"/>
          <p:nvPr/>
        </p:nvSpPr>
        <p:spPr>
          <a:xfrm>
            <a:off x="5763490" y="2018494"/>
            <a:ext cx="32303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專案經理 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張慰慈</a:t>
            </a: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實習生 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林奕丞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33337B-3341-4BAD-B4E2-14A98C073F1E}"/>
              </a:ext>
            </a:extLst>
          </p:cNvPr>
          <p:cNvSpPr txBox="1"/>
          <p:nvPr/>
        </p:nvSpPr>
        <p:spPr>
          <a:xfrm>
            <a:off x="5915889" y="4436499"/>
            <a:ext cx="147070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大屯火山為活火山，傳統方法需監測噴氣成分、噴氣溫度。分析次聲波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(20 Hz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以下之聲波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為一火山監控嶄新領域，並希望透過資訊方法深入分析現有的次聲波資料。計畫最終目的為建立次聲波訊號智慧分析與識別模組，完成自動化分析系統，及時監控大屯火山活動。</a:t>
            </a: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FFAD2A27-F164-6031-F430-88AF3E15EF09}"/>
              </a:ext>
            </a:extLst>
          </p:cNvPr>
          <p:cNvSpPr txBox="1"/>
          <p:nvPr/>
        </p:nvSpPr>
        <p:spPr>
          <a:xfrm>
            <a:off x="12962132" y="12490998"/>
            <a:ext cx="3997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(2023/03/03~2023/03/19)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E5C2695A-1457-1D5D-9F05-1AEB45D9E3AC}"/>
              </a:ext>
            </a:extLst>
          </p:cNvPr>
          <p:cNvGrpSpPr/>
          <p:nvPr/>
        </p:nvGrpSpPr>
        <p:grpSpPr>
          <a:xfrm>
            <a:off x="5761377" y="7843935"/>
            <a:ext cx="14979165" cy="8844667"/>
            <a:chOff x="5761377" y="7843935"/>
            <a:chExt cx="14979165" cy="8844667"/>
          </a:xfrm>
        </p:grpSpPr>
        <p:sp>
          <p:nvSpPr>
            <p:cNvPr id="99" name="流程圖: 程序 98">
              <a:extLst>
                <a:ext uri="{FF2B5EF4-FFF2-40B4-BE49-F238E27FC236}">
                  <a16:creationId xmlns:a16="http://schemas.microsoft.com/office/drawing/2014/main" id="{BC8780B2-8A9C-8234-15EC-C67C3BA6A3EE}"/>
                </a:ext>
              </a:extLst>
            </p:cNvPr>
            <p:cNvSpPr/>
            <p:nvPr/>
          </p:nvSpPr>
          <p:spPr>
            <a:xfrm>
              <a:off x="5761377" y="7848082"/>
              <a:ext cx="3331262" cy="1243226"/>
            </a:xfrm>
            <a:prstGeom prst="flowChartProcess">
              <a:avLst/>
            </a:prstGeom>
            <a:solidFill>
              <a:srgbClr val="7D6F63"/>
            </a:solidFill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3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次聲波原始資料</a:t>
              </a:r>
              <a:endPara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流程圖: 程序 99">
              <a:extLst>
                <a:ext uri="{FF2B5EF4-FFF2-40B4-BE49-F238E27FC236}">
                  <a16:creationId xmlns:a16="http://schemas.microsoft.com/office/drawing/2014/main" id="{2B63DC11-D154-6670-9B92-8AB79E922FF5}"/>
                </a:ext>
              </a:extLst>
            </p:cNvPr>
            <p:cNvSpPr/>
            <p:nvPr/>
          </p:nvSpPr>
          <p:spPr>
            <a:xfrm>
              <a:off x="9200888" y="7843935"/>
              <a:ext cx="11422057" cy="1243226"/>
            </a:xfrm>
            <a:prstGeom prst="flowChartProcess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>
                <a:buFont typeface="+mj-lt"/>
                <a:buAutoNum type="arabicPeriod"/>
              </a:pP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五個廣布陽明山之次聲波測站 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(YD04</a:t>
              </a: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、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05</a:t>
              </a: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、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06</a:t>
              </a: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、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07</a:t>
              </a: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、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21)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17</a:t>
              </a:r>
              <a:r>
                <a:rPr lang="zh-TW" altLang="en-US" sz="3000" dirty="0">
                  <a:solidFill>
                    <a:schemeClr val="accent3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天時間域資料集，取樣頻率為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 </a:t>
              </a:r>
              <a:r>
                <a:rPr lang="en-US" altLang="zh-TW" sz="3000" dirty="0">
                  <a:solidFill>
                    <a:schemeClr val="accent3">
                      <a:lumMod val="50000"/>
                    </a:schemeClr>
                  </a:solidFill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Hz</a:t>
              </a:r>
              <a:endParaRPr lang="zh-TW" altLang="en-US" sz="3000" dirty="0">
                <a:solidFill>
                  <a:schemeClr val="accent3">
                    <a:lumMod val="50000"/>
                  </a:schemeClr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endParaRPr>
            </a:p>
          </p:txBody>
        </p:sp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id="{B61E6301-C514-9026-9B23-EE39B38954C6}"/>
                </a:ext>
              </a:extLst>
            </p:cNvPr>
            <p:cNvGrpSpPr/>
            <p:nvPr/>
          </p:nvGrpSpPr>
          <p:grpSpPr>
            <a:xfrm>
              <a:off x="5761377" y="9227203"/>
              <a:ext cx="14979165" cy="7461399"/>
              <a:chOff x="5754904" y="12461778"/>
              <a:chExt cx="14979165" cy="7461399"/>
            </a:xfrm>
          </p:grpSpPr>
          <p:grpSp>
            <p:nvGrpSpPr>
              <p:cNvPr id="55" name="群組 54">
                <a:extLst>
                  <a:ext uri="{FF2B5EF4-FFF2-40B4-BE49-F238E27FC236}">
                    <a16:creationId xmlns:a16="http://schemas.microsoft.com/office/drawing/2014/main" id="{5C6E5F9F-ECDF-6AE2-151C-7AFBB4F12977}"/>
                  </a:ext>
                </a:extLst>
              </p:cNvPr>
              <p:cNvGrpSpPr/>
              <p:nvPr/>
            </p:nvGrpSpPr>
            <p:grpSpPr>
              <a:xfrm>
                <a:off x="5758918" y="15219726"/>
                <a:ext cx="14945051" cy="1933533"/>
                <a:chOff x="5761030" y="11667401"/>
                <a:chExt cx="14945051" cy="193353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0" name="流程圖: 程序 39">
                      <a:extLst>
                        <a:ext uri="{FF2B5EF4-FFF2-40B4-BE49-F238E27FC236}">
                          <a16:creationId xmlns:a16="http://schemas.microsoft.com/office/drawing/2014/main" id="{85E95F8F-87A7-059B-5631-8D7CDB1F9F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64079" y="11673269"/>
                      <a:ext cx="11542002" cy="1927665"/>
                    </a:xfrm>
                    <a:prstGeom prst="flowChartProcess">
                      <a:avLst/>
                    </a:prstGeom>
                    <a:no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defTabSz="914400">
                        <a:defRPr/>
                      </a:pPr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功率譜密度</a:t>
                      </a:r>
                      <a14:m>
                        <m:oMath xmlns:m="http://schemas.openxmlformats.org/officeDocument/2006/math">
                          <m:r>
                            <a:rPr kumimoji="0" lang="en-US" altLang="zh-TW" sz="3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𝑃𝑆𝐷</m:t>
                          </m:r>
                          <m:d>
                            <m:dPr>
                              <m:ctrlP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e>
                          </m:d>
                          <m:r>
                            <a:rPr kumimoji="0" lang="en-US" altLang="zh-TW" sz="3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f>
                            <m:fPr>
                              <m:ctrlP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altLang="zh-TW" sz="3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kumimoji="0" lang="en-US" altLang="zh-TW" sz="3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zh-TW" sz="3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  <m:r>
                                        <a:rPr kumimoji="0" lang="en-US" altLang="zh-TW" sz="3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altLang="zh-TW" sz="3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𝑓</m:t>
                                      </m:r>
                                      <m:r>
                                        <a:rPr kumimoji="0" lang="en-US" altLang="zh-TW" sz="3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zh-TW" sz="3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N</m:t>
                              </m:r>
                            </m:den>
                          </m:f>
                        </m:oMath>
                      </a14:m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，其中</a:t>
                      </a:r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0" lang="en-US" altLang="zh-TW" sz="3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  <a:cs typeface="+mn-cs"/>
                            </a:rPr>
                            <m:t>X</m:t>
                          </m:r>
                          <m:r>
                            <a:rPr kumimoji="0" lang="en-US" altLang="zh-TW" sz="3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  <a:cs typeface="+mn-cs"/>
                            </a:rPr>
                            <m:t>(</m:t>
                          </m:r>
                          <m:r>
                            <a:rPr kumimoji="0" lang="en-US" altLang="zh-TW" sz="3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TW" sz="3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  <a:cs typeface="+mn-cs"/>
                            </a:rPr>
                            <m:t>)</m:t>
                          </m:r>
                        </m:oMath>
                      </a14:m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為頻率域資料，</a:t>
                      </a:r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0" lang="en-US" altLang="zh-TW" sz="3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  <a:cs typeface="+mn-cs"/>
                            </a:rPr>
                            <m:t>N</m:t>
                          </m:r>
                        </m:oMath>
                      </a14:m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為資料</a:t>
                      </a:r>
                      <a:r>
                        <a:rPr lang="zh-TW" altLang="en-US" sz="3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點數，並繪製頻帶功率圖，查看在某段時間之特殊事件</a:t>
                      </a:r>
                      <a:endParaRPr lang="en-US" altLang="zh-TW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defTabSz="914400">
                        <a:defRPr/>
                      </a:pPr>
                      <a:r>
                        <a:rPr kumimoji="0" lang="zh-TW" altLang="en-US" sz="30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頻帶功率</a:t>
                      </a:r>
                      <a:r>
                        <a:rPr kumimoji="0" lang="zh-TW" altLang="en-US" sz="3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P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kumimoji="0" lang="en-US" altLang="zh-TW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TW" altLang="en-US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0" lang="en-US" altLang="zh-TW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e>
                          </m:d>
                          <m:r>
                            <a:rPr kumimoji="0" lang="en-US" altLang="zh-TW" sz="3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kumimoji="0" lang="en-US" altLang="zh-TW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TW" altLang="en-US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0" lang="en-US" altLang="zh-TW" sz="3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𝑃𝑆𝐷</m:t>
                              </m:r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altLang="zh-TW" sz="3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nary>
                        </m:oMath>
                      </a14:m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，其中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zh-TW" altLang="en-US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e>
                            <m:sup>
                              <m:r>
                                <a:rPr kumimoji="0" lang="en-US" altLang="zh-TW" sz="3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</m:sup>
                          </m:sSup>
                        </m:oMath>
                      </a14:m>
                      <a:r>
                        <a:rPr kumimoji="0" lang="zh-TW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為特定頻帶</a:t>
                      </a:r>
                      <a:endParaRPr kumimoji="0" lang="en-US" altLang="zh-TW" sz="3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40" name="流程圖: 程序 39">
                      <a:extLst>
                        <a:ext uri="{FF2B5EF4-FFF2-40B4-BE49-F238E27FC236}">
                          <a16:creationId xmlns:a16="http://schemas.microsoft.com/office/drawing/2014/main" id="{85E95F8F-87A7-059B-5631-8D7CDB1F9F1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64079" y="11673269"/>
                      <a:ext cx="11542002" cy="1927665"/>
                    </a:xfrm>
                    <a:prstGeom prst="flowChartProcess">
                      <a:avLst/>
                    </a:prstGeom>
                    <a:blipFill>
                      <a:blip r:embed="rId3"/>
                      <a:stretch>
                        <a:fillRect l="-1215" r="-4543" b="-37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流程圖: 程序 25">
                  <a:extLst>
                    <a:ext uri="{FF2B5EF4-FFF2-40B4-BE49-F238E27FC236}">
                      <a16:creationId xmlns:a16="http://schemas.microsoft.com/office/drawing/2014/main" id="{85737CFE-D484-3B2A-1A90-132E58E13D3A}"/>
                    </a:ext>
                  </a:extLst>
                </p:cNvPr>
                <p:cNvSpPr/>
                <p:nvPr/>
              </p:nvSpPr>
              <p:spPr>
                <a:xfrm>
                  <a:off x="5761030" y="11667401"/>
                  <a:ext cx="3319568" cy="1927665"/>
                </a:xfrm>
                <a:prstGeom prst="flowChartProcess">
                  <a:avLst/>
                </a:prstGeom>
                <a:solidFill>
                  <a:srgbClr val="7D6F63"/>
                </a:solidFill>
                <a:ln w="381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30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頻帶功率計算</a:t>
                  </a:r>
                  <a:endParaRPr lang="en-US" altLang="zh-TW" sz="30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  <a:p>
                  <a:pPr algn="ctr"/>
                  <a:r>
                    <a:rPr lang="en-US" altLang="zh-TW" sz="3000" b="1" dirty="0">
                      <a:latin typeface="Helvetica" panose="020B0604020202020204" pitchFamily="34" charset="0"/>
                      <a:ea typeface="微軟正黑體" panose="020B0604030504040204" pitchFamily="34" charset="-120"/>
                      <a:cs typeface="Helvetica" panose="020B0604020202020204" pitchFamily="34" charset="0"/>
                    </a:rPr>
                    <a:t>(Band Power, BP)</a:t>
                  </a:r>
                </a:p>
              </p:txBody>
            </p:sp>
          </p:grp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CE4D0474-C787-3E47-D3D9-90865D2E292D}"/>
                  </a:ext>
                </a:extLst>
              </p:cNvPr>
              <p:cNvGrpSpPr/>
              <p:nvPr/>
            </p:nvGrpSpPr>
            <p:grpSpPr>
              <a:xfrm>
                <a:off x="5761376" y="12461778"/>
                <a:ext cx="14942593" cy="1243226"/>
                <a:chOff x="5763488" y="9236233"/>
                <a:chExt cx="14942593" cy="1243226"/>
              </a:xfrm>
            </p:grpSpPr>
            <p:sp>
              <p:nvSpPr>
                <p:cNvPr id="38" name="流程圖: 程序 37">
                  <a:extLst>
                    <a:ext uri="{FF2B5EF4-FFF2-40B4-BE49-F238E27FC236}">
                      <a16:creationId xmlns:a16="http://schemas.microsoft.com/office/drawing/2014/main" id="{48BED809-D0F0-6A00-0FC3-31DEDCDE0E4D}"/>
                    </a:ext>
                  </a:extLst>
                </p:cNvPr>
                <p:cNvSpPr/>
                <p:nvPr/>
              </p:nvSpPr>
              <p:spPr>
                <a:xfrm>
                  <a:off x="9164079" y="9236233"/>
                  <a:ext cx="11542002" cy="1243226"/>
                </a:xfrm>
                <a:prstGeom prst="flowChartProcess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切分資料窗口大小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900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秒，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Helvetica" panose="020B0604020202020204" pitchFamily="34" charset="0"/>
                      <a:ea typeface="微軟正黑體" panose="020B0604030504040204" pitchFamily="34" charset="-120"/>
                      <a:cs typeface="Helvetica" panose="020B0604020202020204" pitchFamily="34" charset="0"/>
                    </a:rPr>
                    <a:t>overlap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Helvetica" panose="020B0604020202020204" pitchFamily="34" charset="0"/>
                      <a:ea typeface="微軟正黑體" panose="020B0604030504040204" pitchFamily="34" charset="-120"/>
                      <a:cs typeface="Helvetica" panose="020B0604020202020204" pitchFamily="34" charset="0"/>
                    </a:rPr>
                    <a:t> 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大小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50%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，共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3247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個時間段</a:t>
                  </a:r>
                  <a:endParaRPr lang="en-US" altLang="zh-TW" sz="3000" dirty="0">
                    <a:solidFill>
                      <a:schemeClr val="accent3">
                        <a:lumMod val="5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  <a:p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除去缺損資料，並將時間窗口資料減去其平均值 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(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基線修正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)</a:t>
                  </a:r>
                </a:p>
              </p:txBody>
            </p:sp>
            <p:sp>
              <p:nvSpPr>
                <p:cNvPr id="29" name="流程圖: 程序 28">
                  <a:extLst>
                    <a:ext uri="{FF2B5EF4-FFF2-40B4-BE49-F238E27FC236}">
                      <a16:creationId xmlns:a16="http://schemas.microsoft.com/office/drawing/2014/main" id="{D94D7807-A020-85AA-2C36-65B4969AB0D2}"/>
                    </a:ext>
                  </a:extLst>
                </p:cNvPr>
                <p:cNvSpPr/>
                <p:nvPr/>
              </p:nvSpPr>
              <p:spPr>
                <a:xfrm>
                  <a:off x="5763488" y="9236233"/>
                  <a:ext cx="3319568" cy="1243226"/>
                </a:xfrm>
                <a:prstGeom prst="flowChartProcess">
                  <a:avLst/>
                </a:prstGeom>
                <a:solidFill>
                  <a:srgbClr val="7D6F63"/>
                </a:solidFill>
                <a:ln w="381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30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資料清理</a:t>
                  </a:r>
                  <a:endParaRPr lang="en-US" altLang="zh-TW" sz="30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  <p:grpSp>
            <p:nvGrpSpPr>
              <p:cNvPr id="54" name="群組 53">
                <a:extLst>
                  <a:ext uri="{FF2B5EF4-FFF2-40B4-BE49-F238E27FC236}">
                    <a16:creationId xmlns:a16="http://schemas.microsoft.com/office/drawing/2014/main" id="{38756704-135A-8DA0-B131-030837AF1905}"/>
                  </a:ext>
                </a:extLst>
              </p:cNvPr>
              <p:cNvGrpSpPr/>
              <p:nvPr/>
            </p:nvGrpSpPr>
            <p:grpSpPr>
              <a:xfrm>
                <a:off x="5761376" y="13840752"/>
                <a:ext cx="14942593" cy="1243226"/>
                <a:chOff x="5763488" y="10451817"/>
                <a:chExt cx="14942593" cy="1243226"/>
              </a:xfrm>
            </p:grpSpPr>
            <p:sp>
              <p:nvSpPr>
                <p:cNvPr id="39" name="流程圖: 程序 38">
                  <a:extLst>
                    <a:ext uri="{FF2B5EF4-FFF2-40B4-BE49-F238E27FC236}">
                      <a16:creationId xmlns:a16="http://schemas.microsoft.com/office/drawing/2014/main" id="{2E7E26A0-74BF-18C3-FFC2-6027171F1333}"/>
                    </a:ext>
                  </a:extLst>
                </p:cNvPr>
                <p:cNvSpPr/>
                <p:nvPr/>
              </p:nvSpPr>
              <p:spPr>
                <a:xfrm>
                  <a:off x="9164079" y="10451817"/>
                  <a:ext cx="11542002" cy="1243226"/>
                </a:xfrm>
                <a:prstGeom prst="flowChartProcess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計算離散傅立葉轉換 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(DFT)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，將經過漢明窗 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(Hamming Window)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之時間域離散資料轉換成頻率域離散資料</a:t>
                  </a:r>
                </a:p>
              </p:txBody>
            </p:sp>
            <p:sp>
              <p:nvSpPr>
                <p:cNvPr id="30" name="流程圖: 程序 29">
                  <a:extLst>
                    <a:ext uri="{FF2B5EF4-FFF2-40B4-BE49-F238E27FC236}">
                      <a16:creationId xmlns:a16="http://schemas.microsoft.com/office/drawing/2014/main" id="{317F8D24-72BA-7B29-74F8-247B85EEE4E9}"/>
                    </a:ext>
                  </a:extLst>
                </p:cNvPr>
                <p:cNvSpPr/>
                <p:nvPr/>
              </p:nvSpPr>
              <p:spPr>
                <a:xfrm>
                  <a:off x="5763488" y="10451817"/>
                  <a:ext cx="3319568" cy="1243226"/>
                </a:xfrm>
                <a:prstGeom prst="flowChartProcess">
                  <a:avLst/>
                </a:prstGeom>
                <a:solidFill>
                  <a:srgbClr val="7D6F63"/>
                </a:solidFill>
                <a:ln w="381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30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快速傅立葉轉換</a:t>
                  </a:r>
                  <a:endParaRPr lang="en-US" altLang="zh-TW" sz="30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  <a:p>
                  <a:pPr algn="ctr"/>
                  <a:r>
                    <a:rPr lang="en-US" altLang="zh-TW" sz="3000" b="1" dirty="0">
                      <a:latin typeface="Helvetica" panose="020B0604020202020204" pitchFamily="34" charset="0"/>
                      <a:ea typeface="微軟正黑體" panose="020B0604030504040204" pitchFamily="34" charset="-120"/>
                      <a:cs typeface="Helvetica" panose="020B0604020202020204" pitchFamily="34" charset="0"/>
                    </a:rPr>
                    <a:t>(FFT)</a:t>
                  </a:r>
                </a:p>
              </p:txBody>
            </p: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79B7F393-F437-17DD-B956-1A8BC65537FB}"/>
                  </a:ext>
                </a:extLst>
              </p:cNvPr>
              <p:cNvGrpSpPr/>
              <p:nvPr/>
            </p:nvGrpSpPr>
            <p:grpSpPr>
              <a:xfrm>
                <a:off x="5754904" y="17299837"/>
                <a:ext cx="14979165" cy="2623340"/>
                <a:chOff x="5719743" y="17683268"/>
                <a:chExt cx="14979165" cy="2623340"/>
              </a:xfrm>
            </p:grpSpPr>
            <p:grpSp>
              <p:nvGrpSpPr>
                <p:cNvPr id="56" name="群組 55">
                  <a:extLst>
                    <a:ext uri="{FF2B5EF4-FFF2-40B4-BE49-F238E27FC236}">
                      <a16:creationId xmlns:a16="http://schemas.microsoft.com/office/drawing/2014/main" id="{F990B832-3BB6-3AEF-8286-0B5E9F2B6058}"/>
                    </a:ext>
                  </a:extLst>
                </p:cNvPr>
                <p:cNvGrpSpPr/>
                <p:nvPr/>
              </p:nvGrpSpPr>
              <p:grpSpPr>
                <a:xfrm>
                  <a:off x="5719743" y="17683268"/>
                  <a:ext cx="14979165" cy="2622286"/>
                  <a:chOff x="5721855" y="13967553"/>
                  <a:chExt cx="14979165" cy="2622286"/>
                </a:xfrm>
              </p:grpSpPr>
              <p:sp>
                <p:nvSpPr>
                  <p:cNvPr id="41" name="流程圖: 程序 40">
                    <a:extLst>
                      <a:ext uri="{FF2B5EF4-FFF2-40B4-BE49-F238E27FC236}">
                        <a16:creationId xmlns:a16="http://schemas.microsoft.com/office/drawing/2014/main" id="{7023B891-FDF4-A315-C561-FF70532CFA87}"/>
                      </a:ext>
                    </a:extLst>
                  </p:cNvPr>
                  <p:cNvSpPr/>
                  <p:nvPr/>
                </p:nvSpPr>
                <p:spPr>
                  <a:xfrm>
                    <a:off x="9159018" y="13967553"/>
                    <a:ext cx="11542002" cy="1652876"/>
                  </a:xfrm>
                  <a:prstGeom prst="flowChartProcess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14350" indent="-514350">
                      <a:buFont typeface="+mj-lt"/>
                      <a:buAutoNum type="arabicPeriod"/>
                    </a:pPr>
                    <a:r>
                      <a:rPr lang="zh-TW" altLang="en-US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使用</a:t>
                    </a:r>
                    <a:r>
                      <a:rPr lang="en-US" altLang="zh-TW" sz="3000" dirty="0">
                        <a:solidFill>
                          <a:srgbClr val="CC0000"/>
                        </a:solidFill>
                        <a:latin typeface="Helvetica" panose="020B0604020202020204" pitchFamily="34" charset="0"/>
                        <a:ea typeface="微軟正黑體" panose="020B0604030504040204" pitchFamily="34" charset="-120"/>
                        <a:cs typeface="Helvetica" panose="020B0604020202020204" pitchFamily="34" charset="0"/>
                      </a:rPr>
                      <a:t>DBSCAN</a:t>
                    </a:r>
                    <a:r>
                      <a:rPr lang="zh-TW" altLang="en-US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非監督式機器學習方法，旨在找到高密度群體，設定</a:t>
                    </a:r>
                    <a:r>
                      <a:rPr lang="el-GR" altLang="zh-TW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Helvetica" panose="020B0604020202020204" pitchFamily="34" charset="0"/>
                        <a:ea typeface="微軟正黑體" panose="020B0604030504040204" pitchFamily="34" charset="-120"/>
                        <a:cs typeface="Helvetica" panose="020B0604020202020204" pitchFamily="34" charset="0"/>
                      </a:rPr>
                      <a:t>ε</a:t>
                    </a:r>
                    <a:r>
                      <a:rPr lang="en-US" altLang="zh-TW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Helvetica" panose="020B0604020202020204" pitchFamily="34" charset="0"/>
                        <a:ea typeface="微軟正黑體" panose="020B0604030504040204" pitchFamily="34" charset="-120"/>
                        <a:cs typeface="Helvetica" panose="020B0604020202020204" pitchFamily="34" charset="0"/>
                      </a:rPr>
                      <a:t>-</a:t>
                    </a:r>
                    <a:r>
                      <a:rPr lang="zh-TW" altLang="en-US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鄰近值為</a:t>
                    </a:r>
                    <a:r>
                      <a:rPr lang="en-US" altLang="zh-TW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0.5</a:t>
                    </a:r>
                    <a:r>
                      <a:rPr lang="zh-TW" altLang="en-US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、最少成為一類別之樣本數為</a:t>
                    </a:r>
                    <a:r>
                      <a:rPr lang="en-US" altLang="zh-TW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10</a:t>
                    </a:r>
                    <a:r>
                      <a:rPr lang="zh-TW" altLang="en-US" sz="3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，未被分類者被視為噪音。本研究主要觀察時間片段是否有分類到任一群</a:t>
                    </a:r>
                    <a:endPara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28" name="流程圖: 程序 27">
                    <a:extLst>
                      <a:ext uri="{FF2B5EF4-FFF2-40B4-BE49-F238E27FC236}">
                        <a16:creationId xmlns:a16="http://schemas.microsoft.com/office/drawing/2014/main" id="{CFCD1EF5-CB03-6959-0E76-020AC7BDDE81}"/>
                      </a:ext>
                    </a:extLst>
                  </p:cNvPr>
                  <p:cNvSpPr/>
                  <p:nvPr/>
                </p:nvSpPr>
                <p:spPr>
                  <a:xfrm>
                    <a:off x="5721855" y="13967553"/>
                    <a:ext cx="3319568" cy="2622286"/>
                  </a:xfrm>
                  <a:prstGeom prst="flowChartProcess">
                    <a:avLst/>
                  </a:prstGeom>
                  <a:solidFill>
                    <a:srgbClr val="7D6F63"/>
                  </a:solidFill>
                  <a:ln w="38100"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TW" altLang="en-US" sz="3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機器學習分群</a:t>
                    </a:r>
                    <a:endParaRPr lang="en-US" altLang="zh-TW" sz="30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  <a:p>
                    <a:pPr marL="514350" indent="-514350" algn="ctr">
                      <a:buFont typeface="+mj-lt"/>
                      <a:buAutoNum type="arabicPeriod"/>
                    </a:pPr>
                    <a:r>
                      <a:rPr lang="en-US" altLang="zh-TW" sz="3000" b="1" dirty="0">
                        <a:latin typeface="Helvetica" panose="020B0604020202020204" pitchFamily="34" charset="0"/>
                        <a:ea typeface="微軟正黑體" panose="020B0604030504040204" pitchFamily="34" charset="-120"/>
                        <a:cs typeface="Helvetica" panose="020B0604020202020204" pitchFamily="34" charset="0"/>
                      </a:rPr>
                      <a:t>DBSCAN</a:t>
                    </a:r>
                  </a:p>
                  <a:p>
                    <a:pPr marL="514350" indent="-514350" algn="ctr">
                      <a:buFont typeface="+mj-lt"/>
                      <a:buAutoNum type="arabicPeriod"/>
                    </a:pPr>
                    <a:r>
                      <a:rPr lang="en-US" altLang="zh-TW" sz="3000" b="1" dirty="0">
                        <a:latin typeface="Helvetica" panose="020B0604020202020204" pitchFamily="34" charset="0"/>
                        <a:ea typeface="微軟正黑體" panose="020B0604030504040204" pitchFamily="34" charset="-120"/>
                        <a:cs typeface="Helvetica" panose="020B0604020202020204" pitchFamily="34" charset="0"/>
                      </a:rPr>
                      <a:t>K-Means</a:t>
                    </a:r>
                  </a:p>
                </p:txBody>
              </p:sp>
            </p:grpSp>
            <p:sp>
              <p:nvSpPr>
                <p:cNvPr id="59" name="流程圖: 程序 58">
                  <a:extLst>
                    <a:ext uri="{FF2B5EF4-FFF2-40B4-BE49-F238E27FC236}">
                      <a16:creationId xmlns:a16="http://schemas.microsoft.com/office/drawing/2014/main" id="{32A4BCAA-1D6B-2F2E-8918-4665AEE4C924}"/>
                    </a:ext>
                  </a:extLst>
                </p:cNvPr>
                <p:cNvSpPr/>
                <p:nvPr/>
              </p:nvSpPr>
              <p:spPr>
                <a:xfrm>
                  <a:off x="9156906" y="19336143"/>
                  <a:ext cx="11542002" cy="970465"/>
                </a:xfrm>
                <a:prstGeom prst="flowChartProcess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14350" indent="-514350">
                    <a:buFont typeface="+mj-lt"/>
                    <a:buAutoNum type="arabicPeriod" startAt="2"/>
                  </a:pP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使用</a:t>
                  </a:r>
                  <a:r>
                    <a:rPr lang="en-US" altLang="zh-TW" sz="3000" dirty="0">
                      <a:solidFill>
                        <a:srgbClr val="CC0000"/>
                      </a:solidFill>
                      <a:latin typeface="Helvetica" panose="020B0604020202020204" pitchFamily="34" charset="0"/>
                      <a:ea typeface="微軟正黑體" panose="020B0604030504040204" pitchFamily="34" charset="-120"/>
                      <a:cs typeface="Helvetica" panose="020B0604020202020204" pitchFamily="34" charset="0"/>
                    </a:rPr>
                    <a:t>K-Means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非監督式機器學習方法，以分類無標籤之時間窗口資料，五筆測站資料為五個特徵，並設定 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3 </a:t>
                  </a:r>
                  <a:r>
                    <a:rPr lang="zh-TW" altLang="en-US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種分類類別 </a:t>
                  </a:r>
                  <a:r>
                    <a:rPr lang="en-US" altLang="zh-TW" sz="3000" dirty="0">
                      <a:solidFill>
                        <a:schemeClr val="accent3">
                          <a:lumMod val="50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(K=3)</a:t>
                  </a:r>
                </a:p>
              </p:txBody>
            </p:sp>
          </p:grpSp>
        </p:grpSp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6E5B68AB-C690-607E-D1BA-81A5842F6259}"/>
              </a:ext>
            </a:extLst>
          </p:cNvPr>
          <p:cNvGrpSpPr/>
          <p:nvPr/>
        </p:nvGrpSpPr>
        <p:grpSpPr>
          <a:xfrm>
            <a:off x="380802" y="18242902"/>
            <a:ext cx="15596154" cy="11209084"/>
            <a:chOff x="1451824" y="18376845"/>
            <a:chExt cx="15596154" cy="11209084"/>
          </a:xfrm>
        </p:grpSpPr>
        <p:sp>
          <p:nvSpPr>
            <p:cNvPr id="120" name="矩形: 圓角 119">
              <a:extLst>
                <a:ext uri="{FF2B5EF4-FFF2-40B4-BE49-F238E27FC236}">
                  <a16:creationId xmlns:a16="http://schemas.microsoft.com/office/drawing/2014/main" id="{E9BDE5A3-9125-CB8A-68C8-D248E3A64C15}"/>
                </a:ext>
              </a:extLst>
            </p:cNvPr>
            <p:cNvSpPr/>
            <p:nvPr/>
          </p:nvSpPr>
          <p:spPr>
            <a:xfrm>
              <a:off x="3420975" y="18397816"/>
              <a:ext cx="6818487" cy="11137620"/>
            </a:xfrm>
            <a:prstGeom prst="roundRect">
              <a:avLst>
                <a:gd name="adj" fmla="val 8953"/>
              </a:avLst>
            </a:prstGeom>
            <a:solidFill>
              <a:srgbClr val="BBB2A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矩形: 圓角 114">
              <a:extLst>
                <a:ext uri="{FF2B5EF4-FFF2-40B4-BE49-F238E27FC236}">
                  <a16:creationId xmlns:a16="http://schemas.microsoft.com/office/drawing/2014/main" id="{71915ED8-CF41-0213-C5F0-1065F35E19B3}"/>
                </a:ext>
              </a:extLst>
            </p:cNvPr>
            <p:cNvSpPr/>
            <p:nvPr/>
          </p:nvSpPr>
          <p:spPr>
            <a:xfrm>
              <a:off x="1451824" y="24334709"/>
              <a:ext cx="8745077" cy="5200728"/>
            </a:xfrm>
            <a:prstGeom prst="roundRect">
              <a:avLst>
                <a:gd name="adj" fmla="val 11465"/>
              </a:avLst>
            </a:prstGeom>
            <a:solidFill>
              <a:srgbClr val="ACC4E2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4" name="矩形: 圓角 113">
              <a:extLst>
                <a:ext uri="{FF2B5EF4-FFF2-40B4-BE49-F238E27FC236}">
                  <a16:creationId xmlns:a16="http://schemas.microsoft.com/office/drawing/2014/main" id="{139D7F6A-2334-AD14-2721-B5A1AEEB1E9A}"/>
                </a:ext>
              </a:extLst>
            </p:cNvPr>
            <p:cNvSpPr/>
            <p:nvPr/>
          </p:nvSpPr>
          <p:spPr>
            <a:xfrm>
              <a:off x="1503462" y="19142583"/>
              <a:ext cx="15544516" cy="5200728"/>
            </a:xfrm>
            <a:prstGeom prst="roundRect">
              <a:avLst>
                <a:gd name="adj" fmla="val 8953"/>
              </a:avLst>
            </a:prstGeom>
            <a:solidFill>
              <a:srgbClr val="BBB2A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矩形: 圓角 121">
              <a:extLst>
                <a:ext uri="{FF2B5EF4-FFF2-40B4-BE49-F238E27FC236}">
                  <a16:creationId xmlns:a16="http://schemas.microsoft.com/office/drawing/2014/main" id="{EF4B3304-182C-4F62-3AFC-130DFDF687B1}"/>
                </a:ext>
              </a:extLst>
            </p:cNvPr>
            <p:cNvSpPr/>
            <p:nvPr/>
          </p:nvSpPr>
          <p:spPr>
            <a:xfrm>
              <a:off x="10229491" y="18376845"/>
              <a:ext cx="6818487" cy="5934930"/>
            </a:xfrm>
            <a:prstGeom prst="roundRect">
              <a:avLst>
                <a:gd name="adj" fmla="val 6747"/>
              </a:avLst>
            </a:prstGeom>
            <a:solidFill>
              <a:srgbClr val="ACC4E2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4CA2C855-E8C9-0721-1AB9-ED2127D338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40" t="11510" r="9858" b="5281"/>
            <a:stretch/>
          </p:blipFill>
          <p:spPr>
            <a:xfrm>
              <a:off x="3925318" y="25038997"/>
              <a:ext cx="5760000" cy="3901219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208EDE9F-A719-874E-2FEA-B48F6B9E78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8288" t="11548" r="9358" b="5864"/>
            <a:stretch/>
          </p:blipFill>
          <p:spPr>
            <a:xfrm>
              <a:off x="3846690" y="19829604"/>
              <a:ext cx="5929700" cy="3964383"/>
            </a:xfrm>
            <a:prstGeom prst="rect">
              <a:avLst/>
            </a:prstGeom>
          </p:spPr>
        </p:pic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DE0D9B99-38F9-0334-23DD-3666289A2254}"/>
                </a:ext>
              </a:extLst>
            </p:cNvPr>
            <p:cNvSpPr txBox="1"/>
            <p:nvPr/>
          </p:nvSpPr>
          <p:spPr>
            <a:xfrm>
              <a:off x="3769778" y="19460272"/>
              <a:ext cx="1337226" cy="369332"/>
            </a:xfrm>
            <a:prstGeom prst="rect">
              <a:avLst/>
            </a:prstGeom>
            <a:solidFill>
              <a:srgbClr val="CC0000"/>
            </a:solidFill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03/03 00:00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FDF3C79D-339A-B998-6061-C062FFBDD31F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>
              <a:off x="4306143" y="19829604"/>
              <a:ext cx="132248" cy="9298445"/>
            </a:xfrm>
            <a:prstGeom prst="line">
              <a:avLst/>
            </a:prstGeom>
            <a:ln w="57150">
              <a:solidFill>
                <a:srgbClr val="CC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3A87DF04-FF99-BD6B-480F-1A5E9185F163}"/>
                </a:ext>
              </a:extLst>
            </p:cNvPr>
            <p:cNvSpPr txBox="1"/>
            <p:nvPr/>
          </p:nvSpPr>
          <p:spPr>
            <a:xfrm>
              <a:off x="6701650" y="24674211"/>
              <a:ext cx="1337226" cy="369332"/>
            </a:xfrm>
            <a:prstGeom prst="rect">
              <a:avLst/>
            </a:prstGeom>
            <a:solidFill>
              <a:srgbClr val="CC0000"/>
            </a:solidFill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03/11 00:00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2B65ABC4-5140-1F68-3320-A3C4BB4B5ABE}"/>
                </a:ext>
              </a:extLst>
            </p:cNvPr>
            <p:cNvGrpSpPr/>
            <p:nvPr/>
          </p:nvGrpSpPr>
          <p:grpSpPr>
            <a:xfrm>
              <a:off x="10701481" y="19797157"/>
              <a:ext cx="5929700" cy="4544190"/>
              <a:chOff x="11102397" y="19306758"/>
              <a:chExt cx="5929700" cy="4544190"/>
            </a:xfrm>
          </p:grpSpPr>
          <p:pic>
            <p:nvPicPr>
              <p:cNvPr id="68" name="圖片 67">
                <a:extLst>
                  <a:ext uri="{FF2B5EF4-FFF2-40B4-BE49-F238E27FC236}">
                    <a16:creationId xmlns:a16="http://schemas.microsoft.com/office/drawing/2014/main" id="{D967895E-81D8-A792-A2DB-EFD883F6B4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8652" t="11712" r="9771" b="5704"/>
              <a:stretch/>
            </p:blipFill>
            <p:spPr>
              <a:xfrm>
                <a:off x="11102397" y="19306758"/>
                <a:ext cx="5929700" cy="4001926"/>
              </a:xfrm>
              <a:prstGeom prst="rect">
                <a:avLst/>
              </a:prstGeom>
            </p:spPr>
          </p:pic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5A3B195-6D86-075F-8BD1-8A2ECC058782}"/>
                  </a:ext>
                </a:extLst>
              </p:cNvPr>
              <p:cNvSpPr/>
              <p:nvPr/>
            </p:nvSpPr>
            <p:spPr>
              <a:xfrm>
                <a:off x="12577393" y="21949507"/>
                <a:ext cx="352947" cy="1269202"/>
              </a:xfrm>
              <a:prstGeom prst="rect">
                <a:avLst/>
              </a:prstGeom>
              <a:noFill/>
              <a:ln w="57150">
                <a:solidFill>
                  <a:srgbClr val="CC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F8E49DD-F56D-C472-51C1-A68247EF038B}"/>
                  </a:ext>
                </a:extLst>
              </p:cNvPr>
              <p:cNvSpPr txBox="1"/>
              <p:nvPr/>
            </p:nvSpPr>
            <p:spPr>
              <a:xfrm>
                <a:off x="11154974" y="23296950"/>
                <a:ext cx="32624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3000" dirty="0">
                    <a:solidFill>
                      <a:srgbClr val="CC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間隔一天重複事件</a:t>
                </a:r>
              </a:p>
            </p:txBody>
          </p:sp>
        </p:grp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29F0B98A-E2CD-BB81-E4D5-9CBFDF3A4281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flipH="1">
              <a:off x="9396040" y="19829604"/>
              <a:ext cx="132248" cy="9298445"/>
            </a:xfrm>
            <a:prstGeom prst="line">
              <a:avLst/>
            </a:prstGeom>
            <a:ln w="57150">
              <a:solidFill>
                <a:srgbClr val="CC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0F5D9E4-7A0B-EEC8-BE00-CA0AAFBF412C}"/>
                </a:ext>
              </a:extLst>
            </p:cNvPr>
            <p:cNvSpPr txBox="1"/>
            <p:nvPr/>
          </p:nvSpPr>
          <p:spPr>
            <a:xfrm>
              <a:off x="8859675" y="19460272"/>
              <a:ext cx="1337226" cy="369332"/>
            </a:xfrm>
            <a:prstGeom prst="rect">
              <a:avLst/>
            </a:prstGeom>
            <a:solidFill>
              <a:srgbClr val="CC0000"/>
            </a:solidFill>
            <a:ln w="38100">
              <a:noFill/>
            </a:ln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 sz="1800" dirty="0"/>
                <a:t>03/19 24:00</a:t>
              </a:r>
              <a:endParaRPr lang="zh-TW" altLang="en-US" sz="1800" dirty="0"/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431B7CFE-A6AA-B2B2-D699-E3F211DDD810}"/>
                </a:ext>
              </a:extLst>
            </p:cNvPr>
            <p:cNvSpPr txBox="1"/>
            <p:nvPr/>
          </p:nvSpPr>
          <p:spPr>
            <a:xfrm>
              <a:off x="1566903" y="21450559"/>
              <a:ext cx="18966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latin typeface="Helvetica" panose="020B0604020202020204" pitchFamily="34" charset="0"/>
                  <a:cs typeface="Helvetica" panose="020B0604020202020204" pitchFamily="34" charset="0"/>
                </a:rPr>
                <a:t>DBSCAN</a:t>
              </a:r>
              <a:endParaRPr lang="zh-TW" altLang="en-US" sz="3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6EBFECAF-D9D5-0D8C-C758-12ACAEAF3A65}"/>
                </a:ext>
              </a:extLst>
            </p:cNvPr>
            <p:cNvSpPr/>
            <p:nvPr/>
          </p:nvSpPr>
          <p:spPr>
            <a:xfrm>
              <a:off x="6838950" y="25078431"/>
              <a:ext cx="1071229" cy="3802431"/>
            </a:xfrm>
            <a:prstGeom prst="rect">
              <a:avLst/>
            </a:prstGeom>
            <a:noFill/>
            <a:ln w="57150">
              <a:solidFill>
                <a:srgbClr val="CC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7D0E91A6-04FF-D5D0-B769-5FE18ECC2958}"/>
                </a:ext>
              </a:extLst>
            </p:cNvPr>
            <p:cNvSpPr txBox="1"/>
            <p:nvPr/>
          </p:nvSpPr>
          <p:spPr>
            <a:xfrm>
              <a:off x="1568558" y="26647204"/>
              <a:ext cx="18245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latin typeface="Helvetica" panose="020B0604020202020204" pitchFamily="34" charset="0"/>
                  <a:cs typeface="Helvetica" panose="020B0604020202020204" pitchFamily="34" charset="0"/>
                </a:rPr>
                <a:t>K-Means</a:t>
              </a:r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414C38F3-EF56-11F9-73DE-BA65C5BD65A3}"/>
                </a:ext>
              </a:extLst>
            </p:cNvPr>
            <p:cNvSpPr txBox="1"/>
            <p:nvPr/>
          </p:nvSpPr>
          <p:spPr>
            <a:xfrm>
              <a:off x="4910429" y="18433651"/>
              <a:ext cx="41056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1~5 Hz </a:t>
              </a:r>
              <a:r>
                <a:rPr lang="zh-TW" altLang="en-US" sz="4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特別事件</a:t>
              </a:r>
              <a:endPara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9B95712C-AE96-50CC-A61D-5BD7F87B5863}"/>
                </a:ext>
              </a:extLst>
            </p:cNvPr>
            <p:cNvSpPr txBox="1"/>
            <p:nvPr/>
          </p:nvSpPr>
          <p:spPr>
            <a:xfrm>
              <a:off x="11357898" y="18416256"/>
              <a:ext cx="46987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dirty="0"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11~20</a:t>
              </a:r>
              <a:r>
                <a:rPr lang="zh-TW" altLang="en-US" sz="4000" dirty="0"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 </a:t>
              </a:r>
              <a:r>
                <a:rPr lang="en-US" altLang="zh-TW" sz="4000" dirty="0">
                  <a:latin typeface="Helvetica" panose="020B0604020202020204" pitchFamily="34" charset="0"/>
                  <a:ea typeface="微軟正黑體" panose="020B0604030504040204" pitchFamily="34" charset="-120"/>
                  <a:cs typeface="Helvetica" panose="020B0604020202020204" pitchFamily="34" charset="0"/>
                </a:rPr>
                <a:t>Hz </a:t>
              </a:r>
              <a:r>
                <a:rPr lang="zh-TW" altLang="en-US" sz="4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重複事件</a:t>
              </a:r>
              <a:endPara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28F323B9-D229-A63F-E999-C481F426B32D}"/>
                </a:ext>
              </a:extLst>
            </p:cNvPr>
            <p:cNvSpPr txBox="1"/>
            <p:nvPr/>
          </p:nvSpPr>
          <p:spPr>
            <a:xfrm>
              <a:off x="5931408" y="28932566"/>
              <a:ext cx="287771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000" dirty="0">
                  <a:solidFill>
                    <a:srgbClr val="CC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分類出顯著事件</a:t>
              </a: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BDF11EBA-95CA-AE72-8C62-38D2DC437146}"/>
                </a:ext>
              </a:extLst>
            </p:cNvPr>
            <p:cNvSpPr txBox="1"/>
            <p:nvPr/>
          </p:nvSpPr>
          <p:spPr>
            <a:xfrm>
              <a:off x="5073267" y="23787349"/>
              <a:ext cx="364715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000" dirty="0">
                  <a:solidFill>
                    <a:srgbClr val="CC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分類特別事件與背景</a:t>
              </a:r>
            </a:p>
          </p:txBody>
        </p:sp>
        <p:pic>
          <p:nvPicPr>
            <p:cNvPr id="134" name="圖片 133">
              <a:extLst>
                <a:ext uri="{FF2B5EF4-FFF2-40B4-BE49-F238E27FC236}">
                  <a16:creationId xmlns:a16="http://schemas.microsoft.com/office/drawing/2014/main" id="{7A791991-3121-04DE-CC3E-E3F45F03A3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" t="11981" r="9552" b="5185"/>
            <a:stretch/>
          </p:blipFill>
          <p:spPr>
            <a:xfrm>
              <a:off x="10742659" y="25044722"/>
              <a:ext cx="5929200" cy="3987209"/>
            </a:xfrm>
            <a:prstGeom prst="rect">
              <a:avLst/>
            </a:prstGeom>
          </p:spPr>
        </p:pic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D250FF36-84DA-5478-6072-B243F3BC2764}"/>
                </a:ext>
              </a:extLst>
            </p:cNvPr>
            <p:cNvSpPr txBox="1"/>
            <p:nvPr/>
          </p:nvSpPr>
          <p:spPr>
            <a:xfrm>
              <a:off x="11689918" y="29031931"/>
              <a:ext cx="44662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000" dirty="0">
                  <a:solidFill>
                    <a:srgbClr val="CC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超過次聲波範圍分類不佳</a:t>
              </a:r>
            </a:p>
          </p:txBody>
        </p:sp>
        <p:pic>
          <p:nvPicPr>
            <p:cNvPr id="136" name="圖片 135">
              <a:extLst>
                <a:ext uri="{FF2B5EF4-FFF2-40B4-BE49-F238E27FC236}">
                  <a16:creationId xmlns:a16="http://schemas.microsoft.com/office/drawing/2014/main" id="{8B7C7AB2-6551-857A-34DB-2B1132A40D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77" t="12035" r="61058" b="77067"/>
            <a:stretch/>
          </p:blipFill>
          <p:spPr>
            <a:xfrm>
              <a:off x="12560135" y="24779048"/>
              <a:ext cx="1080000" cy="1080000"/>
            </a:xfrm>
            <a:prstGeom prst="ellipse">
              <a:avLst/>
            </a:prstGeom>
            <a:ln w="25400">
              <a:solidFill>
                <a:schemeClr val="tx1"/>
              </a:solidFill>
            </a:ln>
            <a:effectLst>
              <a:outerShdw blurRad="63500" dist="63500" dir="2700000" algn="tl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59BDF8B0-8882-0762-77C2-2300330D2EF5}"/>
                </a:ext>
              </a:extLst>
            </p:cNvPr>
            <p:cNvSpPr txBox="1"/>
            <p:nvPr/>
          </p:nvSpPr>
          <p:spPr>
            <a:xfrm>
              <a:off x="2871432" y="22901585"/>
              <a:ext cx="549639" cy="2862322"/>
            </a:xfrm>
            <a:prstGeom prst="rect">
              <a:avLst/>
            </a:prstGeom>
            <a:solidFill>
              <a:srgbClr val="EAA700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TW" altLang="en-US" sz="3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機器學習方法</a:t>
              </a:r>
            </a:p>
          </p:txBody>
        </p:sp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78BBB987-359A-C090-264E-96AD6ED198D4}"/>
                </a:ext>
              </a:extLst>
            </p:cNvPr>
            <p:cNvSpPr txBox="1"/>
            <p:nvPr/>
          </p:nvSpPr>
          <p:spPr>
            <a:xfrm>
              <a:off x="9763451" y="18624359"/>
              <a:ext cx="946683" cy="553998"/>
            </a:xfrm>
            <a:prstGeom prst="rect">
              <a:avLst/>
            </a:prstGeom>
            <a:solidFill>
              <a:srgbClr val="EAA700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TW" altLang="en-US" sz="3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頻帶</a:t>
              </a:r>
            </a:p>
          </p:txBody>
        </p:sp>
      </p:grpSp>
      <p:grpSp>
        <p:nvGrpSpPr>
          <p:cNvPr id="207" name="群組 206">
            <a:extLst>
              <a:ext uri="{FF2B5EF4-FFF2-40B4-BE49-F238E27FC236}">
                <a16:creationId xmlns:a16="http://schemas.microsoft.com/office/drawing/2014/main" id="{6D75C0CB-ADD0-4334-17C0-54B2E751B925}"/>
              </a:ext>
            </a:extLst>
          </p:cNvPr>
          <p:cNvGrpSpPr/>
          <p:nvPr/>
        </p:nvGrpSpPr>
        <p:grpSpPr>
          <a:xfrm>
            <a:off x="612238" y="16704433"/>
            <a:ext cx="15677621" cy="1595134"/>
            <a:chOff x="612238" y="16704433"/>
            <a:chExt cx="15677621" cy="1595134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161FD910-387C-75C4-8248-157F9C3657A3}"/>
                </a:ext>
              </a:extLst>
            </p:cNvPr>
            <p:cNvSpPr txBox="1"/>
            <p:nvPr/>
          </p:nvSpPr>
          <p:spPr>
            <a:xfrm>
              <a:off x="2110905" y="16953320"/>
              <a:ext cx="141789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研究成果</a:t>
              </a:r>
            </a:p>
          </p:txBody>
        </p:sp>
        <p:grpSp>
          <p:nvGrpSpPr>
            <p:cNvPr id="180" name="群組 179">
              <a:extLst>
                <a:ext uri="{FF2B5EF4-FFF2-40B4-BE49-F238E27FC236}">
                  <a16:creationId xmlns:a16="http://schemas.microsoft.com/office/drawing/2014/main" id="{CEC72AA2-1E2F-10B4-EC27-FC75B7ECBF9A}"/>
                </a:ext>
              </a:extLst>
            </p:cNvPr>
            <p:cNvGrpSpPr/>
            <p:nvPr/>
          </p:nvGrpSpPr>
          <p:grpSpPr>
            <a:xfrm>
              <a:off x="612238" y="16704433"/>
              <a:ext cx="15296620" cy="1595134"/>
              <a:chOff x="612238" y="16704433"/>
              <a:chExt cx="15296620" cy="1595134"/>
            </a:xfrm>
          </p:grpSpPr>
          <p:pic>
            <p:nvPicPr>
              <p:cNvPr id="140" name="圖形 139" descr="山脈">
                <a:extLst>
                  <a:ext uri="{FF2B5EF4-FFF2-40B4-BE49-F238E27FC236}">
                    <a16:creationId xmlns:a16="http://schemas.microsoft.com/office/drawing/2014/main" id="{88DCA061-95DA-7D36-E8C3-86CE3E1DC8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2238" y="16704433"/>
                <a:ext cx="1595134" cy="1595134"/>
              </a:xfrm>
              <a:prstGeom prst="rect">
                <a:avLst/>
              </a:prstGeom>
            </p:spPr>
          </p:pic>
          <p:cxnSp>
            <p:nvCxnSpPr>
              <p:cNvPr id="148" name="直線單箭頭接點 147">
                <a:extLst>
                  <a:ext uri="{FF2B5EF4-FFF2-40B4-BE49-F238E27FC236}">
                    <a16:creationId xmlns:a16="http://schemas.microsoft.com/office/drawing/2014/main" id="{2884EF83-7D5B-4815-6A9F-38698AD8E10E}"/>
                  </a:ext>
                </a:extLst>
              </p:cNvPr>
              <p:cNvCxnSpPr>
                <a:cxnSpLocks/>
                <a:stCxn id="171" idx="3"/>
              </p:cNvCxnSpPr>
              <p:nvPr/>
            </p:nvCxnSpPr>
            <p:spPr>
              <a:xfrm>
                <a:off x="14985598" y="17763716"/>
                <a:ext cx="923260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>
                <a:extLst>
                  <a:ext uri="{FF2B5EF4-FFF2-40B4-BE49-F238E27FC236}">
                    <a16:creationId xmlns:a16="http://schemas.microsoft.com/office/drawing/2014/main" id="{C80BD62B-3A2B-70D9-B2F7-E0540ECA8D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7372" y="17766421"/>
                <a:ext cx="3682675" cy="182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1" name="圖形 150" descr="心跳">
                <a:extLst>
                  <a:ext uri="{FF2B5EF4-FFF2-40B4-BE49-F238E27FC236}">
                    <a16:creationId xmlns:a16="http://schemas.microsoft.com/office/drawing/2014/main" id="{9E9720CA-32E2-43EF-CA2A-15F380305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890047" y="17522971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52" name="直線接點 151">
                <a:extLst>
                  <a:ext uri="{FF2B5EF4-FFF2-40B4-BE49-F238E27FC236}">
                    <a16:creationId xmlns:a16="http://schemas.microsoft.com/office/drawing/2014/main" id="{8791755A-B2B5-AF1D-B952-0AE1873FCEA8}"/>
                  </a:ext>
                </a:extLst>
              </p:cNvPr>
              <p:cNvCxnSpPr>
                <a:cxnSpLocks/>
                <a:stCxn id="166" idx="1"/>
                <a:endCxn id="151" idx="3"/>
              </p:cNvCxnSpPr>
              <p:nvPr/>
            </p:nvCxnSpPr>
            <p:spPr>
              <a:xfrm flipH="1">
                <a:off x="6413479" y="17763716"/>
                <a:ext cx="5334523" cy="209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6" name="圖形 155" descr="心跳">
                <a:extLst>
                  <a:ext uri="{FF2B5EF4-FFF2-40B4-BE49-F238E27FC236}">
                    <a16:creationId xmlns:a16="http://schemas.microsoft.com/office/drawing/2014/main" id="{E83AF007-B268-1072-1E71-F38851F14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916620" y="17618232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57" name="直線接點 156">
                <a:extLst>
                  <a:ext uri="{FF2B5EF4-FFF2-40B4-BE49-F238E27FC236}">
                    <a16:creationId xmlns:a16="http://schemas.microsoft.com/office/drawing/2014/main" id="{32D1DF15-2FE8-8CA7-435C-9E600C09D013}"/>
                  </a:ext>
                </a:extLst>
              </p:cNvPr>
              <p:cNvCxnSpPr>
                <a:cxnSpLocks/>
                <a:stCxn id="156" idx="1"/>
              </p:cNvCxnSpPr>
              <p:nvPr/>
            </p:nvCxnSpPr>
            <p:spPr>
              <a:xfrm flipH="1" flipV="1">
                <a:off x="2198616" y="17857644"/>
                <a:ext cx="4718004" cy="2230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1" name="圖形 160" descr="心跳">
                <a:extLst>
                  <a:ext uri="{FF2B5EF4-FFF2-40B4-BE49-F238E27FC236}">
                    <a16:creationId xmlns:a16="http://schemas.microsoft.com/office/drawing/2014/main" id="{ECDD42F9-1468-A2EE-3E0B-36E8A596D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691503" y="17699612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ACDAC420-9B61-4EED-A0BE-4682B9BDA335}"/>
                  </a:ext>
                </a:extLst>
              </p:cNvPr>
              <p:cNvCxnSpPr>
                <a:cxnSpLocks/>
                <a:stCxn id="161" idx="1"/>
              </p:cNvCxnSpPr>
              <p:nvPr/>
            </p:nvCxnSpPr>
            <p:spPr>
              <a:xfrm flipH="1">
                <a:off x="2207372" y="17961328"/>
                <a:ext cx="248413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6" name="圖形 165" descr="心跳">
                <a:extLst>
                  <a:ext uri="{FF2B5EF4-FFF2-40B4-BE49-F238E27FC236}">
                    <a16:creationId xmlns:a16="http://schemas.microsoft.com/office/drawing/2014/main" id="{AA0C9BFF-2A43-B820-DCA0-AD0B4F9CC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748002" y="17502000"/>
                <a:ext cx="523432" cy="523432"/>
              </a:xfrm>
              <a:prstGeom prst="rect">
                <a:avLst/>
              </a:prstGeom>
            </p:spPr>
          </p:pic>
          <p:pic>
            <p:nvPicPr>
              <p:cNvPr id="171" name="圖形 170" descr="心跳">
                <a:extLst>
                  <a:ext uri="{FF2B5EF4-FFF2-40B4-BE49-F238E27FC236}">
                    <a16:creationId xmlns:a16="http://schemas.microsoft.com/office/drawing/2014/main" id="{E0A07EDF-1A8E-C643-8DC7-A027BCE25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4462166" y="17502000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72" name="直線接點 171">
                <a:extLst>
                  <a:ext uri="{FF2B5EF4-FFF2-40B4-BE49-F238E27FC236}">
                    <a16:creationId xmlns:a16="http://schemas.microsoft.com/office/drawing/2014/main" id="{0B4654C7-92E5-6220-8C01-D1F0D7E06E57}"/>
                  </a:ext>
                </a:extLst>
              </p:cNvPr>
              <p:cNvCxnSpPr>
                <a:cxnSpLocks/>
                <a:stCxn id="171" idx="1"/>
                <a:endCxn id="166" idx="3"/>
              </p:cNvCxnSpPr>
              <p:nvPr/>
            </p:nvCxnSpPr>
            <p:spPr>
              <a:xfrm flipH="1">
                <a:off x="12271434" y="17763716"/>
                <a:ext cx="2190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8" name="群組 207">
            <a:extLst>
              <a:ext uri="{FF2B5EF4-FFF2-40B4-BE49-F238E27FC236}">
                <a16:creationId xmlns:a16="http://schemas.microsoft.com/office/drawing/2014/main" id="{15F71C1C-3A28-E85D-FA58-10A462181D47}"/>
              </a:ext>
            </a:extLst>
          </p:cNvPr>
          <p:cNvGrpSpPr/>
          <p:nvPr/>
        </p:nvGrpSpPr>
        <p:grpSpPr>
          <a:xfrm>
            <a:off x="5708791" y="6228588"/>
            <a:ext cx="14924357" cy="1595134"/>
            <a:chOff x="612238" y="16704433"/>
            <a:chExt cx="14924357" cy="1595134"/>
          </a:xfrm>
        </p:grpSpPr>
        <p:sp>
          <p:nvSpPr>
            <p:cNvPr id="209" name="文字方塊 208">
              <a:extLst>
                <a:ext uri="{FF2B5EF4-FFF2-40B4-BE49-F238E27FC236}">
                  <a16:creationId xmlns:a16="http://schemas.microsoft.com/office/drawing/2014/main" id="{61ADCCD9-B1F5-91E1-5D2E-410163414E19}"/>
                </a:ext>
              </a:extLst>
            </p:cNvPr>
            <p:cNvSpPr txBox="1"/>
            <p:nvPr/>
          </p:nvSpPr>
          <p:spPr>
            <a:xfrm>
              <a:off x="2110905" y="16953320"/>
              <a:ext cx="134154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研究流程</a:t>
              </a:r>
            </a:p>
          </p:txBody>
        </p:sp>
        <p:grpSp>
          <p:nvGrpSpPr>
            <p:cNvPr id="210" name="群組 209">
              <a:extLst>
                <a:ext uri="{FF2B5EF4-FFF2-40B4-BE49-F238E27FC236}">
                  <a16:creationId xmlns:a16="http://schemas.microsoft.com/office/drawing/2014/main" id="{BE8EAD0A-5A4F-9159-0718-25237E7E3A44}"/>
                </a:ext>
              </a:extLst>
            </p:cNvPr>
            <p:cNvGrpSpPr/>
            <p:nvPr/>
          </p:nvGrpSpPr>
          <p:grpSpPr>
            <a:xfrm>
              <a:off x="612238" y="16704433"/>
              <a:ext cx="14924357" cy="1595134"/>
              <a:chOff x="612238" y="16704433"/>
              <a:chExt cx="14924357" cy="1595134"/>
            </a:xfrm>
          </p:grpSpPr>
          <p:pic>
            <p:nvPicPr>
              <p:cNvPr id="211" name="圖形 210" descr="山脈">
                <a:extLst>
                  <a:ext uri="{FF2B5EF4-FFF2-40B4-BE49-F238E27FC236}">
                    <a16:creationId xmlns:a16="http://schemas.microsoft.com/office/drawing/2014/main" id="{B9846633-B0AF-B497-59E6-A33D3D9D7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2238" y="16704433"/>
                <a:ext cx="1595134" cy="1595134"/>
              </a:xfrm>
              <a:prstGeom prst="rect">
                <a:avLst/>
              </a:prstGeom>
            </p:spPr>
          </p:pic>
          <p:cxnSp>
            <p:nvCxnSpPr>
              <p:cNvPr id="212" name="直線單箭頭接點 211">
                <a:extLst>
                  <a:ext uri="{FF2B5EF4-FFF2-40B4-BE49-F238E27FC236}">
                    <a16:creationId xmlns:a16="http://schemas.microsoft.com/office/drawing/2014/main" id="{A8BD37D4-0F84-9D0B-2FCA-DEDE15A60879}"/>
                  </a:ext>
                </a:extLst>
              </p:cNvPr>
              <p:cNvCxnSpPr>
                <a:cxnSpLocks/>
                <a:stCxn id="221" idx="3"/>
              </p:cNvCxnSpPr>
              <p:nvPr/>
            </p:nvCxnSpPr>
            <p:spPr>
              <a:xfrm>
                <a:off x="14613335" y="17763716"/>
                <a:ext cx="923260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接點 212">
                <a:extLst>
                  <a:ext uri="{FF2B5EF4-FFF2-40B4-BE49-F238E27FC236}">
                    <a16:creationId xmlns:a16="http://schemas.microsoft.com/office/drawing/2014/main" id="{C8FB28EF-DBD2-942A-EDB1-97963D1C95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7372" y="17766421"/>
                <a:ext cx="3682675" cy="182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4" name="圖形 213" descr="心跳">
                <a:extLst>
                  <a:ext uri="{FF2B5EF4-FFF2-40B4-BE49-F238E27FC236}">
                    <a16:creationId xmlns:a16="http://schemas.microsoft.com/office/drawing/2014/main" id="{6ADD3E3E-22BA-7064-F670-B73C17FA8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890047" y="17522971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15" name="直線接點 214">
                <a:extLst>
                  <a:ext uri="{FF2B5EF4-FFF2-40B4-BE49-F238E27FC236}">
                    <a16:creationId xmlns:a16="http://schemas.microsoft.com/office/drawing/2014/main" id="{35E0CC39-1202-B1D0-0D17-57A1AFCA21CA}"/>
                  </a:ext>
                </a:extLst>
              </p:cNvPr>
              <p:cNvCxnSpPr>
                <a:cxnSpLocks/>
                <a:stCxn id="221" idx="1"/>
                <a:endCxn id="214" idx="3"/>
              </p:cNvCxnSpPr>
              <p:nvPr/>
            </p:nvCxnSpPr>
            <p:spPr>
              <a:xfrm flipH="1">
                <a:off x="6413479" y="17763716"/>
                <a:ext cx="7676424" cy="209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6" name="圖形 215" descr="心跳">
                <a:extLst>
                  <a:ext uri="{FF2B5EF4-FFF2-40B4-BE49-F238E27FC236}">
                    <a16:creationId xmlns:a16="http://schemas.microsoft.com/office/drawing/2014/main" id="{0111466A-E516-19BD-2FFA-7378CB549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925376" y="17617736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17" name="直線接點 216">
                <a:extLst>
                  <a:ext uri="{FF2B5EF4-FFF2-40B4-BE49-F238E27FC236}">
                    <a16:creationId xmlns:a16="http://schemas.microsoft.com/office/drawing/2014/main" id="{8C1ED199-06CD-D816-B0F9-DD8D7199FD92}"/>
                  </a:ext>
                </a:extLst>
              </p:cNvPr>
              <p:cNvCxnSpPr>
                <a:cxnSpLocks/>
                <a:stCxn id="216" idx="1"/>
              </p:cNvCxnSpPr>
              <p:nvPr/>
            </p:nvCxnSpPr>
            <p:spPr>
              <a:xfrm flipH="1" flipV="1">
                <a:off x="2207372" y="17857148"/>
                <a:ext cx="4718004" cy="2230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8" name="圖形 217" descr="心跳">
                <a:extLst>
                  <a:ext uri="{FF2B5EF4-FFF2-40B4-BE49-F238E27FC236}">
                    <a16:creationId xmlns:a16="http://schemas.microsoft.com/office/drawing/2014/main" id="{5266957A-4963-0C0B-CDFE-B5854F3D92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691503" y="17699612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19" name="直線接點 218">
                <a:extLst>
                  <a:ext uri="{FF2B5EF4-FFF2-40B4-BE49-F238E27FC236}">
                    <a16:creationId xmlns:a16="http://schemas.microsoft.com/office/drawing/2014/main" id="{58EAAE0A-0B53-B9F6-835A-B09F90940849}"/>
                  </a:ext>
                </a:extLst>
              </p:cNvPr>
              <p:cNvCxnSpPr>
                <a:cxnSpLocks/>
                <a:stCxn id="218" idx="1"/>
              </p:cNvCxnSpPr>
              <p:nvPr/>
            </p:nvCxnSpPr>
            <p:spPr>
              <a:xfrm flipH="1">
                <a:off x="2207372" y="17961328"/>
                <a:ext cx="248413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1" name="圖形 220" descr="心跳">
                <a:extLst>
                  <a:ext uri="{FF2B5EF4-FFF2-40B4-BE49-F238E27FC236}">
                    <a16:creationId xmlns:a16="http://schemas.microsoft.com/office/drawing/2014/main" id="{B3D5E2DA-BA2B-5727-C2D0-BFDA7E367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4089903" y="17502000"/>
                <a:ext cx="523432" cy="523432"/>
              </a:xfrm>
              <a:prstGeom prst="rect">
                <a:avLst/>
              </a:prstGeom>
            </p:spPr>
          </p:pic>
        </p:grpSp>
      </p:grpSp>
      <p:grpSp>
        <p:nvGrpSpPr>
          <p:cNvPr id="224" name="群組 223">
            <a:extLst>
              <a:ext uri="{FF2B5EF4-FFF2-40B4-BE49-F238E27FC236}">
                <a16:creationId xmlns:a16="http://schemas.microsoft.com/office/drawing/2014/main" id="{6FFCE77C-EED4-AB60-7E40-25AE586260EF}"/>
              </a:ext>
            </a:extLst>
          </p:cNvPr>
          <p:cNvGrpSpPr/>
          <p:nvPr/>
        </p:nvGrpSpPr>
        <p:grpSpPr>
          <a:xfrm>
            <a:off x="5708791" y="3027544"/>
            <a:ext cx="14924357" cy="1595134"/>
            <a:chOff x="612238" y="16704433"/>
            <a:chExt cx="14924357" cy="1595134"/>
          </a:xfrm>
        </p:grpSpPr>
        <p:sp>
          <p:nvSpPr>
            <p:cNvPr id="225" name="文字方塊 224">
              <a:extLst>
                <a:ext uri="{FF2B5EF4-FFF2-40B4-BE49-F238E27FC236}">
                  <a16:creationId xmlns:a16="http://schemas.microsoft.com/office/drawing/2014/main" id="{8D81F9F6-1992-B787-49EE-D3B91CDC0112}"/>
                </a:ext>
              </a:extLst>
            </p:cNvPr>
            <p:cNvSpPr txBox="1"/>
            <p:nvPr/>
          </p:nvSpPr>
          <p:spPr>
            <a:xfrm>
              <a:off x="2110905" y="16953320"/>
              <a:ext cx="134154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計畫動機與目的</a:t>
              </a:r>
            </a:p>
          </p:txBody>
        </p:sp>
        <p:grpSp>
          <p:nvGrpSpPr>
            <p:cNvPr id="226" name="群組 225">
              <a:extLst>
                <a:ext uri="{FF2B5EF4-FFF2-40B4-BE49-F238E27FC236}">
                  <a16:creationId xmlns:a16="http://schemas.microsoft.com/office/drawing/2014/main" id="{C7147FE7-3E4B-A12A-E84B-A20A5221D84B}"/>
                </a:ext>
              </a:extLst>
            </p:cNvPr>
            <p:cNvGrpSpPr/>
            <p:nvPr/>
          </p:nvGrpSpPr>
          <p:grpSpPr>
            <a:xfrm>
              <a:off x="612238" y="16704433"/>
              <a:ext cx="14924357" cy="1595134"/>
              <a:chOff x="612238" y="16704433"/>
              <a:chExt cx="14924357" cy="1595134"/>
            </a:xfrm>
          </p:grpSpPr>
          <p:pic>
            <p:nvPicPr>
              <p:cNvPr id="227" name="圖形 226" descr="山脈">
                <a:extLst>
                  <a:ext uri="{FF2B5EF4-FFF2-40B4-BE49-F238E27FC236}">
                    <a16:creationId xmlns:a16="http://schemas.microsoft.com/office/drawing/2014/main" id="{1BD0E564-8714-6D3E-B951-9C16DC169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2238" y="16704433"/>
                <a:ext cx="1595134" cy="1595134"/>
              </a:xfrm>
              <a:prstGeom prst="rect">
                <a:avLst/>
              </a:prstGeom>
            </p:spPr>
          </p:pic>
          <p:cxnSp>
            <p:nvCxnSpPr>
              <p:cNvPr id="228" name="直線單箭頭接點 227">
                <a:extLst>
                  <a:ext uri="{FF2B5EF4-FFF2-40B4-BE49-F238E27FC236}">
                    <a16:creationId xmlns:a16="http://schemas.microsoft.com/office/drawing/2014/main" id="{AAE73035-DED0-7D7A-70A8-7F3CFB490F01}"/>
                  </a:ext>
                </a:extLst>
              </p:cNvPr>
              <p:cNvCxnSpPr>
                <a:cxnSpLocks/>
                <a:stCxn id="236" idx="3"/>
              </p:cNvCxnSpPr>
              <p:nvPr/>
            </p:nvCxnSpPr>
            <p:spPr>
              <a:xfrm>
                <a:off x="14613335" y="17763716"/>
                <a:ext cx="923260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線接點 228">
                <a:extLst>
                  <a:ext uri="{FF2B5EF4-FFF2-40B4-BE49-F238E27FC236}">
                    <a16:creationId xmlns:a16="http://schemas.microsoft.com/office/drawing/2014/main" id="{35A9D4EB-C326-645F-BE14-5C004EF1A650}"/>
                  </a:ext>
                </a:extLst>
              </p:cNvPr>
              <p:cNvCxnSpPr>
                <a:cxnSpLocks/>
                <a:stCxn id="230" idx="1"/>
              </p:cNvCxnSpPr>
              <p:nvPr/>
            </p:nvCxnSpPr>
            <p:spPr>
              <a:xfrm flipH="1" flipV="1">
                <a:off x="2207372" y="17739138"/>
                <a:ext cx="5659978" cy="127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0" name="圖形 229" descr="心跳">
                <a:extLst>
                  <a:ext uri="{FF2B5EF4-FFF2-40B4-BE49-F238E27FC236}">
                    <a16:creationId xmlns:a16="http://schemas.microsoft.com/office/drawing/2014/main" id="{95CFB1A8-7C34-A24F-FF90-FCFB95E9E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867350" y="17490178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31" name="直線接點 230">
                <a:extLst>
                  <a:ext uri="{FF2B5EF4-FFF2-40B4-BE49-F238E27FC236}">
                    <a16:creationId xmlns:a16="http://schemas.microsoft.com/office/drawing/2014/main" id="{4CB746BA-1CAA-AF08-8B64-5C24DE0E2264}"/>
                  </a:ext>
                </a:extLst>
              </p:cNvPr>
              <p:cNvCxnSpPr>
                <a:cxnSpLocks/>
                <a:stCxn id="236" idx="1"/>
                <a:endCxn id="230" idx="3"/>
              </p:cNvCxnSpPr>
              <p:nvPr/>
            </p:nvCxnSpPr>
            <p:spPr>
              <a:xfrm flipH="1" flipV="1">
                <a:off x="8390782" y="17751894"/>
                <a:ext cx="5699121" cy="118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2" name="圖形 231" descr="心跳">
                <a:extLst>
                  <a:ext uri="{FF2B5EF4-FFF2-40B4-BE49-F238E27FC236}">
                    <a16:creationId xmlns:a16="http://schemas.microsoft.com/office/drawing/2014/main" id="{430B6F4B-7BAF-BF4F-E5EA-BC32E8432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449376" y="17617736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33" name="直線接點 232">
                <a:extLst>
                  <a:ext uri="{FF2B5EF4-FFF2-40B4-BE49-F238E27FC236}">
                    <a16:creationId xmlns:a16="http://schemas.microsoft.com/office/drawing/2014/main" id="{575C2C89-288C-CC5D-3BB7-2F162EAA87D1}"/>
                  </a:ext>
                </a:extLst>
              </p:cNvPr>
              <p:cNvCxnSpPr>
                <a:cxnSpLocks/>
                <a:stCxn id="232" idx="1"/>
              </p:cNvCxnSpPr>
              <p:nvPr/>
            </p:nvCxnSpPr>
            <p:spPr>
              <a:xfrm flipH="1" flipV="1">
                <a:off x="2207372" y="17856757"/>
                <a:ext cx="6242004" cy="2269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4" name="圖形 233" descr="心跳">
                <a:extLst>
                  <a:ext uri="{FF2B5EF4-FFF2-40B4-BE49-F238E27FC236}">
                    <a16:creationId xmlns:a16="http://schemas.microsoft.com/office/drawing/2014/main" id="{8352DFA3-EB05-6ECD-B0FC-4A537665F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045742" y="17699612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35" name="直線接點 234">
                <a:extLst>
                  <a:ext uri="{FF2B5EF4-FFF2-40B4-BE49-F238E27FC236}">
                    <a16:creationId xmlns:a16="http://schemas.microsoft.com/office/drawing/2014/main" id="{7F00A962-2784-B4F2-94BB-617322B4C4F2}"/>
                  </a:ext>
                </a:extLst>
              </p:cNvPr>
              <p:cNvCxnSpPr>
                <a:cxnSpLocks/>
                <a:stCxn id="234" idx="1"/>
              </p:cNvCxnSpPr>
              <p:nvPr/>
            </p:nvCxnSpPr>
            <p:spPr>
              <a:xfrm flipH="1">
                <a:off x="2207372" y="17961328"/>
                <a:ext cx="383837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6" name="圖形 235" descr="心跳">
                <a:extLst>
                  <a:ext uri="{FF2B5EF4-FFF2-40B4-BE49-F238E27FC236}">
                    <a16:creationId xmlns:a16="http://schemas.microsoft.com/office/drawing/2014/main" id="{E2CD6498-0862-D2F5-5387-3A50C1718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4089903" y="17502000"/>
                <a:ext cx="523432" cy="523432"/>
              </a:xfrm>
              <a:prstGeom prst="rect">
                <a:avLst/>
              </a:prstGeom>
            </p:spPr>
          </p:pic>
        </p:grpSp>
      </p:grpSp>
      <p:grpSp>
        <p:nvGrpSpPr>
          <p:cNvPr id="259" name="群組 258">
            <a:extLst>
              <a:ext uri="{FF2B5EF4-FFF2-40B4-BE49-F238E27FC236}">
                <a16:creationId xmlns:a16="http://schemas.microsoft.com/office/drawing/2014/main" id="{293E17F7-F584-CFF8-FF86-57DCBF5C1911}"/>
              </a:ext>
            </a:extLst>
          </p:cNvPr>
          <p:cNvGrpSpPr/>
          <p:nvPr/>
        </p:nvGrpSpPr>
        <p:grpSpPr>
          <a:xfrm>
            <a:off x="16066870" y="16546530"/>
            <a:ext cx="4935388" cy="1595134"/>
            <a:chOff x="612238" y="16704433"/>
            <a:chExt cx="4935388" cy="1595134"/>
          </a:xfrm>
        </p:grpSpPr>
        <p:sp>
          <p:nvSpPr>
            <p:cNvPr id="260" name="文字方塊 259">
              <a:extLst>
                <a:ext uri="{FF2B5EF4-FFF2-40B4-BE49-F238E27FC236}">
                  <a16:creationId xmlns:a16="http://schemas.microsoft.com/office/drawing/2014/main" id="{BE572EBB-8E53-3F3D-6872-33A676E590F7}"/>
                </a:ext>
              </a:extLst>
            </p:cNvPr>
            <p:cNvSpPr txBox="1"/>
            <p:nvPr/>
          </p:nvSpPr>
          <p:spPr>
            <a:xfrm>
              <a:off x="2110906" y="16953320"/>
              <a:ext cx="34367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成果討論</a:t>
              </a:r>
            </a:p>
          </p:txBody>
        </p:sp>
        <p:grpSp>
          <p:nvGrpSpPr>
            <p:cNvPr id="261" name="群組 260">
              <a:extLst>
                <a:ext uri="{FF2B5EF4-FFF2-40B4-BE49-F238E27FC236}">
                  <a16:creationId xmlns:a16="http://schemas.microsoft.com/office/drawing/2014/main" id="{92B256C1-CE7E-F179-98BD-AEBC5F0C9F61}"/>
                </a:ext>
              </a:extLst>
            </p:cNvPr>
            <p:cNvGrpSpPr/>
            <p:nvPr/>
          </p:nvGrpSpPr>
          <p:grpSpPr>
            <a:xfrm>
              <a:off x="612238" y="16704433"/>
              <a:ext cx="4935387" cy="1595134"/>
              <a:chOff x="612238" y="16704433"/>
              <a:chExt cx="4935387" cy="1595134"/>
            </a:xfrm>
          </p:grpSpPr>
          <p:pic>
            <p:nvPicPr>
              <p:cNvPr id="262" name="圖形 261" descr="山脈">
                <a:extLst>
                  <a:ext uri="{FF2B5EF4-FFF2-40B4-BE49-F238E27FC236}">
                    <a16:creationId xmlns:a16="http://schemas.microsoft.com/office/drawing/2014/main" id="{C2845BBE-8256-FF9D-078E-4DC02FCD67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2238" y="16704433"/>
                <a:ext cx="1595134" cy="1595134"/>
              </a:xfrm>
              <a:prstGeom prst="rect">
                <a:avLst/>
              </a:prstGeom>
            </p:spPr>
          </p:pic>
          <p:cxnSp>
            <p:nvCxnSpPr>
              <p:cNvPr id="263" name="直線單箭頭接點 262">
                <a:extLst>
                  <a:ext uri="{FF2B5EF4-FFF2-40B4-BE49-F238E27FC236}">
                    <a16:creationId xmlns:a16="http://schemas.microsoft.com/office/drawing/2014/main" id="{36D5C6B7-5D78-966A-7A8D-D37E4138ACE8}"/>
                  </a:ext>
                </a:extLst>
              </p:cNvPr>
              <p:cNvCxnSpPr>
                <a:cxnSpLocks/>
                <a:stCxn id="265" idx="3"/>
              </p:cNvCxnSpPr>
              <p:nvPr/>
            </p:nvCxnSpPr>
            <p:spPr>
              <a:xfrm>
                <a:off x="5120776" y="17766421"/>
                <a:ext cx="426849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線接點 263">
                <a:extLst>
                  <a:ext uri="{FF2B5EF4-FFF2-40B4-BE49-F238E27FC236}">
                    <a16:creationId xmlns:a16="http://schemas.microsoft.com/office/drawing/2014/main" id="{C326CE53-BA0C-9340-5749-B3643F90BCDA}"/>
                  </a:ext>
                </a:extLst>
              </p:cNvPr>
              <p:cNvCxnSpPr>
                <a:cxnSpLocks/>
                <a:stCxn id="265" idx="1"/>
              </p:cNvCxnSpPr>
              <p:nvPr/>
            </p:nvCxnSpPr>
            <p:spPr>
              <a:xfrm flipH="1">
                <a:off x="2207372" y="17766421"/>
                <a:ext cx="23899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5" name="圖形 264" descr="心跳">
                <a:extLst>
                  <a:ext uri="{FF2B5EF4-FFF2-40B4-BE49-F238E27FC236}">
                    <a16:creationId xmlns:a16="http://schemas.microsoft.com/office/drawing/2014/main" id="{28B12C81-D974-5DED-8B94-9A4EF72AA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597344" y="17504705"/>
                <a:ext cx="523432" cy="523432"/>
              </a:xfrm>
              <a:prstGeom prst="rect">
                <a:avLst/>
              </a:prstGeom>
            </p:spPr>
          </p:pic>
          <p:pic>
            <p:nvPicPr>
              <p:cNvPr id="269" name="圖形 268" descr="心跳">
                <a:extLst>
                  <a:ext uri="{FF2B5EF4-FFF2-40B4-BE49-F238E27FC236}">
                    <a16:creationId xmlns:a16="http://schemas.microsoft.com/office/drawing/2014/main" id="{F706D9CF-B420-71B2-BE61-550A3FD3B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05250" y="17699612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270" name="直線接點 269">
                <a:extLst>
                  <a:ext uri="{FF2B5EF4-FFF2-40B4-BE49-F238E27FC236}">
                    <a16:creationId xmlns:a16="http://schemas.microsoft.com/office/drawing/2014/main" id="{C46E36F0-BDE8-2527-C297-CA2F9D413922}"/>
                  </a:ext>
                </a:extLst>
              </p:cNvPr>
              <p:cNvCxnSpPr>
                <a:cxnSpLocks/>
                <a:stCxn id="269" idx="1"/>
              </p:cNvCxnSpPr>
              <p:nvPr/>
            </p:nvCxnSpPr>
            <p:spPr>
              <a:xfrm flipH="1">
                <a:off x="2207372" y="17961328"/>
                <a:ext cx="199787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82" name="直線接點 281">
            <a:extLst>
              <a:ext uri="{FF2B5EF4-FFF2-40B4-BE49-F238E27FC236}">
                <a16:creationId xmlns:a16="http://schemas.microsoft.com/office/drawing/2014/main" id="{D67B80D8-AE54-FEF2-E7BA-A1CFFACB22CB}"/>
              </a:ext>
            </a:extLst>
          </p:cNvPr>
          <p:cNvCxnSpPr>
            <a:cxnSpLocks/>
          </p:cNvCxnSpPr>
          <p:nvPr/>
        </p:nvCxnSpPr>
        <p:spPr>
          <a:xfrm flipH="1">
            <a:off x="17662004" y="17717700"/>
            <a:ext cx="28035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文字方塊 285">
            <a:extLst>
              <a:ext uri="{FF2B5EF4-FFF2-40B4-BE49-F238E27FC236}">
                <a16:creationId xmlns:a16="http://schemas.microsoft.com/office/drawing/2014/main" id="{E163094E-2A73-C10B-B591-8D3E810A7F6F}"/>
              </a:ext>
            </a:extLst>
          </p:cNvPr>
          <p:cNvSpPr txBox="1"/>
          <p:nvPr/>
        </p:nvSpPr>
        <p:spPr>
          <a:xfrm>
            <a:off x="16430057" y="18312182"/>
            <a:ext cx="4838787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頻譜功率方法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能有效針對感興趣頻帶深入研究，排列時間片段的資料視覺化方法也能清楚觀察有無事件發生</a:t>
            </a: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在此資料集中，當次聲波較低頻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1~5 Hz)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時，能偵測到大範圍特別事件，推測可能為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火山活動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事件</a:t>
            </a: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在此資料集中，當次聲波較高頻 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11~20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Hz)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時，出現間隔為一天之規律的事件，皆約莫在清晨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點到</a:t>
            </a:r>
            <a:r>
              <a:rPr lang="en-US" altLang="zh-TW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點，有可能為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地形風</a:t>
            </a:r>
            <a:r>
              <a:rPr lang="zh-TW" altLang="en-US" sz="30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火山活動</a:t>
            </a:r>
            <a:endParaRPr lang="en-US" altLang="zh-TW" sz="3000" dirty="0">
              <a:solidFill>
                <a:srgbClr val="CC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sz="30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0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搭配頻帶功率圖與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非監督式機器學習</a:t>
            </a:r>
            <a:r>
              <a:rPr lang="zh-TW" altLang="en-US" sz="30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方法，能根據五筆測站資料同時進行分類，並減少單獨測站的雜訊帶來之影響</a:t>
            </a:r>
            <a:endParaRPr lang="en-US" altLang="zh-TW" sz="30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8AC9EBCD-CFC5-B836-A676-B4AB0F95F2F9}"/>
              </a:ext>
            </a:extLst>
          </p:cNvPr>
          <p:cNvGrpSpPr/>
          <p:nvPr/>
        </p:nvGrpSpPr>
        <p:grpSpPr>
          <a:xfrm>
            <a:off x="14327936" y="23111782"/>
            <a:ext cx="218288" cy="180000"/>
            <a:chOff x="16369886" y="23644238"/>
            <a:chExt cx="218288" cy="180000"/>
          </a:xfrm>
        </p:grpSpPr>
        <p:cxnSp>
          <p:nvCxnSpPr>
            <p:cNvPr id="294" name="直線接點 293">
              <a:extLst>
                <a:ext uri="{FF2B5EF4-FFF2-40B4-BE49-F238E27FC236}">
                  <a16:creationId xmlns:a16="http://schemas.microsoft.com/office/drawing/2014/main" id="{812C57D3-C489-114C-1B4D-CB7893F61E6A}"/>
                </a:ext>
              </a:extLst>
            </p:cNvPr>
            <p:cNvCxnSpPr>
              <a:cxnSpLocks/>
            </p:cNvCxnSpPr>
            <p:nvPr/>
          </p:nvCxnSpPr>
          <p:spPr>
            <a:xfrm>
              <a:off x="16369886" y="23644238"/>
              <a:ext cx="0" cy="18000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>
              <a:extLst>
                <a:ext uri="{FF2B5EF4-FFF2-40B4-BE49-F238E27FC236}">
                  <a16:creationId xmlns:a16="http://schemas.microsoft.com/office/drawing/2014/main" id="{BB2DED02-15F8-6A8A-D816-6F70C9A1F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9886" y="23734238"/>
              <a:ext cx="218288" cy="2562"/>
            </a:xfrm>
            <a:prstGeom prst="straightConnector1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4" name="直線接點 303">
              <a:extLst>
                <a:ext uri="{FF2B5EF4-FFF2-40B4-BE49-F238E27FC236}">
                  <a16:creationId xmlns:a16="http://schemas.microsoft.com/office/drawing/2014/main" id="{7229BB04-FAB5-55CB-336B-D01D3E4A23D3}"/>
                </a:ext>
              </a:extLst>
            </p:cNvPr>
            <p:cNvCxnSpPr>
              <a:cxnSpLocks/>
            </p:cNvCxnSpPr>
            <p:nvPr/>
          </p:nvCxnSpPr>
          <p:spPr>
            <a:xfrm>
              <a:off x="16588174" y="23644238"/>
              <a:ext cx="0" cy="18000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" name="文字方塊 306">
            <a:extLst>
              <a:ext uri="{FF2B5EF4-FFF2-40B4-BE49-F238E27FC236}">
                <a16:creationId xmlns:a16="http://schemas.microsoft.com/office/drawing/2014/main" id="{4BB0B30E-ECF7-5E9E-5AF4-5A58F4DFD540}"/>
              </a:ext>
            </a:extLst>
          </p:cNvPr>
          <p:cNvSpPr txBox="1"/>
          <p:nvPr/>
        </p:nvSpPr>
        <p:spPr>
          <a:xfrm>
            <a:off x="13381384" y="23648822"/>
            <a:ext cx="23374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持續約</a:t>
            </a:r>
            <a:r>
              <a:rPr lang="en-US" altLang="zh-TW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3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493ED26-3C75-65C7-A753-DC4D9062BF2D}"/>
              </a:ext>
            </a:extLst>
          </p:cNvPr>
          <p:cNvGrpSpPr/>
          <p:nvPr/>
        </p:nvGrpSpPr>
        <p:grpSpPr>
          <a:xfrm>
            <a:off x="760679" y="29461680"/>
            <a:ext cx="6431386" cy="430276"/>
            <a:chOff x="760679" y="29461680"/>
            <a:chExt cx="6431386" cy="430276"/>
          </a:xfrm>
        </p:grpSpPr>
        <p:grpSp>
          <p:nvGrpSpPr>
            <p:cNvPr id="308" name="群組 307">
              <a:extLst>
                <a:ext uri="{FF2B5EF4-FFF2-40B4-BE49-F238E27FC236}">
                  <a16:creationId xmlns:a16="http://schemas.microsoft.com/office/drawing/2014/main" id="{5FBA7247-4618-A896-BBB7-5945B4F5F2FD}"/>
                </a:ext>
              </a:extLst>
            </p:cNvPr>
            <p:cNvGrpSpPr/>
            <p:nvPr/>
          </p:nvGrpSpPr>
          <p:grpSpPr>
            <a:xfrm>
              <a:off x="760679" y="29498683"/>
              <a:ext cx="3583099" cy="393273"/>
              <a:chOff x="2209062" y="29515435"/>
              <a:chExt cx="3583099" cy="393273"/>
            </a:xfrm>
          </p:grpSpPr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8763C937-1CD4-4ABA-2F74-4E3D84AABAB6}"/>
                  </a:ext>
                </a:extLst>
              </p:cNvPr>
              <p:cNvGrpSpPr/>
              <p:nvPr/>
            </p:nvGrpSpPr>
            <p:grpSpPr>
              <a:xfrm>
                <a:off x="2209062" y="29518853"/>
                <a:ext cx="619079" cy="369815"/>
                <a:chOff x="6861513" y="5274396"/>
                <a:chExt cx="680304" cy="397842"/>
              </a:xfrm>
            </p:grpSpPr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B97D888D-7649-2DBD-5FAE-5906C0DFAC20}"/>
                    </a:ext>
                  </a:extLst>
                </p:cNvPr>
                <p:cNvSpPr txBox="1"/>
                <p:nvPr/>
              </p:nvSpPr>
              <p:spPr>
                <a:xfrm>
                  <a:off x="6861513" y="5274396"/>
                  <a:ext cx="680304" cy="3642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600" dirty="0">
                      <a:solidFill>
                        <a:srgbClr val="FF0000"/>
                      </a:solidFill>
                    </a:rPr>
                    <a:t>YD04</a:t>
                  </a:r>
                  <a:endParaRPr lang="zh-TW" altLang="en-US" sz="16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49" name="直線接點 48">
                  <a:extLst>
                    <a:ext uri="{FF2B5EF4-FFF2-40B4-BE49-F238E27FC236}">
                      <a16:creationId xmlns:a16="http://schemas.microsoft.com/office/drawing/2014/main" id="{8019B0C7-0416-C424-3036-87E9B3CB6C57}"/>
                    </a:ext>
                  </a:extLst>
                </p:cNvPr>
                <p:cNvCxnSpPr>
                  <a:cxnSpLocks/>
                  <a:endCxn id="50" idx="2"/>
                </p:cNvCxnSpPr>
                <p:nvPr/>
              </p:nvCxnSpPr>
              <p:spPr>
                <a:xfrm>
                  <a:off x="6937760" y="5636238"/>
                  <a:ext cx="530200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橢圓 49">
                  <a:extLst>
                    <a:ext uri="{FF2B5EF4-FFF2-40B4-BE49-F238E27FC236}">
                      <a16:creationId xmlns:a16="http://schemas.microsoft.com/office/drawing/2014/main" id="{B76335CF-8A51-E1D3-3081-6F7746B5D87C}"/>
                    </a:ext>
                  </a:extLst>
                </p:cNvPr>
                <p:cNvSpPr/>
                <p:nvPr/>
              </p:nvSpPr>
              <p:spPr>
                <a:xfrm>
                  <a:off x="7467960" y="5600238"/>
                  <a:ext cx="72000" cy="72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6ECE7BE1-7190-7483-2BD7-5DE4B432E6AE}"/>
                  </a:ext>
                </a:extLst>
              </p:cNvPr>
              <p:cNvGrpSpPr/>
              <p:nvPr/>
            </p:nvGrpSpPr>
            <p:grpSpPr>
              <a:xfrm>
                <a:off x="3007192" y="29522264"/>
                <a:ext cx="619079" cy="362874"/>
                <a:chOff x="7738575" y="5278066"/>
                <a:chExt cx="680304" cy="390375"/>
              </a:xfrm>
            </p:grpSpPr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0DCAFBE4-70B1-CA6E-9313-402FC71FB907}"/>
                    </a:ext>
                  </a:extLst>
                </p:cNvPr>
                <p:cNvSpPr txBox="1"/>
                <p:nvPr/>
              </p:nvSpPr>
              <p:spPr>
                <a:xfrm>
                  <a:off x="7738575" y="5278066"/>
                  <a:ext cx="680304" cy="3642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600" dirty="0">
                      <a:solidFill>
                        <a:srgbClr val="32CD32"/>
                      </a:solidFill>
                    </a:rPr>
                    <a:t>YD05</a:t>
                  </a:r>
                  <a:endParaRPr lang="zh-TW" altLang="en-US" sz="1600" dirty="0">
                    <a:solidFill>
                      <a:srgbClr val="32CD32"/>
                    </a:solidFill>
                  </a:endParaRPr>
                </a:p>
              </p:txBody>
            </p:sp>
            <p:grpSp>
              <p:nvGrpSpPr>
                <p:cNvPr id="45" name="群組 44">
                  <a:extLst>
                    <a:ext uri="{FF2B5EF4-FFF2-40B4-BE49-F238E27FC236}">
                      <a16:creationId xmlns:a16="http://schemas.microsoft.com/office/drawing/2014/main" id="{44BD6CA2-A299-9CF4-BA7F-1837626E3D0C}"/>
                    </a:ext>
                  </a:extLst>
                </p:cNvPr>
                <p:cNvGrpSpPr/>
                <p:nvPr/>
              </p:nvGrpSpPr>
              <p:grpSpPr>
                <a:xfrm>
                  <a:off x="7809785" y="5596441"/>
                  <a:ext cx="602200" cy="72000"/>
                  <a:chOff x="6940279" y="5604051"/>
                  <a:chExt cx="602200" cy="72000"/>
                </a:xfrm>
                <a:solidFill>
                  <a:srgbClr val="32CD32"/>
                </a:solidFill>
              </p:grpSpPr>
              <p:cxnSp>
                <p:nvCxnSpPr>
                  <p:cNvPr id="46" name="直線接點 45">
                    <a:extLst>
                      <a:ext uri="{FF2B5EF4-FFF2-40B4-BE49-F238E27FC236}">
                        <a16:creationId xmlns:a16="http://schemas.microsoft.com/office/drawing/2014/main" id="{85B5A69F-B108-1A97-8AAC-8875C9141351}"/>
                      </a:ext>
                    </a:extLst>
                  </p:cNvPr>
                  <p:cNvCxnSpPr>
                    <a:cxnSpLocks/>
                    <a:endCxn id="47" idx="2"/>
                  </p:cNvCxnSpPr>
                  <p:nvPr/>
                </p:nvCxnSpPr>
                <p:spPr>
                  <a:xfrm>
                    <a:off x="6940279" y="5640051"/>
                    <a:ext cx="530200" cy="0"/>
                  </a:xfrm>
                  <a:prstGeom prst="line">
                    <a:avLst/>
                  </a:prstGeom>
                  <a:grpFill/>
                  <a:ln w="28575">
                    <a:solidFill>
                      <a:srgbClr val="32CD3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橢圓 46">
                    <a:extLst>
                      <a:ext uri="{FF2B5EF4-FFF2-40B4-BE49-F238E27FC236}">
                        <a16:creationId xmlns:a16="http://schemas.microsoft.com/office/drawing/2014/main" id="{112838DC-C992-C1B6-443A-13F605056B25}"/>
                      </a:ext>
                    </a:extLst>
                  </p:cNvPr>
                  <p:cNvSpPr/>
                  <p:nvPr/>
                </p:nvSpPr>
                <p:spPr>
                  <a:xfrm>
                    <a:off x="7470479" y="5604051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32CD3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600"/>
                  </a:p>
                </p:txBody>
              </p:sp>
            </p:grp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7519068E-B8DC-2E7F-1123-491F67885FA8}"/>
                  </a:ext>
                </a:extLst>
              </p:cNvPr>
              <p:cNvGrpSpPr/>
              <p:nvPr/>
            </p:nvGrpSpPr>
            <p:grpSpPr>
              <a:xfrm>
                <a:off x="3800738" y="29515435"/>
                <a:ext cx="619079" cy="369703"/>
                <a:chOff x="8610600" y="5270719"/>
                <a:chExt cx="680304" cy="397722"/>
              </a:xfrm>
            </p:grpSpPr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84A0C80A-885D-9A42-CA4A-B5818EE6EBCD}"/>
                    </a:ext>
                  </a:extLst>
                </p:cNvPr>
                <p:cNvSpPr txBox="1"/>
                <p:nvPr/>
              </p:nvSpPr>
              <p:spPr>
                <a:xfrm>
                  <a:off x="8610600" y="5270719"/>
                  <a:ext cx="680304" cy="3642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600" dirty="0">
                      <a:solidFill>
                        <a:srgbClr val="4169E1"/>
                      </a:solidFill>
                    </a:rPr>
                    <a:t>YD06</a:t>
                  </a:r>
                  <a:endParaRPr lang="zh-TW" altLang="en-US" sz="1600" dirty="0">
                    <a:solidFill>
                      <a:srgbClr val="4169E1"/>
                    </a:solidFill>
                  </a:endParaRPr>
                </a:p>
              </p:txBody>
            </p:sp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872F2DFC-B8EC-103E-F62C-2C5074A0804C}"/>
                    </a:ext>
                  </a:extLst>
                </p:cNvPr>
                <p:cNvGrpSpPr/>
                <p:nvPr/>
              </p:nvGrpSpPr>
              <p:grpSpPr>
                <a:xfrm>
                  <a:off x="8686847" y="5596441"/>
                  <a:ext cx="602200" cy="72000"/>
                  <a:chOff x="6940279" y="5604051"/>
                  <a:chExt cx="602200" cy="72000"/>
                </a:xfrm>
              </p:grpSpPr>
              <p:cxnSp>
                <p:nvCxnSpPr>
                  <p:cNvPr id="36" name="直線接點 35">
                    <a:extLst>
                      <a:ext uri="{FF2B5EF4-FFF2-40B4-BE49-F238E27FC236}">
                        <a16:creationId xmlns:a16="http://schemas.microsoft.com/office/drawing/2014/main" id="{567014D4-C339-5B38-DF71-9F94FF027552}"/>
                      </a:ext>
                    </a:extLst>
                  </p:cNvPr>
                  <p:cNvCxnSpPr>
                    <a:cxnSpLocks/>
                    <a:endCxn id="43" idx="2"/>
                  </p:cNvCxnSpPr>
                  <p:nvPr/>
                </p:nvCxnSpPr>
                <p:spPr>
                  <a:xfrm>
                    <a:off x="6940279" y="5640051"/>
                    <a:ext cx="530200" cy="0"/>
                  </a:xfrm>
                  <a:prstGeom prst="line">
                    <a:avLst/>
                  </a:prstGeom>
                  <a:solidFill>
                    <a:srgbClr val="4169E1"/>
                  </a:solidFill>
                  <a:ln w="28575">
                    <a:solidFill>
                      <a:srgbClr val="4169E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橢圓 42">
                    <a:extLst>
                      <a:ext uri="{FF2B5EF4-FFF2-40B4-BE49-F238E27FC236}">
                        <a16:creationId xmlns:a16="http://schemas.microsoft.com/office/drawing/2014/main" id="{BACED777-7BBF-3D7B-09E9-D7D33F53D503}"/>
                      </a:ext>
                    </a:extLst>
                  </p:cNvPr>
                  <p:cNvSpPr/>
                  <p:nvPr/>
                </p:nvSpPr>
                <p:spPr>
                  <a:xfrm>
                    <a:off x="7470479" y="5604051"/>
                    <a:ext cx="72000" cy="72000"/>
                  </a:xfrm>
                  <a:prstGeom prst="ellipse">
                    <a:avLst/>
                  </a:prstGeom>
                  <a:solidFill>
                    <a:srgbClr val="4169E1"/>
                  </a:solidFill>
                  <a:ln>
                    <a:solidFill>
                      <a:srgbClr val="4169E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600"/>
                  </a:p>
                </p:txBody>
              </p:sp>
            </p:grpSp>
          </p:grp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16F601A8-3DBD-B2D6-B74F-7552B21C8361}"/>
                  </a:ext>
                </a:extLst>
              </p:cNvPr>
              <p:cNvGrpSpPr/>
              <p:nvPr/>
            </p:nvGrpSpPr>
            <p:grpSpPr>
              <a:xfrm>
                <a:off x="4489202" y="29540705"/>
                <a:ext cx="619079" cy="362874"/>
                <a:chOff x="9483256" y="5278066"/>
                <a:chExt cx="680304" cy="390375"/>
              </a:xfrm>
            </p:grpSpPr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D5FB441-79C3-7370-BC8C-11EF169A02C3}"/>
                    </a:ext>
                  </a:extLst>
                </p:cNvPr>
                <p:cNvSpPr txBox="1"/>
                <p:nvPr/>
              </p:nvSpPr>
              <p:spPr>
                <a:xfrm>
                  <a:off x="9483256" y="5278066"/>
                  <a:ext cx="680304" cy="3642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600" dirty="0">
                      <a:solidFill>
                        <a:srgbClr val="FFA300"/>
                      </a:solidFill>
                    </a:rPr>
                    <a:t>YD07</a:t>
                  </a:r>
                  <a:endParaRPr lang="zh-TW" altLang="en-US" sz="1600" dirty="0">
                    <a:solidFill>
                      <a:srgbClr val="FFA300"/>
                    </a:solidFill>
                  </a:endParaRPr>
                </a:p>
              </p:txBody>
            </p:sp>
            <p:grpSp>
              <p:nvGrpSpPr>
                <p:cNvPr id="27" name="群組 26">
                  <a:extLst>
                    <a:ext uri="{FF2B5EF4-FFF2-40B4-BE49-F238E27FC236}">
                      <a16:creationId xmlns:a16="http://schemas.microsoft.com/office/drawing/2014/main" id="{41B85781-92BD-6C4D-AAF9-2B77543F3CCC}"/>
                    </a:ext>
                  </a:extLst>
                </p:cNvPr>
                <p:cNvGrpSpPr/>
                <p:nvPr/>
              </p:nvGrpSpPr>
              <p:grpSpPr>
                <a:xfrm>
                  <a:off x="9554466" y="5596441"/>
                  <a:ext cx="602200" cy="72000"/>
                  <a:chOff x="6940279" y="5604051"/>
                  <a:chExt cx="602200" cy="72000"/>
                </a:xfrm>
              </p:grpSpPr>
              <p:cxnSp>
                <p:nvCxnSpPr>
                  <p:cNvPr id="32" name="直線接點 31">
                    <a:extLst>
                      <a:ext uri="{FF2B5EF4-FFF2-40B4-BE49-F238E27FC236}">
                        <a16:creationId xmlns:a16="http://schemas.microsoft.com/office/drawing/2014/main" id="{0F984AD2-7270-647F-2EB7-41FA77C71B1F}"/>
                      </a:ext>
                    </a:extLst>
                  </p:cNvPr>
                  <p:cNvCxnSpPr>
                    <a:cxnSpLocks/>
                    <a:endCxn id="33" idx="2"/>
                  </p:cNvCxnSpPr>
                  <p:nvPr/>
                </p:nvCxnSpPr>
                <p:spPr>
                  <a:xfrm>
                    <a:off x="6940279" y="5640051"/>
                    <a:ext cx="530200" cy="0"/>
                  </a:xfrm>
                  <a:prstGeom prst="line">
                    <a:avLst/>
                  </a:prstGeom>
                  <a:solidFill>
                    <a:srgbClr val="FFA300"/>
                  </a:solidFill>
                  <a:ln w="28575">
                    <a:solidFill>
                      <a:srgbClr val="FFA3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橢圓 32">
                    <a:extLst>
                      <a:ext uri="{FF2B5EF4-FFF2-40B4-BE49-F238E27FC236}">
                        <a16:creationId xmlns:a16="http://schemas.microsoft.com/office/drawing/2014/main" id="{CC5F69BA-DB86-6E49-ED69-AADB9E0CA542}"/>
                      </a:ext>
                    </a:extLst>
                  </p:cNvPr>
                  <p:cNvSpPr/>
                  <p:nvPr/>
                </p:nvSpPr>
                <p:spPr>
                  <a:xfrm>
                    <a:off x="7470479" y="5604051"/>
                    <a:ext cx="72000" cy="72000"/>
                  </a:xfrm>
                  <a:prstGeom prst="ellipse">
                    <a:avLst/>
                  </a:prstGeom>
                  <a:solidFill>
                    <a:srgbClr val="FFA300"/>
                  </a:solidFill>
                  <a:ln>
                    <a:solidFill>
                      <a:srgbClr val="FFA3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600"/>
                  </a:p>
                </p:txBody>
              </p:sp>
            </p:grpSp>
          </p:grpSp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97A469F4-9CD8-7497-1AC1-96030460D4AA}"/>
                  </a:ext>
                </a:extLst>
              </p:cNvPr>
              <p:cNvGrpSpPr/>
              <p:nvPr/>
            </p:nvGrpSpPr>
            <p:grpSpPr>
              <a:xfrm>
                <a:off x="5173082" y="29542694"/>
                <a:ext cx="619079" cy="366014"/>
                <a:chOff x="10355281" y="5270719"/>
                <a:chExt cx="680304" cy="393753"/>
              </a:xfrm>
            </p:grpSpPr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AC6138CE-9E3B-A9C8-77D9-082A9CEB7060}"/>
                    </a:ext>
                  </a:extLst>
                </p:cNvPr>
                <p:cNvSpPr txBox="1"/>
                <p:nvPr/>
              </p:nvSpPr>
              <p:spPr>
                <a:xfrm>
                  <a:off x="10355281" y="5270719"/>
                  <a:ext cx="680304" cy="3642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600" dirty="0">
                      <a:solidFill>
                        <a:srgbClr val="274949"/>
                      </a:solidFill>
                    </a:rPr>
                    <a:t>YD21</a:t>
                  </a:r>
                  <a:endParaRPr lang="zh-TW" altLang="en-US" sz="1600" dirty="0">
                    <a:solidFill>
                      <a:srgbClr val="274949"/>
                    </a:solidFill>
                  </a:endParaRPr>
                </a:p>
              </p:txBody>
            </p:sp>
            <p:grpSp>
              <p:nvGrpSpPr>
                <p:cNvPr id="22" name="群組 21">
                  <a:extLst>
                    <a:ext uri="{FF2B5EF4-FFF2-40B4-BE49-F238E27FC236}">
                      <a16:creationId xmlns:a16="http://schemas.microsoft.com/office/drawing/2014/main" id="{1A813008-491E-75A1-85D0-F078FF02C166}"/>
                    </a:ext>
                  </a:extLst>
                </p:cNvPr>
                <p:cNvGrpSpPr/>
                <p:nvPr/>
              </p:nvGrpSpPr>
              <p:grpSpPr>
                <a:xfrm>
                  <a:off x="10431369" y="5592472"/>
                  <a:ext cx="602200" cy="72000"/>
                  <a:chOff x="6940279" y="5604051"/>
                  <a:chExt cx="602200" cy="72000"/>
                </a:xfrm>
              </p:grpSpPr>
              <p:cxnSp>
                <p:nvCxnSpPr>
                  <p:cNvPr id="23" name="直線接點 22">
                    <a:extLst>
                      <a:ext uri="{FF2B5EF4-FFF2-40B4-BE49-F238E27FC236}">
                        <a16:creationId xmlns:a16="http://schemas.microsoft.com/office/drawing/2014/main" id="{FBB3E7F5-42BA-8983-933E-AC5A83590317}"/>
                      </a:ext>
                    </a:extLst>
                  </p:cNvPr>
                  <p:cNvCxnSpPr>
                    <a:cxnSpLocks/>
                    <a:endCxn id="24" idx="2"/>
                  </p:cNvCxnSpPr>
                  <p:nvPr/>
                </p:nvCxnSpPr>
                <p:spPr>
                  <a:xfrm>
                    <a:off x="6940279" y="5640051"/>
                    <a:ext cx="530200" cy="0"/>
                  </a:xfrm>
                  <a:prstGeom prst="line">
                    <a:avLst/>
                  </a:prstGeom>
                  <a:solidFill>
                    <a:srgbClr val="274949"/>
                  </a:solidFill>
                  <a:ln w="28575">
                    <a:solidFill>
                      <a:srgbClr val="27494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橢圓 23">
                    <a:extLst>
                      <a:ext uri="{FF2B5EF4-FFF2-40B4-BE49-F238E27FC236}">
                        <a16:creationId xmlns:a16="http://schemas.microsoft.com/office/drawing/2014/main" id="{0CD6AF5C-5ADC-701E-4A7D-219A294B49BB}"/>
                      </a:ext>
                    </a:extLst>
                  </p:cNvPr>
                  <p:cNvSpPr/>
                  <p:nvPr/>
                </p:nvSpPr>
                <p:spPr>
                  <a:xfrm>
                    <a:off x="7470479" y="5604051"/>
                    <a:ext cx="72000" cy="72000"/>
                  </a:xfrm>
                  <a:prstGeom prst="ellipse">
                    <a:avLst/>
                  </a:prstGeom>
                  <a:solidFill>
                    <a:srgbClr val="274949"/>
                  </a:solidFill>
                  <a:ln>
                    <a:solidFill>
                      <a:srgbClr val="27494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600"/>
                  </a:p>
                </p:txBody>
              </p:sp>
            </p:grpSp>
          </p:grpSp>
        </p:grpSp>
        <p:grpSp>
          <p:nvGrpSpPr>
            <p:cNvPr id="311" name="群組 310">
              <a:extLst>
                <a:ext uri="{FF2B5EF4-FFF2-40B4-BE49-F238E27FC236}">
                  <a16:creationId xmlns:a16="http://schemas.microsoft.com/office/drawing/2014/main" id="{A0D0B055-232B-4934-F0C4-4BFFFC49209F}"/>
                </a:ext>
              </a:extLst>
            </p:cNvPr>
            <p:cNvGrpSpPr/>
            <p:nvPr/>
          </p:nvGrpSpPr>
          <p:grpSpPr>
            <a:xfrm>
              <a:off x="4509413" y="29468432"/>
              <a:ext cx="800219" cy="418930"/>
              <a:chOff x="5365981" y="29442300"/>
              <a:chExt cx="800219" cy="418930"/>
            </a:xfrm>
          </p:grpSpPr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7E382DAF-967D-BC96-AF87-988405B1268A}"/>
                  </a:ext>
                </a:extLst>
              </p:cNvPr>
              <p:cNvSpPr/>
              <p:nvPr/>
            </p:nvSpPr>
            <p:spPr>
              <a:xfrm>
                <a:off x="5493847" y="29769005"/>
                <a:ext cx="548004" cy="92225"/>
              </a:xfrm>
              <a:prstGeom prst="rect">
                <a:avLst/>
              </a:prstGeom>
              <a:solidFill>
                <a:srgbClr val="FFFBF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10" name="文字方塊 309">
                <a:extLst>
                  <a:ext uri="{FF2B5EF4-FFF2-40B4-BE49-F238E27FC236}">
                    <a16:creationId xmlns:a16="http://schemas.microsoft.com/office/drawing/2014/main" id="{078E5621-8C56-8BB3-19BB-D37E631B3FE8}"/>
                  </a:ext>
                </a:extLst>
              </p:cNvPr>
              <p:cNvSpPr txBox="1"/>
              <p:nvPr/>
            </p:nvSpPr>
            <p:spPr>
              <a:xfrm>
                <a:off x="5365981" y="29442300"/>
                <a:ext cx="8002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 dirty="0">
                    <a:solidFill>
                      <a:srgbClr val="274949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無事件</a:t>
                </a:r>
              </a:p>
            </p:txBody>
          </p:sp>
        </p:grpSp>
        <p:grpSp>
          <p:nvGrpSpPr>
            <p:cNvPr id="312" name="群組 311">
              <a:extLst>
                <a:ext uri="{FF2B5EF4-FFF2-40B4-BE49-F238E27FC236}">
                  <a16:creationId xmlns:a16="http://schemas.microsoft.com/office/drawing/2014/main" id="{654C1D16-11AF-D73E-15E0-0F51416F0245}"/>
                </a:ext>
              </a:extLst>
            </p:cNvPr>
            <p:cNvGrpSpPr/>
            <p:nvPr/>
          </p:nvGrpSpPr>
          <p:grpSpPr>
            <a:xfrm>
              <a:off x="5297620" y="29462215"/>
              <a:ext cx="1005403" cy="425147"/>
              <a:chOff x="5265147" y="29436083"/>
              <a:chExt cx="1005403" cy="425147"/>
            </a:xfrm>
          </p:grpSpPr>
          <p:sp>
            <p:nvSpPr>
              <p:cNvPr id="313" name="矩形 312">
                <a:extLst>
                  <a:ext uri="{FF2B5EF4-FFF2-40B4-BE49-F238E27FC236}">
                    <a16:creationId xmlns:a16="http://schemas.microsoft.com/office/drawing/2014/main" id="{225BE00C-BD74-08E7-2C24-17B6AE79F815}"/>
                  </a:ext>
                </a:extLst>
              </p:cNvPr>
              <p:cNvSpPr/>
              <p:nvPr/>
            </p:nvSpPr>
            <p:spPr>
              <a:xfrm>
                <a:off x="5493847" y="29769005"/>
                <a:ext cx="548004" cy="92225"/>
              </a:xfrm>
              <a:prstGeom prst="rect">
                <a:avLst/>
              </a:prstGeom>
              <a:solidFill>
                <a:srgbClr val="E9E2F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4" name="文字方塊 313">
                <a:extLst>
                  <a:ext uri="{FF2B5EF4-FFF2-40B4-BE49-F238E27FC236}">
                    <a16:creationId xmlns:a16="http://schemas.microsoft.com/office/drawing/2014/main" id="{FA7A8E59-194F-6C36-2A01-0974EB59FCE9}"/>
                  </a:ext>
                </a:extLst>
              </p:cNvPr>
              <p:cNvSpPr txBox="1"/>
              <p:nvPr/>
            </p:nvSpPr>
            <p:spPr>
              <a:xfrm>
                <a:off x="5265147" y="29436083"/>
                <a:ext cx="10054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 dirty="0">
                    <a:solidFill>
                      <a:srgbClr val="274949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特別事件</a:t>
                </a:r>
              </a:p>
            </p:txBody>
          </p:sp>
        </p:grpSp>
        <p:grpSp>
          <p:nvGrpSpPr>
            <p:cNvPr id="315" name="群組 314">
              <a:extLst>
                <a:ext uri="{FF2B5EF4-FFF2-40B4-BE49-F238E27FC236}">
                  <a16:creationId xmlns:a16="http://schemas.microsoft.com/office/drawing/2014/main" id="{459A436E-F1E3-8389-7562-1368F2BAE4A2}"/>
                </a:ext>
              </a:extLst>
            </p:cNvPr>
            <p:cNvGrpSpPr/>
            <p:nvPr/>
          </p:nvGrpSpPr>
          <p:grpSpPr>
            <a:xfrm>
              <a:off x="6186662" y="29461680"/>
              <a:ext cx="1005403" cy="425147"/>
              <a:chOff x="5265147" y="29436083"/>
              <a:chExt cx="1005403" cy="425147"/>
            </a:xfrm>
          </p:grpSpPr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8624F1CA-F88E-877F-DEED-B2079B483E50}"/>
                  </a:ext>
                </a:extLst>
              </p:cNvPr>
              <p:cNvSpPr/>
              <p:nvPr/>
            </p:nvSpPr>
            <p:spPr>
              <a:xfrm>
                <a:off x="5493847" y="29769005"/>
                <a:ext cx="548004" cy="92225"/>
              </a:xfrm>
              <a:prstGeom prst="rect">
                <a:avLst/>
              </a:prstGeom>
              <a:solidFill>
                <a:srgbClr val="F8D0D8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7" name="文字方塊 316">
                <a:extLst>
                  <a:ext uri="{FF2B5EF4-FFF2-40B4-BE49-F238E27FC236}">
                    <a16:creationId xmlns:a16="http://schemas.microsoft.com/office/drawing/2014/main" id="{E7CA5C13-2051-1153-1665-F6D43F5873DE}"/>
                  </a:ext>
                </a:extLst>
              </p:cNvPr>
              <p:cNvSpPr txBox="1"/>
              <p:nvPr/>
            </p:nvSpPr>
            <p:spPr>
              <a:xfrm>
                <a:off x="5265147" y="29436083"/>
                <a:ext cx="10054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 dirty="0">
                    <a:solidFill>
                      <a:srgbClr val="274949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顯著事件</a:t>
                </a:r>
              </a:p>
            </p:txBody>
          </p:sp>
        </p:grpSp>
      </p:grpSp>
      <p:pic>
        <p:nvPicPr>
          <p:cNvPr id="31" name="圖片 30">
            <a:extLst>
              <a:ext uri="{FF2B5EF4-FFF2-40B4-BE49-F238E27FC236}">
                <a16:creationId xmlns:a16="http://schemas.microsoft.com/office/drawing/2014/main" id="{FDEBA268-C3E9-CABC-D2E9-D1D5E50E85D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79" t="12950" r="63101" b="78919"/>
          <a:stretch/>
        </p:blipFill>
        <p:spPr>
          <a:xfrm>
            <a:off x="4498011" y="19507828"/>
            <a:ext cx="1080000" cy="1080000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FDAE3F52-DC57-343A-C530-36721303B97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5" t="11997" r="61261" b="77996"/>
          <a:stretch/>
        </p:blipFill>
        <p:spPr>
          <a:xfrm>
            <a:off x="11375447" y="19448414"/>
            <a:ext cx="1080000" cy="1080000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D7026CF2-F5F2-61C2-4570-A0B67AEF3B7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79" t="12950" r="63101" b="78919"/>
          <a:stretch/>
        </p:blipFill>
        <p:spPr>
          <a:xfrm>
            <a:off x="4498011" y="24572190"/>
            <a:ext cx="1080000" cy="1080000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85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2849</TotalTime>
  <Words>547</Words>
  <Application>Microsoft Office PowerPoint</Application>
  <PresentationFormat>自訂</PresentationFormat>
  <Paragraphs>56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Cambria Math</vt:lpstr>
      <vt:lpstr>Helvetica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賀筠庭</dc:creator>
  <cp:lastModifiedBy>奕丞 林</cp:lastModifiedBy>
  <cp:revision>239</cp:revision>
  <dcterms:created xsi:type="dcterms:W3CDTF">2021-08-18T06:25:32Z</dcterms:created>
  <dcterms:modified xsi:type="dcterms:W3CDTF">2023-08-13T14:45:48Z</dcterms:modified>
</cp:coreProperties>
</file>