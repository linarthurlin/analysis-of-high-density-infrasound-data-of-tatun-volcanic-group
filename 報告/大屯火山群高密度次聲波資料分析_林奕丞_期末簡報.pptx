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339" r:id="rId3"/>
    <p:sldId id="341" r:id="rId4"/>
    <p:sldId id="345" r:id="rId5"/>
    <p:sldId id="347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1457E"/>
    <a:srgbClr val="5071A1"/>
    <a:srgbClr val="2086AA"/>
    <a:srgbClr val="FFFFFF"/>
    <a:srgbClr val="606698"/>
    <a:srgbClr val="000000"/>
    <a:srgbClr val="298480"/>
    <a:srgbClr val="805589"/>
    <a:srgbClr val="696294"/>
    <a:srgbClr val="2086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FDCFD5-4723-4C71-AB6F-233EB85DC657}" type="datetimeFigureOut">
              <a:rPr lang="zh-TW" altLang="en-US" smtClean="0"/>
              <a:t>2023/8/17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B46897-6FF4-4A52-8252-DE66FAA63DB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0766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1869d692e4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1869d692e4_1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11869d692e4_1_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9484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1869d692e4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1869d692e4_1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11869d692e4_1_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980845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1869d692e4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1869d692e4_1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11869d692e4_1_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12352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1869d692e4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1869d692e4_1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11869d692e4_1_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287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64DC43-918A-7439-6BED-29E0F5CD34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AB6BCDF-0636-F0E3-1FFA-817FDB2461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09AA0BE-7345-46A3-0A55-63198717B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44F47-5466-46B4-9BFF-4CAF323FBF58}" type="datetimeFigureOut">
              <a:rPr lang="zh-TW" altLang="en-US" smtClean="0"/>
              <a:t>2023/8/17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0DEC109-FB19-56B3-19AC-40C540212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A063202-889A-79A6-C626-BD05C27B1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31D2-6D36-44FE-AD25-AA17089D78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0951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270116-9CC5-D0C1-C013-D02D7C5C5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A00A415-F640-9E53-DB24-8FE55B4E8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B71421A-ED4C-FB58-A681-8FD734871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44F47-5466-46B4-9BFF-4CAF323FBF58}" type="datetimeFigureOut">
              <a:rPr lang="zh-TW" altLang="en-US" smtClean="0"/>
              <a:t>2023/8/17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9D4D6E1-6EB1-626B-8F33-B1C89F930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961C3EB-2660-0F6C-4FB8-BCDB9F1CD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31D2-6D36-44FE-AD25-AA17089D78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5745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FCB7BE-9108-1501-2E05-60F06C696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7925E54-0680-ED15-88BE-B7F0F32D2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1B36F3-8686-11E2-C5D2-24264A5D1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44F47-5466-46B4-9BFF-4CAF323FBF58}" type="datetimeFigureOut">
              <a:rPr lang="zh-TW" altLang="en-US" smtClean="0"/>
              <a:t>2023/8/17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36F6DF6-824C-8515-ACA0-E3A8CD67C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589DB50-FBB8-AA15-9C45-D7C1F3531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31D2-6D36-44FE-AD25-AA17089D78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7458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C6C586-4FF6-D44E-160F-0B3849CFD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CF96516-7A89-4D28-6ACE-89882EC074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5371B12-7E74-5FAD-291C-E5B1909BF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BC814F6-ED1C-9E45-359C-999DCEB65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44F47-5466-46B4-9BFF-4CAF323FBF58}" type="datetimeFigureOut">
              <a:rPr lang="zh-TW" altLang="en-US" smtClean="0"/>
              <a:t>2023/8/17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5BF0D38-E202-60D9-2990-CC5ACB1C3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AA14040-2F52-A22F-2338-53BD663DA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31D2-6D36-44FE-AD25-AA17089D78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1083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FE5485-8436-6544-80A6-C4DCF0D66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9DF7512-EED0-8F1B-C699-AE928FBA7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5022935-FFAC-0DC5-5970-1E55370D45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72AD06A-D367-BEFC-0400-28457EA204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E188347-A92B-C7A4-1814-5424D4F763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B5CE546-D50E-D94A-6C0A-76EE184D5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44F47-5466-46B4-9BFF-4CAF323FBF58}" type="datetimeFigureOut">
              <a:rPr lang="zh-TW" altLang="en-US" smtClean="0"/>
              <a:t>2023/8/17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67F1739-87E2-9441-E59C-4E5E4C10D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BEFE0E9-BA88-6715-268F-2DCB6835F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31D2-6D36-44FE-AD25-AA17089D78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574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4D86D5-616F-15FF-EF33-E58E66EE1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90D2F6C-5DE4-F3EE-8FFD-DD663F922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44F47-5466-46B4-9BFF-4CAF323FBF58}" type="datetimeFigureOut">
              <a:rPr lang="zh-TW" altLang="en-US" smtClean="0"/>
              <a:t>2023/8/17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CC09993-7AA5-36CB-A9BD-296CA88D9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E54D0D7-AD41-6885-0A40-1DA0F4F9A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31D2-6D36-44FE-AD25-AA17089D78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3903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763C08E-7152-0311-4FCD-AE7835117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44F47-5466-46B4-9BFF-4CAF323FBF58}" type="datetimeFigureOut">
              <a:rPr lang="zh-TW" altLang="en-US" smtClean="0"/>
              <a:t>2023/8/17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059A427-8FAD-01B3-F449-43FB8976E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49FDA71-C64F-0FA7-5497-D35E55B4C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31D2-6D36-44FE-AD25-AA17089D78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706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197256-F21F-2E2D-25E3-06CF449B9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4C3DB6-86FA-8BAD-0623-BCA165E85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9FFAF20-07BB-212E-3327-CE84672E8F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D5C2FF7-B5D9-82B1-B799-16E97BA7A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44F47-5466-46B4-9BFF-4CAF323FBF58}" type="datetimeFigureOut">
              <a:rPr lang="zh-TW" altLang="en-US" smtClean="0"/>
              <a:t>2023/8/17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CB8C969-5361-E937-CEC6-692522089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0F0CC93-D55F-7926-C40D-4E1AB7B8E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31D2-6D36-44FE-AD25-AA17089D78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8253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CA5702-FD2C-0C67-77A3-AF4353A64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3A943C6-BDF8-0348-F073-3A0603EC9B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C641E2A-6F7D-CB0E-6A83-73662202DB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C3C1F5A-667E-5D8E-3F77-CD2838AC4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44F47-5466-46B4-9BFF-4CAF323FBF58}" type="datetimeFigureOut">
              <a:rPr lang="zh-TW" altLang="en-US" smtClean="0"/>
              <a:t>2023/8/17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E466CC1-34F5-DA84-A09E-529A15A08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6A6CF07-DFF3-32DD-53FF-98A2FC50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31D2-6D36-44FE-AD25-AA17089D78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0906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76FAB4-CF28-3C3B-8AE5-CA4A29333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699B885-62B8-FDBD-3592-0754D751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517ED7A-A5A0-D47A-525C-FF0366708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44F47-5466-46B4-9BFF-4CAF323FBF58}" type="datetimeFigureOut">
              <a:rPr lang="zh-TW" altLang="en-US" smtClean="0"/>
              <a:t>2023/8/17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F97175B-94B1-B933-A571-D9728965B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819A18C-C000-74DF-91F6-52B3922BF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31D2-6D36-44FE-AD25-AA17089D78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9359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F5FA608-E391-748E-B1A8-618C269D7A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AD3E65E-E98B-A2CD-D6C3-54E3E56D7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5F24800-67AD-7598-DA16-C1ED57EE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44F47-5466-46B4-9BFF-4CAF323FBF58}" type="datetimeFigureOut">
              <a:rPr lang="zh-TW" altLang="en-US" smtClean="0"/>
              <a:t>2023/8/17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6F6519F-07E4-24EA-A241-9951F8D83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EFB9833-9945-CB5F-DEB8-2FF7E142A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31D2-6D36-44FE-AD25-AA17089D78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3519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>
  <p:cSld name="1_標題投影片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2">
            <a:alphaModFix/>
          </a:blip>
          <a:srcRect r="31461"/>
          <a:stretch/>
        </p:blipFill>
        <p:spPr>
          <a:xfrm>
            <a:off x="9550977" y="2234045"/>
            <a:ext cx="2641023" cy="462395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>
            <a:spLocks noGrp="1"/>
          </p:cNvSpPr>
          <p:nvPr>
            <p:ph type="ctrTitle"/>
          </p:nvPr>
        </p:nvSpPr>
        <p:spPr>
          <a:xfrm>
            <a:off x="1453400" y="3714376"/>
            <a:ext cx="9144000" cy="18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icrosoft JhengHe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r="31461"/>
          <a:stretch/>
        </p:blipFill>
        <p:spPr>
          <a:xfrm rot="10800000">
            <a:off x="0" y="-9240"/>
            <a:ext cx="1453389" cy="2544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25388" y="757294"/>
            <a:ext cx="2541223" cy="220287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9448800" y="612087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9448800" y="648600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3" name="Google Shape;23;p3"/>
          <p:cNvSpPr txBox="1"/>
          <p:nvPr/>
        </p:nvSpPr>
        <p:spPr>
          <a:xfrm>
            <a:off x="4510200" y="2864300"/>
            <a:ext cx="3171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 b="1">
                <a:solidFill>
                  <a:srgbClr val="45818E"/>
                </a:solidFill>
                <a:latin typeface="Calibri"/>
                <a:ea typeface="Calibri"/>
                <a:cs typeface="Calibri"/>
                <a:sym typeface="Calibri"/>
              </a:rPr>
              <a:t>www.aiengineer.tw</a:t>
            </a:r>
            <a:endParaRPr sz="2500" b="1">
              <a:solidFill>
                <a:srgbClr val="45818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7960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含標題的內容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 txBox="1">
            <a:spLocks noGrp="1"/>
          </p:cNvSpPr>
          <p:nvPr>
            <p:ph type="title"/>
          </p:nvPr>
        </p:nvSpPr>
        <p:spPr>
          <a:xfrm>
            <a:off x="839725" y="1536300"/>
            <a:ext cx="39321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body" idx="1"/>
          </p:nvPr>
        </p:nvSpPr>
        <p:spPr>
          <a:xfrm>
            <a:off x="5183200" y="1612500"/>
            <a:ext cx="6172200" cy="42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2"/>
          </p:nvPr>
        </p:nvSpPr>
        <p:spPr>
          <a:xfrm>
            <a:off x="839800" y="2733373"/>
            <a:ext cx="3932100" cy="31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6" name="Google Shape;9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85850"/>
            <a:ext cx="12192000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1"/>
          <p:cNvSpPr txBox="1">
            <a:spLocks noGrp="1"/>
          </p:cNvSpPr>
          <p:nvPr>
            <p:ph type="title" idx="3"/>
          </p:nvPr>
        </p:nvSpPr>
        <p:spPr>
          <a:xfrm>
            <a:off x="1477027" y="287112"/>
            <a:ext cx="105156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8" name="Google Shape;9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7157875" y="6356350"/>
            <a:ext cx="5034126" cy="5080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1"/>
          <p:cNvSpPr txBox="1">
            <a:spLocks noGrp="1"/>
          </p:cNvSpPr>
          <p:nvPr>
            <p:ph type="sldNum" idx="12"/>
          </p:nvPr>
        </p:nvSpPr>
        <p:spPr>
          <a:xfrm>
            <a:off x="8610600" y="64325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00" name="Google Shape;100;p11"/>
          <p:cNvSpPr txBox="1"/>
          <p:nvPr/>
        </p:nvSpPr>
        <p:spPr>
          <a:xfrm>
            <a:off x="7393875" y="6325688"/>
            <a:ext cx="3171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www.aiengineer.tw</a:t>
            </a:r>
            <a:endParaRPr sz="25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4656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176BBFB-E7FA-84BF-74E2-2564251B6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3838680-DF6B-3D39-3C9F-F0EDF13E1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C8B3EF2-1877-228A-DDB0-734CA9D70C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944F47-5466-46B4-9BFF-4CAF323FBF58}" type="datetimeFigureOut">
              <a:rPr lang="zh-TW" altLang="en-US" smtClean="0"/>
              <a:t>2023/8/17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8848C1-0DEA-A9F8-CB2C-58DC5FB99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2679649-3960-B08E-AE26-F6FC3C7634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BE31D2-6D36-44FE-AD25-AA17089D78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1853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"/>
          <p:cNvSpPr txBox="1">
            <a:spLocks noGrp="1"/>
          </p:cNvSpPr>
          <p:nvPr>
            <p:ph type="ctrTitle"/>
          </p:nvPr>
        </p:nvSpPr>
        <p:spPr>
          <a:xfrm>
            <a:off x="1151107" y="3351999"/>
            <a:ext cx="9889787" cy="1256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大屯火山群高密度次聲波資料分析</a:t>
            </a:r>
            <a:endParaRPr lang="en-US" sz="4000" b="1" dirty="0">
              <a:solidFill>
                <a:srgbClr val="99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1" name="Google Shape;131;p1"/>
          <p:cNvSpPr txBox="1">
            <a:spLocks noGrp="1"/>
          </p:cNvSpPr>
          <p:nvPr>
            <p:ph type="subTitle" idx="4294967295"/>
          </p:nvPr>
        </p:nvSpPr>
        <p:spPr>
          <a:xfrm>
            <a:off x="2370546" y="5116283"/>
            <a:ext cx="7450908" cy="1333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508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zh-TW" altLang="en-US" sz="2400" b="1" i="0" u="none" strike="noStrike" cap="none" dirty="0">
                <a:solidFill>
                  <a:schemeClr val="accent1">
                    <a:lumMod val="50000"/>
                  </a:schemeClr>
                </a:solidFill>
                <a:latin typeface="+mj-lt"/>
                <a:ea typeface="Microsoft JhengHei"/>
                <a:cs typeface="Microsoft JhengHei"/>
                <a:sym typeface="Microsoft JhengHei"/>
              </a:rPr>
              <a:t>林奕丞</a:t>
            </a:r>
            <a:endParaRPr lang="en-US" altLang="zh-TW" sz="2400" b="1" i="0" u="none" strike="noStrike" cap="none" dirty="0">
              <a:solidFill>
                <a:schemeClr val="accent1">
                  <a:lumMod val="50000"/>
                </a:schemeClr>
              </a:solidFill>
              <a:latin typeface="+mj-lt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-508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zh-TW" altLang="en-US" sz="2000" i="0" u="none" strike="noStrike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Microsoft JhengHei"/>
                <a:cs typeface="Microsoft JhengHei"/>
                <a:sym typeface="Microsoft JhengHei"/>
              </a:rPr>
              <a:t>專案經理：張慰慈</a:t>
            </a:r>
            <a:endParaRPr lang="en-US" altLang="zh-TW" sz="2000" i="0" u="none" strike="noStrike" cap="none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-508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altLang="zh-TW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Jul. 28</a:t>
            </a:r>
            <a:r>
              <a:rPr lang="en-US" altLang="zh-TW" sz="2000" baseline="300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th</a:t>
            </a:r>
            <a:r>
              <a:rPr lang="en-US" altLang="zh-TW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, 2023</a:t>
            </a:r>
            <a:endParaRPr sz="2000" i="0" u="none" strike="noStrike" cap="none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1869d692e4_1_52"/>
          <p:cNvSpPr txBox="1">
            <a:spLocks noGrp="1"/>
          </p:cNvSpPr>
          <p:nvPr>
            <p:ph type="sldNum" idx="12"/>
          </p:nvPr>
        </p:nvSpPr>
        <p:spPr>
          <a:xfrm>
            <a:off x="8610600" y="64325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>
                <a:latin typeface="+mj-lt"/>
              </a:rPr>
              <a:t>2</a:t>
            </a:fld>
            <a:endParaRPr dirty="0">
              <a:latin typeface="+mj-lt"/>
            </a:endParaRPr>
          </a:p>
        </p:txBody>
      </p:sp>
      <p:sp>
        <p:nvSpPr>
          <p:cNvPr id="141" name="Google Shape;141;g11869d692e4_1_52"/>
          <p:cNvSpPr txBox="1">
            <a:spLocks noGrp="1"/>
          </p:cNvSpPr>
          <p:nvPr>
            <p:ph type="title" idx="3"/>
          </p:nvPr>
        </p:nvSpPr>
        <p:spPr>
          <a:xfrm>
            <a:off x="1477027" y="287112"/>
            <a:ext cx="10515600" cy="569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lnSpc>
                <a:spcPct val="10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Introduction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42" name="群組 141">
            <a:extLst>
              <a:ext uri="{FF2B5EF4-FFF2-40B4-BE49-F238E27FC236}">
                <a16:creationId xmlns:a16="http://schemas.microsoft.com/office/drawing/2014/main" id="{07E7CE2D-257B-8CA6-D070-65FB4D6D4143}"/>
              </a:ext>
            </a:extLst>
          </p:cNvPr>
          <p:cNvGrpSpPr/>
          <p:nvPr/>
        </p:nvGrpSpPr>
        <p:grpSpPr>
          <a:xfrm>
            <a:off x="895349" y="1511190"/>
            <a:ext cx="5932185" cy="1647779"/>
            <a:chOff x="6095999" y="1202101"/>
            <a:chExt cx="5932185" cy="1647779"/>
          </a:xfrm>
        </p:grpSpPr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EC90BB0F-BBDE-8789-8650-C16D721275E0}"/>
                </a:ext>
              </a:extLst>
            </p:cNvPr>
            <p:cNvSpPr txBox="1"/>
            <p:nvPr/>
          </p:nvSpPr>
          <p:spPr>
            <a:xfrm>
              <a:off x="6095999" y="1818580"/>
              <a:ext cx="589662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大屯火山是活火山，傳統方法需監測噴氣成分、噴氣溫度，分析</a:t>
              </a:r>
              <a:r>
                <a:rPr lang="zh-TW" altLang="en-US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次聲波</a:t>
              </a:r>
              <a:r>
                <a: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(20</a:t>
              </a:r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Hz</a:t>
              </a:r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以下之聲波</a:t>
              </a:r>
              <a:r>
                <a: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為一火山監控嶄新領域，並希望透過資訊方法深入分析現有的次聲波資料</a:t>
              </a:r>
              <a:endPara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13373306-7B24-4D32-5600-05A2087F4464}"/>
                </a:ext>
              </a:extLst>
            </p:cNvPr>
            <p:cNvSpPr txBox="1"/>
            <p:nvPr/>
          </p:nvSpPr>
          <p:spPr>
            <a:xfrm>
              <a:off x="6131557" y="1202101"/>
              <a:ext cx="58966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計畫動機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61" name="群組 60">
              <a:extLst>
                <a:ext uri="{FF2B5EF4-FFF2-40B4-BE49-F238E27FC236}">
                  <a16:creationId xmlns:a16="http://schemas.microsoft.com/office/drawing/2014/main" id="{D6DBE5BB-F12F-B527-280E-655D1B45463B}"/>
                </a:ext>
              </a:extLst>
            </p:cNvPr>
            <p:cNvGrpSpPr/>
            <p:nvPr/>
          </p:nvGrpSpPr>
          <p:grpSpPr>
            <a:xfrm>
              <a:off x="6131560" y="1236525"/>
              <a:ext cx="5861063" cy="1613355"/>
              <a:chOff x="6131560" y="1236525"/>
              <a:chExt cx="5861063" cy="1613355"/>
            </a:xfrm>
          </p:grpSpPr>
          <p:cxnSp>
            <p:nvCxnSpPr>
              <p:cNvPr id="37" name="直線接點 36">
                <a:extLst>
                  <a:ext uri="{FF2B5EF4-FFF2-40B4-BE49-F238E27FC236}">
                    <a16:creationId xmlns:a16="http://schemas.microsoft.com/office/drawing/2014/main" id="{8D55B905-52EE-F245-D801-5776183C7F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1560" y="1236525"/>
                <a:ext cx="0" cy="1613355"/>
              </a:xfrm>
              <a:prstGeom prst="line">
                <a:avLst/>
              </a:prstGeom>
              <a:solidFill>
                <a:srgbClr val="4578A7"/>
              </a:solidFill>
              <a:ln w="28575">
                <a:solidFill>
                  <a:srgbClr val="4578A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7" name="圖形 46" descr="心跳">
                <a:extLst>
                  <a:ext uri="{FF2B5EF4-FFF2-40B4-BE49-F238E27FC236}">
                    <a16:creationId xmlns:a16="http://schemas.microsoft.com/office/drawing/2014/main" id="{D0127983-C278-EF1D-1757-5EE57ECF26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981323" y="1423754"/>
                <a:ext cx="523432" cy="523432"/>
              </a:xfrm>
              <a:prstGeom prst="rect">
                <a:avLst/>
              </a:prstGeom>
            </p:spPr>
          </p:pic>
          <p:cxnSp>
            <p:nvCxnSpPr>
              <p:cNvPr id="49" name="直線單箭頭接點 48">
                <a:extLst>
                  <a:ext uri="{FF2B5EF4-FFF2-40B4-BE49-F238E27FC236}">
                    <a16:creationId xmlns:a16="http://schemas.microsoft.com/office/drawing/2014/main" id="{96F20FA5-53F7-9C16-DCD4-11DF7167B40E}"/>
                  </a:ext>
                </a:extLst>
              </p:cNvPr>
              <p:cNvCxnSpPr>
                <a:cxnSpLocks/>
                <a:stCxn id="47" idx="3"/>
              </p:cNvCxnSpPr>
              <p:nvPr/>
            </p:nvCxnSpPr>
            <p:spPr>
              <a:xfrm>
                <a:off x="11504755" y="1685470"/>
                <a:ext cx="487868" cy="0"/>
              </a:xfrm>
              <a:prstGeom prst="straightConnector1">
                <a:avLst/>
              </a:prstGeom>
              <a:solidFill>
                <a:srgbClr val="4578A7"/>
              </a:solidFill>
              <a:ln w="28575">
                <a:solidFill>
                  <a:srgbClr val="4578A7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線接點 52">
                <a:extLst>
                  <a:ext uri="{FF2B5EF4-FFF2-40B4-BE49-F238E27FC236}">
                    <a16:creationId xmlns:a16="http://schemas.microsoft.com/office/drawing/2014/main" id="{C3D16FDD-7322-B8DC-4A1C-C15426D38450}"/>
                  </a:ext>
                </a:extLst>
              </p:cNvPr>
              <p:cNvCxnSpPr>
                <a:cxnSpLocks/>
                <a:stCxn id="47" idx="1"/>
              </p:cNvCxnSpPr>
              <p:nvPr/>
            </p:nvCxnSpPr>
            <p:spPr>
              <a:xfrm flipH="1" flipV="1">
                <a:off x="6131560" y="1676400"/>
                <a:ext cx="4849763" cy="9070"/>
              </a:xfrm>
              <a:prstGeom prst="line">
                <a:avLst/>
              </a:prstGeom>
              <a:solidFill>
                <a:srgbClr val="4578A7"/>
              </a:solidFill>
              <a:ln w="28575">
                <a:solidFill>
                  <a:srgbClr val="4578A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0" name="群組 139">
            <a:extLst>
              <a:ext uri="{FF2B5EF4-FFF2-40B4-BE49-F238E27FC236}">
                <a16:creationId xmlns:a16="http://schemas.microsoft.com/office/drawing/2014/main" id="{A17E1988-3D21-3D18-A011-FA668D89A5E2}"/>
              </a:ext>
            </a:extLst>
          </p:cNvPr>
          <p:cNvGrpSpPr/>
          <p:nvPr/>
        </p:nvGrpSpPr>
        <p:grpSpPr>
          <a:xfrm>
            <a:off x="897882" y="3807002"/>
            <a:ext cx="5932187" cy="1655237"/>
            <a:chOff x="6095997" y="3000200"/>
            <a:chExt cx="5932187" cy="1655237"/>
          </a:xfrm>
        </p:grpSpPr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48789279-5ACB-9939-4171-742C4D9ACF0F}"/>
                </a:ext>
              </a:extLst>
            </p:cNvPr>
            <p:cNvSpPr txBox="1"/>
            <p:nvPr/>
          </p:nvSpPr>
          <p:spPr>
            <a:xfrm>
              <a:off x="6095997" y="3707353"/>
              <a:ext cx="58966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期望建立次聲波訊號智慧分析與識別模組，最後完成自動化分析系統，及時監控大屯火山活動</a:t>
              </a:r>
              <a:endPara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62" name="群組 61">
              <a:extLst>
                <a:ext uri="{FF2B5EF4-FFF2-40B4-BE49-F238E27FC236}">
                  <a16:creationId xmlns:a16="http://schemas.microsoft.com/office/drawing/2014/main" id="{20D8D81B-9687-382D-D4EE-FC27B665DC6D}"/>
                </a:ext>
              </a:extLst>
            </p:cNvPr>
            <p:cNvGrpSpPr/>
            <p:nvPr/>
          </p:nvGrpSpPr>
          <p:grpSpPr>
            <a:xfrm>
              <a:off x="6131560" y="3042082"/>
              <a:ext cx="5861064" cy="1613355"/>
              <a:chOff x="6131560" y="1236525"/>
              <a:chExt cx="5861064" cy="1613355"/>
            </a:xfrm>
          </p:grpSpPr>
          <p:cxnSp>
            <p:nvCxnSpPr>
              <p:cNvPr id="63" name="直線接點 62">
                <a:extLst>
                  <a:ext uri="{FF2B5EF4-FFF2-40B4-BE49-F238E27FC236}">
                    <a16:creationId xmlns:a16="http://schemas.microsoft.com/office/drawing/2014/main" id="{9594D17D-B336-8ED2-FE55-0A0430D056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1560" y="1236525"/>
                <a:ext cx="0" cy="1613355"/>
              </a:xfrm>
              <a:prstGeom prst="line">
                <a:avLst/>
              </a:prstGeom>
              <a:solidFill>
                <a:srgbClr val="4578A7"/>
              </a:solidFill>
              <a:ln w="28575">
                <a:solidFill>
                  <a:srgbClr val="4578A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28" name="圖形 127" descr="心跳">
                <a:extLst>
                  <a:ext uri="{FF2B5EF4-FFF2-40B4-BE49-F238E27FC236}">
                    <a16:creationId xmlns:a16="http://schemas.microsoft.com/office/drawing/2014/main" id="{6EC9AD81-69E9-4254-FB70-A4B31C2234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981323" y="1423754"/>
                <a:ext cx="523432" cy="523432"/>
              </a:xfrm>
              <a:prstGeom prst="rect">
                <a:avLst/>
              </a:prstGeom>
            </p:spPr>
          </p:pic>
          <p:cxnSp>
            <p:nvCxnSpPr>
              <p:cNvPr id="129" name="直線單箭頭接點 128">
                <a:extLst>
                  <a:ext uri="{FF2B5EF4-FFF2-40B4-BE49-F238E27FC236}">
                    <a16:creationId xmlns:a16="http://schemas.microsoft.com/office/drawing/2014/main" id="{6B994DD1-0892-5116-164C-BB6940A08E3F}"/>
                  </a:ext>
                </a:extLst>
              </p:cNvPr>
              <p:cNvCxnSpPr>
                <a:cxnSpLocks/>
                <a:stCxn id="128" idx="3"/>
              </p:cNvCxnSpPr>
              <p:nvPr/>
            </p:nvCxnSpPr>
            <p:spPr>
              <a:xfrm>
                <a:off x="11504755" y="1685470"/>
                <a:ext cx="487869" cy="0"/>
              </a:xfrm>
              <a:prstGeom prst="straightConnector1">
                <a:avLst/>
              </a:prstGeom>
              <a:solidFill>
                <a:srgbClr val="4578A7"/>
              </a:solidFill>
              <a:ln w="28575">
                <a:solidFill>
                  <a:srgbClr val="4578A7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線接點 129">
                <a:extLst>
                  <a:ext uri="{FF2B5EF4-FFF2-40B4-BE49-F238E27FC236}">
                    <a16:creationId xmlns:a16="http://schemas.microsoft.com/office/drawing/2014/main" id="{6A876FB7-3A4C-9197-824C-5277B9FA608D}"/>
                  </a:ext>
                </a:extLst>
              </p:cNvPr>
              <p:cNvCxnSpPr>
                <a:cxnSpLocks/>
                <a:stCxn id="128" idx="1"/>
              </p:cNvCxnSpPr>
              <p:nvPr/>
            </p:nvCxnSpPr>
            <p:spPr>
              <a:xfrm flipH="1" flipV="1">
                <a:off x="6131560" y="1676400"/>
                <a:ext cx="4849763" cy="9070"/>
              </a:xfrm>
              <a:prstGeom prst="line">
                <a:avLst/>
              </a:prstGeom>
              <a:solidFill>
                <a:srgbClr val="4578A7"/>
              </a:solidFill>
              <a:ln w="28575">
                <a:solidFill>
                  <a:srgbClr val="4578A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1" name="文字方塊 130">
              <a:extLst>
                <a:ext uri="{FF2B5EF4-FFF2-40B4-BE49-F238E27FC236}">
                  <a16:creationId xmlns:a16="http://schemas.microsoft.com/office/drawing/2014/main" id="{7372F375-0449-1F6E-AE8A-E2C6ED4A8ABD}"/>
                </a:ext>
              </a:extLst>
            </p:cNvPr>
            <p:cNvSpPr txBox="1"/>
            <p:nvPr/>
          </p:nvSpPr>
          <p:spPr>
            <a:xfrm>
              <a:off x="6131557" y="3000200"/>
              <a:ext cx="58966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計畫目的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892990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1869d692e4_1_52"/>
          <p:cNvSpPr txBox="1">
            <a:spLocks noGrp="1"/>
          </p:cNvSpPr>
          <p:nvPr>
            <p:ph type="sldNum" idx="12"/>
          </p:nvPr>
        </p:nvSpPr>
        <p:spPr>
          <a:xfrm>
            <a:off x="8610600" y="64325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>
                <a:latin typeface="+mj-lt"/>
              </a:rPr>
              <a:t>3</a:t>
            </a:fld>
            <a:endParaRPr dirty="0">
              <a:latin typeface="+mj-lt"/>
            </a:endParaRPr>
          </a:p>
        </p:txBody>
      </p:sp>
      <p:sp>
        <p:nvSpPr>
          <p:cNvPr id="141" name="Google Shape;141;g11869d692e4_1_52"/>
          <p:cNvSpPr txBox="1">
            <a:spLocks noGrp="1"/>
          </p:cNvSpPr>
          <p:nvPr>
            <p:ph type="title" idx="3"/>
          </p:nvPr>
        </p:nvSpPr>
        <p:spPr>
          <a:xfrm>
            <a:off x="1477027" y="287112"/>
            <a:ext cx="10515600" cy="569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lnSpc>
                <a:spcPct val="10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Methodology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流程圖: 程序 40">
            <a:extLst>
              <a:ext uri="{FF2B5EF4-FFF2-40B4-BE49-F238E27FC236}">
                <a16:creationId xmlns:a16="http://schemas.microsoft.com/office/drawing/2014/main" id="{4E64E491-1618-0D82-C055-4EA26309CD52}"/>
              </a:ext>
            </a:extLst>
          </p:cNvPr>
          <p:cNvSpPr/>
          <p:nvPr/>
        </p:nvSpPr>
        <p:spPr>
          <a:xfrm>
            <a:off x="1344707" y="2310185"/>
            <a:ext cx="2255520" cy="720000"/>
          </a:xfrm>
          <a:prstGeom prst="flowChartProcess">
            <a:avLst/>
          </a:prstGeom>
          <a:solidFill>
            <a:srgbClr val="2086A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資料清理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流程圖: 程序 41">
            <a:extLst>
              <a:ext uri="{FF2B5EF4-FFF2-40B4-BE49-F238E27FC236}">
                <a16:creationId xmlns:a16="http://schemas.microsoft.com/office/drawing/2014/main" id="{7E5665E8-8D62-3CDE-593C-CAE8C4920739}"/>
              </a:ext>
            </a:extLst>
          </p:cNvPr>
          <p:cNvSpPr/>
          <p:nvPr/>
        </p:nvSpPr>
        <p:spPr>
          <a:xfrm>
            <a:off x="1344707" y="3354171"/>
            <a:ext cx="2255520" cy="720000"/>
          </a:xfrm>
          <a:prstGeom prst="flowChartProcess">
            <a:avLst/>
          </a:prstGeom>
          <a:solidFill>
            <a:srgbClr val="5071A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快速傅立葉轉換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流程圖: 程序 42">
            <a:extLst>
              <a:ext uri="{FF2B5EF4-FFF2-40B4-BE49-F238E27FC236}">
                <a16:creationId xmlns:a16="http://schemas.microsoft.com/office/drawing/2014/main" id="{39E5EC12-5BA1-FB93-381C-6AB9C7FCA6A5}"/>
              </a:ext>
            </a:extLst>
          </p:cNvPr>
          <p:cNvSpPr/>
          <p:nvPr/>
        </p:nvSpPr>
        <p:spPr>
          <a:xfrm>
            <a:off x="1344707" y="4398157"/>
            <a:ext cx="2255520" cy="720000"/>
          </a:xfrm>
          <a:prstGeom prst="flowChartProcess">
            <a:avLst/>
          </a:prstGeom>
          <a:solidFill>
            <a:srgbClr val="606698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頻帶功率計算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流程圖: 程序 43">
            <a:extLst>
              <a:ext uri="{FF2B5EF4-FFF2-40B4-BE49-F238E27FC236}">
                <a16:creationId xmlns:a16="http://schemas.microsoft.com/office/drawing/2014/main" id="{5119DD16-F8DF-F1E6-FB93-8B52999A97CF}"/>
              </a:ext>
            </a:extLst>
          </p:cNvPr>
          <p:cNvSpPr/>
          <p:nvPr/>
        </p:nvSpPr>
        <p:spPr>
          <a:xfrm>
            <a:off x="1344707" y="5442143"/>
            <a:ext cx="2255520" cy="720000"/>
          </a:xfrm>
          <a:prstGeom prst="flowChartProcess">
            <a:avLst/>
          </a:prstGeom>
          <a:solidFill>
            <a:srgbClr val="91457E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機器學習分群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2D8ED627-D9C0-BF8C-40DC-5E80C2CCC107}"/>
              </a:ext>
            </a:extLst>
          </p:cNvPr>
          <p:cNvCxnSpPr>
            <a:cxnSpLocks/>
            <a:stCxn id="7" idx="2"/>
            <a:endCxn id="41" idx="0"/>
          </p:cNvCxnSpPr>
          <p:nvPr/>
        </p:nvCxnSpPr>
        <p:spPr>
          <a:xfrm>
            <a:off x="2472467" y="1986199"/>
            <a:ext cx="0" cy="3239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3DFA48E7-C413-B958-DEC4-D50B00D4436C}"/>
              </a:ext>
            </a:extLst>
          </p:cNvPr>
          <p:cNvCxnSpPr>
            <a:cxnSpLocks/>
            <a:stCxn id="41" idx="2"/>
            <a:endCxn id="42" idx="0"/>
          </p:cNvCxnSpPr>
          <p:nvPr/>
        </p:nvCxnSpPr>
        <p:spPr>
          <a:xfrm>
            <a:off x="2472467" y="3030185"/>
            <a:ext cx="0" cy="3239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1848D637-93EE-1592-C3D3-49988FDE3A84}"/>
              </a:ext>
            </a:extLst>
          </p:cNvPr>
          <p:cNvCxnSpPr>
            <a:cxnSpLocks/>
            <a:stCxn id="42" idx="2"/>
            <a:endCxn id="43" idx="0"/>
          </p:cNvCxnSpPr>
          <p:nvPr/>
        </p:nvCxnSpPr>
        <p:spPr>
          <a:xfrm>
            <a:off x="2472467" y="4074171"/>
            <a:ext cx="0" cy="3239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>
            <a:extLst>
              <a:ext uri="{FF2B5EF4-FFF2-40B4-BE49-F238E27FC236}">
                <a16:creationId xmlns:a16="http://schemas.microsoft.com/office/drawing/2014/main" id="{5EEBE736-F511-485F-A8E4-003EF81A200C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2472467" y="5118157"/>
            <a:ext cx="0" cy="3239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流程圖: 程序 6">
            <a:extLst>
              <a:ext uri="{FF2B5EF4-FFF2-40B4-BE49-F238E27FC236}">
                <a16:creationId xmlns:a16="http://schemas.microsoft.com/office/drawing/2014/main" id="{3BABD8CB-5D05-3F77-2B18-1493A75D0B24}"/>
              </a:ext>
            </a:extLst>
          </p:cNvPr>
          <p:cNvSpPr/>
          <p:nvPr/>
        </p:nvSpPr>
        <p:spPr>
          <a:xfrm>
            <a:off x="1344707" y="1266199"/>
            <a:ext cx="2255520" cy="720000"/>
          </a:xfrm>
          <a:prstGeom prst="flowChartProcess">
            <a:avLst/>
          </a:prstGeom>
          <a:solidFill>
            <a:srgbClr val="29848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次聲波原始資料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流程圖: 程序 19">
            <a:extLst>
              <a:ext uri="{FF2B5EF4-FFF2-40B4-BE49-F238E27FC236}">
                <a16:creationId xmlns:a16="http://schemas.microsoft.com/office/drawing/2014/main" id="{1127E973-4F77-6294-1A4B-7879911FD952}"/>
              </a:ext>
            </a:extLst>
          </p:cNvPr>
          <p:cNvSpPr/>
          <p:nvPr/>
        </p:nvSpPr>
        <p:spPr>
          <a:xfrm>
            <a:off x="4599436" y="5438291"/>
            <a:ext cx="2041619" cy="720000"/>
          </a:xfrm>
          <a:prstGeom prst="flowChartProcess">
            <a:avLst/>
          </a:prstGeom>
          <a:solidFill>
            <a:srgbClr val="91457E">
              <a:alpha val="50196"/>
            </a:srgb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DBSCAN</a:t>
            </a:r>
          </a:p>
        </p:txBody>
      </p:sp>
      <p:sp>
        <p:nvSpPr>
          <p:cNvPr id="23" name="流程圖: 程序 22">
            <a:extLst>
              <a:ext uri="{FF2B5EF4-FFF2-40B4-BE49-F238E27FC236}">
                <a16:creationId xmlns:a16="http://schemas.microsoft.com/office/drawing/2014/main" id="{2990B258-D1E9-CF14-C3B9-D86D19742A31}"/>
              </a:ext>
            </a:extLst>
          </p:cNvPr>
          <p:cNvSpPr/>
          <p:nvPr/>
        </p:nvSpPr>
        <p:spPr>
          <a:xfrm>
            <a:off x="7640267" y="5442143"/>
            <a:ext cx="2041619" cy="720000"/>
          </a:xfrm>
          <a:prstGeom prst="flowChartProcess">
            <a:avLst/>
          </a:prstGeom>
          <a:solidFill>
            <a:srgbClr val="91457E">
              <a:alpha val="50196"/>
            </a:srgb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K-Means</a:t>
            </a:r>
          </a:p>
        </p:txBody>
      </p:sp>
      <p:sp>
        <p:nvSpPr>
          <p:cNvPr id="24" name="流程圖: 程序 23">
            <a:extLst>
              <a:ext uri="{FF2B5EF4-FFF2-40B4-BE49-F238E27FC236}">
                <a16:creationId xmlns:a16="http://schemas.microsoft.com/office/drawing/2014/main" id="{FB76F400-A4D0-F27A-E79F-D412C86F214D}"/>
              </a:ext>
            </a:extLst>
          </p:cNvPr>
          <p:cNvSpPr/>
          <p:nvPr/>
        </p:nvSpPr>
        <p:spPr>
          <a:xfrm>
            <a:off x="4599435" y="4396231"/>
            <a:ext cx="2041620" cy="720000"/>
          </a:xfrm>
          <a:prstGeom prst="flowChartProcess">
            <a:avLst/>
          </a:prstGeom>
          <a:solidFill>
            <a:srgbClr val="606698">
              <a:alpha val="50196"/>
            </a:srgb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功率譜密度</a:t>
            </a:r>
            <a:endParaRPr lang="en-US" altLang="zh-TW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(PSD)</a:t>
            </a:r>
          </a:p>
        </p:txBody>
      </p:sp>
      <p:sp>
        <p:nvSpPr>
          <p:cNvPr id="25" name="流程圖: 程序 24">
            <a:extLst>
              <a:ext uri="{FF2B5EF4-FFF2-40B4-BE49-F238E27FC236}">
                <a16:creationId xmlns:a16="http://schemas.microsoft.com/office/drawing/2014/main" id="{316B29E7-D313-147B-9CA4-57272C845838}"/>
              </a:ext>
            </a:extLst>
          </p:cNvPr>
          <p:cNvSpPr/>
          <p:nvPr/>
        </p:nvSpPr>
        <p:spPr>
          <a:xfrm>
            <a:off x="7640268" y="4398157"/>
            <a:ext cx="2041618" cy="720000"/>
          </a:xfrm>
          <a:prstGeom prst="flowChartProcess">
            <a:avLst/>
          </a:prstGeom>
          <a:solidFill>
            <a:srgbClr val="606698">
              <a:alpha val="50196"/>
            </a:srgb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頻帶功率</a:t>
            </a:r>
            <a:endParaRPr lang="en-US" altLang="zh-TW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(Band Power)</a:t>
            </a:r>
          </a:p>
        </p:txBody>
      </p:sp>
      <p:sp>
        <p:nvSpPr>
          <p:cNvPr id="26" name="流程圖: 程序 25">
            <a:extLst>
              <a:ext uri="{FF2B5EF4-FFF2-40B4-BE49-F238E27FC236}">
                <a16:creationId xmlns:a16="http://schemas.microsoft.com/office/drawing/2014/main" id="{BA2E64A1-A7BA-3C9A-601E-6FC98D611EA1}"/>
              </a:ext>
            </a:extLst>
          </p:cNvPr>
          <p:cNvSpPr/>
          <p:nvPr/>
        </p:nvSpPr>
        <p:spPr>
          <a:xfrm>
            <a:off x="4599435" y="3354171"/>
            <a:ext cx="2041620" cy="720000"/>
          </a:xfrm>
          <a:prstGeom prst="flowChartProcess">
            <a:avLst/>
          </a:prstGeom>
          <a:solidFill>
            <a:srgbClr val="5071A1">
              <a:alpha val="50196"/>
            </a:srgb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漢明窗</a:t>
            </a:r>
            <a:endParaRPr lang="en-US" altLang="zh-TW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(Hamming)</a:t>
            </a:r>
          </a:p>
        </p:txBody>
      </p:sp>
      <p:sp>
        <p:nvSpPr>
          <p:cNvPr id="27" name="流程圖: 程序 26">
            <a:extLst>
              <a:ext uri="{FF2B5EF4-FFF2-40B4-BE49-F238E27FC236}">
                <a16:creationId xmlns:a16="http://schemas.microsoft.com/office/drawing/2014/main" id="{80749C07-5092-69D3-4A5F-BD8C0002512A}"/>
              </a:ext>
            </a:extLst>
          </p:cNvPr>
          <p:cNvSpPr/>
          <p:nvPr/>
        </p:nvSpPr>
        <p:spPr>
          <a:xfrm>
            <a:off x="7640268" y="3355542"/>
            <a:ext cx="2041620" cy="720000"/>
          </a:xfrm>
          <a:prstGeom prst="flowChartProcess">
            <a:avLst/>
          </a:prstGeom>
          <a:solidFill>
            <a:srgbClr val="5071A1">
              <a:alpha val="50196"/>
            </a:srgb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離散傅立葉轉換</a:t>
            </a:r>
            <a:endParaRPr lang="en-US" altLang="zh-TW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(DFT)</a:t>
            </a:r>
          </a:p>
        </p:txBody>
      </p:sp>
      <p:sp>
        <p:nvSpPr>
          <p:cNvPr id="29" name="流程圖: 程序 28">
            <a:extLst>
              <a:ext uri="{FF2B5EF4-FFF2-40B4-BE49-F238E27FC236}">
                <a16:creationId xmlns:a16="http://schemas.microsoft.com/office/drawing/2014/main" id="{FF42DB86-2B09-31D2-18AE-5208CD7AA311}"/>
              </a:ext>
            </a:extLst>
          </p:cNvPr>
          <p:cNvSpPr/>
          <p:nvPr/>
        </p:nvSpPr>
        <p:spPr>
          <a:xfrm>
            <a:off x="4599438" y="2308259"/>
            <a:ext cx="2041617" cy="720000"/>
          </a:xfrm>
          <a:prstGeom prst="flowChartProcess">
            <a:avLst/>
          </a:prstGeom>
          <a:solidFill>
            <a:srgbClr val="2086AA">
              <a:alpha val="50196"/>
            </a:srgb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窗口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900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秒</a:t>
            </a:r>
            <a:endParaRPr lang="en-US" altLang="zh-TW" sz="2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流程圖: 程序 29">
            <a:extLst>
              <a:ext uri="{FF2B5EF4-FFF2-40B4-BE49-F238E27FC236}">
                <a16:creationId xmlns:a16="http://schemas.microsoft.com/office/drawing/2014/main" id="{2220159E-547C-AE3F-F486-174C493432F5}"/>
              </a:ext>
            </a:extLst>
          </p:cNvPr>
          <p:cNvSpPr/>
          <p:nvPr/>
        </p:nvSpPr>
        <p:spPr>
          <a:xfrm>
            <a:off x="7640267" y="2308259"/>
            <a:ext cx="2041617" cy="720000"/>
          </a:xfrm>
          <a:prstGeom prst="flowChartProcess">
            <a:avLst/>
          </a:prstGeom>
          <a:solidFill>
            <a:srgbClr val="2086AA">
              <a:alpha val="50196"/>
            </a:srgb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基線校正</a:t>
            </a:r>
            <a:endParaRPr lang="en-US" altLang="zh-TW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箭號: 向右 33">
            <a:extLst>
              <a:ext uri="{FF2B5EF4-FFF2-40B4-BE49-F238E27FC236}">
                <a16:creationId xmlns:a16="http://schemas.microsoft.com/office/drawing/2014/main" id="{511CD31B-F0B4-EB51-6963-BB89A58D2319}"/>
              </a:ext>
            </a:extLst>
          </p:cNvPr>
          <p:cNvSpPr/>
          <p:nvPr/>
        </p:nvSpPr>
        <p:spPr>
          <a:xfrm>
            <a:off x="3755987" y="4666584"/>
            <a:ext cx="687683" cy="179294"/>
          </a:xfrm>
          <a:prstGeom prst="rightArrow">
            <a:avLst>
              <a:gd name="adj1" fmla="val 33966"/>
              <a:gd name="adj2" fmla="val 69934"/>
            </a:avLst>
          </a:prstGeom>
          <a:solidFill>
            <a:srgbClr val="6066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箭號: 向右 34">
            <a:extLst>
              <a:ext uri="{FF2B5EF4-FFF2-40B4-BE49-F238E27FC236}">
                <a16:creationId xmlns:a16="http://schemas.microsoft.com/office/drawing/2014/main" id="{8FFCABAF-A2E3-A0AE-D9DB-3DACD24AFDA3}"/>
              </a:ext>
            </a:extLst>
          </p:cNvPr>
          <p:cNvSpPr/>
          <p:nvPr/>
        </p:nvSpPr>
        <p:spPr>
          <a:xfrm>
            <a:off x="6821292" y="4666584"/>
            <a:ext cx="687683" cy="179294"/>
          </a:xfrm>
          <a:prstGeom prst="rightArrow">
            <a:avLst>
              <a:gd name="adj1" fmla="val 33966"/>
              <a:gd name="adj2" fmla="val 69934"/>
            </a:avLst>
          </a:prstGeom>
          <a:solidFill>
            <a:srgbClr val="6066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箭號: 向右 35">
            <a:extLst>
              <a:ext uri="{FF2B5EF4-FFF2-40B4-BE49-F238E27FC236}">
                <a16:creationId xmlns:a16="http://schemas.microsoft.com/office/drawing/2014/main" id="{8229A8E3-87C4-EFB4-18A4-B5F9C671BA3A}"/>
              </a:ext>
            </a:extLst>
          </p:cNvPr>
          <p:cNvSpPr/>
          <p:nvPr/>
        </p:nvSpPr>
        <p:spPr>
          <a:xfrm>
            <a:off x="3755986" y="3624524"/>
            <a:ext cx="687683" cy="179294"/>
          </a:xfrm>
          <a:prstGeom prst="rightArrow">
            <a:avLst>
              <a:gd name="adj1" fmla="val 33966"/>
              <a:gd name="adj2" fmla="val 69934"/>
            </a:avLst>
          </a:prstGeom>
          <a:solidFill>
            <a:srgbClr val="5071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箭號: 向右 36">
            <a:extLst>
              <a:ext uri="{FF2B5EF4-FFF2-40B4-BE49-F238E27FC236}">
                <a16:creationId xmlns:a16="http://schemas.microsoft.com/office/drawing/2014/main" id="{FD6CD40F-8042-E8DA-5C57-E69F7A4C3ECE}"/>
              </a:ext>
            </a:extLst>
          </p:cNvPr>
          <p:cNvSpPr/>
          <p:nvPr/>
        </p:nvSpPr>
        <p:spPr>
          <a:xfrm>
            <a:off x="6823624" y="3624524"/>
            <a:ext cx="687683" cy="179294"/>
          </a:xfrm>
          <a:prstGeom prst="rightArrow">
            <a:avLst>
              <a:gd name="adj1" fmla="val 33966"/>
              <a:gd name="adj2" fmla="val 69934"/>
            </a:avLst>
          </a:prstGeom>
          <a:solidFill>
            <a:srgbClr val="5071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箭號: 向右 37">
            <a:extLst>
              <a:ext uri="{FF2B5EF4-FFF2-40B4-BE49-F238E27FC236}">
                <a16:creationId xmlns:a16="http://schemas.microsoft.com/office/drawing/2014/main" id="{5C40FE48-76B4-EF4F-C427-C362B6FE3960}"/>
              </a:ext>
            </a:extLst>
          </p:cNvPr>
          <p:cNvSpPr/>
          <p:nvPr/>
        </p:nvSpPr>
        <p:spPr>
          <a:xfrm>
            <a:off x="3755986" y="2582464"/>
            <a:ext cx="687683" cy="179294"/>
          </a:xfrm>
          <a:prstGeom prst="rightArrow">
            <a:avLst>
              <a:gd name="adj1" fmla="val 33966"/>
              <a:gd name="adj2" fmla="val 69934"/>
            </a:avLst>
          </a:prstGeom>
          <a:solidFill>
            <a:srgbClr val="2086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箭號: 向右 38">
            <a:extLst>
              <a:ext uri="{FF2B5EF4-FFF2-40B4-BE49-F238E27FC236}">
                <a16:creationId xmlns:a16="http://schemas.microsoft.com/office/drawing/2014/main" id="{88F269C6-E78C-D9BC-9F45-BE9445667EBD}"/>
              </a:ext>
            </a:extLst>
          </p:cNvPr>
          <p:cNvSpPr/>
          <p:nvPr/>
        </p:nvSpPr>
        <p:spPr>
          <a:xfrm>
            <a:off x="6821291" y="2578612"/>
            <a:ext cx="687683" cy="179294"/>
          </a:xfrm>
          <a:prstGeom prst="rightArrow">
            <a:avLst>
              <a:gd name="adj1" fmla="val 33966"/>
              <a:gd name="adj2" fmla="val 69934"/>
            </a:avLst>
          </a:prstGeom>
          <a:solidFill>
            <a:srgbClr val="2086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AF61CCA5-F62E-0AC9-A2CF-15A1D0C7AACB}"/>
              </a:ext>
            </a:extLst>
          </p:cNvPr>
          <p:cNvSpPr/>
          <p:nvPr/>
        </p:nvSpPr>
        <p:spPr>
          <a:xfrm>
            <a:off x="3916054" y="5614513"/>
            <a:ext cx="367553" cy="367553"/>
          </a:xfrm>
          <a:prstGeom prst="ellipse">
            <a:avLst/>
          </a:prstGeom>
          <a:noFill/>
          <a:ln w="28575">
            <a:solidFill>
              <a:srgbClr val="9145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rgbClr val="91457E"/>
                </a:solidFill>
              </a:rPr>
              <a:t>1</a:t>
            </a:r>
            <a:endParaRPr lang="zh-TW" altLang="en-US" sz="2400" dirty="0">
              <a:solidFill>
                <a:srgbClr val="91457E"/>
              </a:solidFill>
            </a:endParaRPr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42FB0367-D78D-C379-DEF3-20F87CDCD0C2}"/>
              </a:ext>
            </a:extLst>
          </p:cNvPr>
          <p:cNvSpPr/>
          <p:nvPr/>
        </p:nvSpPr>
        <p:spPr>
          <a:xfrm>
            <a:off x="6981355" y="5614513"/>
            <a:ext cx="367553" cy="367553"/>
          </a:xfrm>
          <a:prstGeom prst="ellipse">
            <a:avLst/>
          </a:prstGeom>
          <a:noFill/>
          <a:ln w="28575">
            <a:solidFill>
              <a:srgbClr val="9145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rgbClr val="91457E"/>
                </a:solidFill>
              </a:rPr>
              <a:t>2</a:t>
            </a:r>
            <a:endParaRPr lang="zh-TW" altLang="en-US" sz="2400" dirty="0">
              <a:solidFill>
                <a:srgbClr val="9145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708199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1869d692e4_1_52"/>
          <p:cNvSpPr txBox="1">
            <a:spLocks noGrp="1"/>
          </p:cNvSpPr>
          <p:nvPr>
            <p:ph type="sldNum" idx="12"/>
          </p:nvPr>
        </p:nvSpPr>
        <p:spPr>
          <a:xfrm>
            <a:off x="8610600" y="64325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>
                <a:latin typeface="+mj-lt"/>
              </a:rPr>
              <a:t>4</a:t>
            </a:fld>
            <a:endParaRPr dirty="0">
              <a:latin typeface="+mj-lt"/>
            </a:endParaRPr>
          </a:p>
        </p:txBody>
      </p:sp>
      <p:sp>
        <p:nvSpPr>
          <p:cNvPr id="141" name="Google Shape;141;g11869d692e4_1_52"/>
          <p:cNvSpPr txBox="1">
            <a:spLocks noGrp="1"/>
          </p:cNvSpPr>
          <p:nvPr>
            <p:ph type="title" idx="3"/>
          </p:nvPr>
        </p:nvSpPr>
        <p:spPr>
          <a:xfrm>
            <a:off x="1477027" y="287112"/>
            <a:ext cx="10515600" cy="569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lnSpc>
                <a:spcPct val="10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Preliminary Results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3" name="圖片 42">
            <a:extLst>
              <a:ext uri="{FF2B5EF4-FFF2-40B4-BE49-F238E27FC236}">
                <a16:creationId xmlns:a16="http://schemas.microsoft.com/office/drawing/2014/main" id="{4F424C35-41B2-EB2A-4EC0-DD167E6CCF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652" t="11712" r="9771" b="5704"/>
          <a:stretch/>
        </p:blipFill>
        <p:spPr>
          <a:xfrm>
            <a:off x="6529271" y="2285326"/>
            <a:ext cx="4824529" cy="3256051"/>
          </a:xfrm>
          <a:prstGeom prst="rect">
            <a:avLst/>
          </a:prstGeom>
        </p:spPr>
      </p:pic>
      <p:sp>
        <p:nvSpPr>
          <p:cNvPr id="45" name="矩形 44">
            <a:extLst>
              <a:ext uri="{FF2B5EF4-FFF2-40B4-BE49-F238E27FC236}">
                <a16:creationId xmlns:a16="http://schemas.microsoft.com/office/drawing/2014/main" id="{D5455BFD-1C2E-8CD6-8D69-86E7A6BBD759}"/>
              </a:ext>
            </a:extLst>
          </p:cNvPr>
          <p:cNvSpPr/>
          <p:nvPr/>
        </p:nvSpPr>
        <p:spPr>
          <a:xfrm>
            <a:off x="7710402" y="4083161"/>
            <a:ext cx="352947" cy="1269202"/>
          </a:xfrm>
          <a:prstGeom prst="rect">
            <a:avLst/>
          </a:prstGeom>
          <a:noFill/>
          <a:ln w="57150">
            <a:solidFill>
              <a:srgbClr val="CC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7" name="群組 46">
            <a:extLst>
              <a:ext uri="{FF2B5EF4-FFF2-40B4-BE49-F238E27FC236}">
                <a16:creationId xmlns:a16="http://schemas.microsoft.com/office/drawing/2014/main" id="{85BDC8AE-9A92-4571-6469-9A185B798E76}"/>
              </a:ext>
            </a:extLst>
          </p:cNvPr>
          <p:cNvGrpSpPr/>
          <p:nvPr/>
        </p:nvGrpSpPr>
        <p:grpSpPr>
          <a:xfrm>
            <a:off x="838200" y="1871746"/>
            <a:ext cx="4824529" cy="3669631"/>
            <a:chOff x="531400" y="2028622"/>
            <a:chExt cx="4824529" cy="3669631"/>
          </a:xfrm>
        </p:grpSpPr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57BE4332-37E7-40E5-22A3-77E76447D0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40" t="11510" r="9858" b="5281"/>
            <a:stretch/>
          </p:blipFill>
          <p:spPr>
            <a:xfrm>
              <a:off x="531400" y="2430624"/>
              <a:ext cx="4824529" cy="3267629"/>
            </a:xfrm>
            <a:prstGeom prst="rect">
              <a:avLst/>
            </a:prstGeom>
          </p:spPr>
        </p:pic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54E4139B-A010-9C0A-5FF6-6D522FE235CF}"/>
                </a:ext>
              </a:extLst>
            </p:cNvPr>
            <p:cNvSpPr txBox="1"/>
            <p:nvPr/>
          </p:nvSpPr>
          <p:spPr>
            <a:xfrm>
              <a:off x="2880615" y="2028622"/>
              <a:ext cx="1208985" cy="338554"/>
            </a:xfrm>
            <a:prstGeom prst="rect">
              <a:avLst/>
            </a:prstGeom>
            <a:solidFill>
              <a:srgbClr val="CC0000"/>
            </a:solidFill>
            <a:ln w="381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sz="1600" b="1" dirty="0">
                  <a:solidFill>
                    <a:schemeClr val="bg1"/>
                  </a:solidFill>
                </a:rPr>
                <a:t>03/11 00:00</a:t>
              </a:r>
              <a:endParaRPr lang="zh-TW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4D6AE5A9-26AA-2D42-0E67-A48EF004ACCB}"/>
                </a:ext>
              </a:extLst>
            </p:cNvPr>
            <p:cNvSpPr/>
            <p:nvPr/>
          </p:nvSpPr>
          <p:spPr>
            <a:xfrm>
              <a:off x="3184791" y="2440777"/>
              <a:ext cx="600635" cy="3100600"/>
            </a:xfrm>
            <a:prstGeom prst="rect">
              <a:avLst/>
            </a:prstGeom>
            <a:noFill/>
            <a:ln w="57150">
              <a:solidFill>
                <a:srgbClr val="CC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49" name="圖片 48">
            <a:extLst>
              <a:ext uri="{FF2B5EF4-FFF2-40B4-BE49-F238E27FC236}">
                <a16:creationId xmlns:a16="http://schemas.microsoft.com/office/drawing/2014/main" id="{A1196A98-648A-5FFD-9871-D01AA9F0EB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65" t="11997" r="61261" b="77996"/>
          <a:stretch/>
        </p:blipFill>
        <p:spPr>
          <a:xfrm>
            <a:off x="7883259" y="2146851"/>
            <a:ext cx="690833" cy="690833"/>
          </a:xfrm>
          <a:prstGeom prst="ellipse">
            <a:avLst/>
          </a:prstGeom>
          <a:ln w="25400">
            <a:solidFill>
              <a:schemeClr val="tx1"/>
            </a:solidFill>
          </a:ln>
          <a:effectLst>
            <a:outerShdw blurRad="63500" dist="63500" dir="2700000" algn="tl" rotWithShape="0">
              <a:prstClr val="black">
                <a:alpha val="50000"/>
              </a:prstClr>
            </a:outerShdw>
          </a:effectLst>
        </p:spPr>
      </p:pic>
      <p:pic>
        <p:nvPicPr>
          <p:cNvPr id="51" name="圖片 50">
            <a:extLst>
              <a:ext uri="{FF2B5EF4-FFF2-40B4-BE49-F238E27FC236}">
                <a16:creationId xmlns:a16="http://schemas.microsoft.com/office/drawing/2014/main" id="{EAB24DFC-A218-984C-D6ED-F40C575D054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79" t="12950" r="63101" b="78919"/>
          <a:stretch/>
        </p:blipFill>
        <p:spPr>
          <a:xfrm>
            <a:off x="2256753" y="2146851"/>
            <a:ext cx="690833" cy="690833"/>
          </a:xfrm>
          <a:prstGeom prst="ellipse">
            <a:avLst/>
          </a:prstGeom>
          <a:ln w="25400">
            <a:solidFill>
              <a:schemeClr val="tx1"/>
            </a:solidFill>
          </a:ln>
          <a:effectLst>
            <a:outerShdw blurRad="63500" dist="63500" dir="2700000" algn="tl" rotWithShape="0">
              <a:prstClr val="black">
                <a:alpha val="50000"/>
              </a:prstClr>
            </a:outerShdw>
          </a:effectLst>
        </p:spPr>
      </p:pic>
      <p:sp>
        <p:nvSpPr>
          <p:cNvPr id="52" name="文字方塊 51">
            <a:extLst>
              <a:ext uri="{FF2B5EF4-FFF2-40B4-BE49-F238E27FC236}">
                <a16:creationId xmlns:a16="http://schemas.microsoft.com/office/drawing/2014/main" id="{99137290-5923-F962-D086-D7C29A39F163}"/>
              </a:ext>
            </a:extLst>
          </p:cNvPr>
          <p:cNvSpPr txBox="1"/>
          <p:nvPr/>
        </p:nvSpPr>
        <p:spPr>
          <a:xfrm>
            <a:off x="2545412" y="5604825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>
                <a:solidFill>
                  <a:srgbClr val="CC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分類特別事件與背景</a:t>
            </a: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20979425-A644-F708-BFE3-2731CA16AA92}"/>
              </a:ext>
            </a:extLst>
          </p:cNvPr>
          <p:cNvSpPr txBox="1"/>
          <p:nvPr/>
        </p:nvSpPr>
        <p:spPr>
          <a:xfrm>
            <a:off x="7277965" y="5608153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>
                <a:solidFill>
                  <a:srgbClr val="CC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重複事件</a:t>
            </a:r>
          </a:p>
        </p:txBody>
      </p:sp>
    </p:spTree>
    <p:extLst>
      <p:ext uri="{BB962C8B-B14F-4D97-AF65-F5344CB8AC3E}">
        <p14:creationId xmlns:p14="http://schemas.microsoft.com/office/powerpoint/2010/main" val="179441540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1869d692e4_1_52"/>
          <p:cNvSpPr txBox="1">
            <a:spLocks noGrp="1"/>
          </p:cNvSpPr>
          <p:nvPr>
            <p:ph type="sldNum" idx="12"/>
          </p:nvPr>
        </p:nvSpPr>
        <p:spPr>
          <a:xfrm>
            <a:off x="8610600" y="64325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>
                <a:latin typeface="+mj-lt"/>
              </a:rPr>
              <a:t>5</a:t>
            </a:fld>
            <a:endParaRPr dirty="0">
              <a:latin typeface="+mj-lt"/>
            </a:endParaRPr>
          </a:p>
        </p:txBody>
      </p:sp>
      <p:sp>
        <p:nvSpPr>
          <p:cNvPr id="141" name="Google Shape;141;g11869d692e4_1_52"/>
          <p:cNvSpPr txBox="1">
            <a:spLocks noGrp="1"/>
          </p:cNvSpPr>
          <p:nvPr>
            <p:ph type="title" idx="3"/>
          </p:nvPr>
        </p:nvSpPr>
        <p:spPr>
          <a:xfrm>
            <a:off x="1477027" y="287112"/>
            <a:ext cx="10515600" cy="569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lnSpc>
                <a:spcPct val="100000"/>
              </a:lnSpc>
            </a:pP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B4B384E-27CE-FF9D-4B96-1E8C722A35B6}"/>
              </a:ext>
            </a:extLst>
          </p:cNvPr>
          <p:cNvSpPr txBox="1"/>
          <p:nvPr/>
        </p:nvSpPr>
        <p:spPr>
          <a:xfrm>
            <a:off x="2541180" y="1537770"/>
            <a:ext cx="710963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感謝聆聽，請多指教</a:t>
            </a:r>
          </a:p>
        </p:txBody>
      </p:sp>
      <p:grpSp>
        <p:nvGrpSpPr>
          <p:cNvPr id="18" name="Google Shape;13586;p71">
            <a:extLst>
              <a:ext uri="{FF2B5EF4-FFF2-40B4-BE49-F238E27FC236}">
                <a16:creationId xmlns:a16="http://schemas.microsoft.com/office/drawing/2014/main" id="{DF7E544E-49E7-06DF-85C7-15F46ED00DA3}"/>
              </a:ext>
            </a:extLst>
          </p:cNvPr>
          <p:cNvGrpSpPr/>
          <p:nvPr/>
        </p:nvGrpSpPr>
        <p:grpSpPr>
          <a:xfrm>
            <a:off x="3747303" y="2883950"/>
            <a:ext cx="4697393" cy="2847916"/>
            <a:chOff x="3961923" y="2486317"/>
            <a:chExt cx="364415" cy="220936"/>
          </a:xfrm>
          <a:gradFill flip="none" rotWithShape="1">
            <a:gsLst>
              <a:gs pos="0">
                <a:srgbClr val="298480"/>
              </a:gs>
              <a:gs pos="68000">
                <a:srgbClr val="696294"/>
              </a:gs>
              <a:gs pos="52000">
                <a:srgbClr val="347DAC"/>
              </a:gs>
              <a:gs pos="34000">
                <a:srgbClr val="2086AE"/>
              </a:gs>
              <a:gs pos="17000">
                <a:srgbClr val="2386A0"/>
              </a:gs>
              <a:gs pos="86000">
                <a:srgbClr val="805589"/>
              </a:gs>
              <a:gs pos="100000">
                <a:srgbClr val="9E3C73"/>
              </a:gs>
            </a:gsLst>
            <a:lin ang="0" scaled="1"/>
            <a:tileRect/>
          </a:gradFill>
        </p:grpSpPr>
        <p:sp>
          <p:nvSpPr>
            <p:cNvPr id="21" name="Google Shape;13587;p71">
              <a:extLst>
                <a:ext uri="{FF2B5EF4-FFF2-40B4-BE49-F238E27FC236}">
                  <a16:creationId xmlns:a16="http://schemas.microsoft.com/office/drawing/2014/main" id="{703A0031-F0B1-084B-8B6B-624B0F7E6BB8}"/>
                </a:ext>
              </a:extLst>
            </p:cNvPr>
            <p:cNvSpPr/>
            <p:nvPr/>
          </p:nvSpPr>
          <p:spPr>
            <a:xfrm>
              <a:off x="4106764" y="2486507"/>
              <a:ext cx="219574" cy="220746"/>
            </a:xfrm>
            <a:custGeom>
              <a:avLst/>
              <a:gdLst/>
              <a:ahLst/>
              <a:cxnLst/>
              <a:rect l="l" t="t" r="r" b="b"/>
              <a:pathLst>
                <a:path w="6931" h="6968" extrusionOk="0">
                  <a:moveTo>
                    <a:pt x="4114" y="1"/>
                  </a:moveTo>
                  <a:cubicBezTo>
                    <a:pt x="4035" y="1"/>
                    <a:pt x="3953" y="69"/>
                    <a:pt x="3942" y="157"/>
                  </a:cubicBezTo>
                  <a:cubicBezTo>
                    <a:pt x="3930" y="240"/>
                    <a:pt x="4001" y="336"/>
                    <a:pt x="4085" y="348"/>
                  </a:cubicBezTo>
                  <a:cubicBezTo>
                    <a:pt x="4906" y="455"/>
                    <a:pt x="5633" y="895"/>
                    <a:pt x="6085" y="1574"/>
                  </a:cubicBezTo>
                  <a:cubicBezTo>
                    <a:pt x="6764" y="2610"/>
                    <a:pt x="6728" y="3943"/>
                    <a:pt x="5954" y="4908"/>
                  </a:cubicBezTo>
                  <a:cubicBezTo>
                    <a:pt x="5918" y="4943"/>
                    <a:pt x="5906" y="4991"/>
                    <a:pt x="5918" y="5027"/>
                  </a:cubicBezTo>
                  <a:lnTo>
                    <a:pt x="5990" y="6539"/>
                  </a:lnTo>
                  <a:lnTo>
                    <a:pt x="5990" y="6539"/>
                  </a:lnTo>
                  <a:lnTo>
                    <a:pt x="4644" y="5896"/>
                  </a:lnTo>
                  <a:cubicBezTo>
                    <a:pt x="4609" y="5884"/>
                    <a:pt x="4561" y="5884"/>
                    <a:pt x="4525" y="5884"/>
                  </a:cubicBezTo>
                  <a:cubicBezTo>
                    <a:pt x="4272" y="5957"/>
                    <a:pt x="4014" y="5992"/>
                    <a:pt x="3758" y="5992"/>
                  </a:cubicBezTo>
                  <a:cubicBezTo>
                    <a:pt x="2969" y="5992"/>
                    <a:pt x="2201" y="5659"/>
                    <a:pt x="1644" y="5074"/>
                  </a:cubicBezTo>
                  <a:cubicBezTo>
                    <a:pt x="1584" y="5015"/>
                    <a:pt x="1549" y="4955"/>
                    <a:pt x="1501" y="4896"/>
                  </a:cubicBezTo>
                  <a:cubicBezTo>
                    <a:pt x="1453" y="4836"/>
                    <a:pt x="1430" y="4789"/>
                    <a:pt x="1382" y="4729"/>
                  </a:cubicBezTo>
                  <a:lnTo>
                    <a:pt x="1382" y="4717"/>
                  </a:lnTo>
                  <a:cubicBezTo>
                    <a:pt x="1620" y="4300"/>
                    <a:pt x="1751" y="3836"/>
                    <a:pt x="1787" y="3384"/>
                  </a:cubicBezTo>
                  <a:cubicBezTo>
                    <a:pt x="1787" y="3288"/>
                    <a:pt x="1727" y="3205"/>
                    <a:pt x="1632" y="3205"/>
                  </a:cubicBezTo>
                  <a:cubicBezTo>
                    <a:pt x="1549" y="3205"/>
                    <a:pt x="1453" y="3265"/>
                    <a:pt x="1453" y="3348"/>
                  </a:cubicBezTo>
                  <a:cubicBezTo>
                    <a:pt x="1430" y="3836"/>
                    <a:pt x="1263" y="4312"/>
                    <a:pt x="977" y="4729"/>
                  </a:cubicBezTo>
                  <a:cubicBezTo>
                    <a:pt x="739" y="5074"/>
                    <a:pt x="441" y="5360"/>
                    <a:pt x="96" y="5586"/>
                  </a:cubicBezTo>
                  <a:cubicBezTo>
                    <a:pt x="25" y="5622"/>
                    <a:pt x="1" y="5729"/>
                    <a:pt x="37" y="5801"/>
                  </a:cubicBezTo>
                  <a:cubicBezTo>
                    <a:pt x="72" y="5848"/>
                    <a:pt x="132" y="5884"/>
                    <a:pt x="191" y="5884"/>
                  </a:cubicBezTo>
                  <a:cubicBezTo>
                    <a:pt x="215" y="5884"/>
                    <a:pt x="251" y="5860"/>
                    <a:pt x="275" y="5848"/>
                  </a:cubicBezTo>
                  <a:cubicBezTo>
                    <a:pt x="632" y="5622"/>
                    <a:pt x="953" y="5348"/>
                    <a:pt x="1192" y="5015"/>
                  </a:cubicBezTo>
                  <a:cubicBezTo>
                    <a:pt x="1203" y="5051"/>
                    <a:pt x="1215" y="5062"/>
                    <a:pt x="1251" y="5086"/>
                  </a:cubicBezTo>
                  <a:cubicBezTo>
                    <a:pt x="1311" y="5170"/>
                    <a:pt x="1370" y="5229"/>
                    <a:pt x="1406" y="5301"/>
                  </a:cubicBezTo>
                  <a:cubicBezTo>
                    <a:pt x="1811" y="5729"/>
                    <a:pt x="2323" y="6039"/>
                    <a:pt x="2894" y="6205"/>
                  </a:cubicBezTo>
                  <a:cubicBezTo>
                    <a:pt x="3179" y="6284"/>
                    <a:pt x="3465" y="6323"/>
                    <a:pt x="3749" y="6323"/>
                  </a:cubicBezTo>
                  <a:cubicBezTo>
                    <a:pt x="4021" y="6323"/>
                    <a:pt x="4293" y="6287"/>
                    <a:pt x="4561" y="6217"/>
                  </a:cubicBezTo>
                  <a:lnTo>
                    <a:pt x="6109" y="6956"/>
                  </a:lnTo>
                  <a:cubicBezTo>
                    <a:pt x="6145" y="6967"/>
                    <a:pt x="6156" y="6967"/>
                    <a:pt x="6192" y="6967"/>
                  </a:cubicBezTo>
                  <a:cubicBezTo>
                    <a:pt x="6216" y="6967"/>
                    <a:pt x="6252" y="6956"/>
                    <a:pt x="6275" y="6932"/>
                  </a:cubicBezTo>
                  <a:cubicBezTo>
                    <a:pt x="6323" y="6908"/>
                    <a:pt x="6347" y="6848"/>
                    <a:pt x="6347" y="6789"/>
                  </a:cubicBezTo>
                  <a:lnTo>
                    <a:pt x="6275" y="5074"/>
                  </a:lnTo>
                  <a:cubicBezTo>
                    <a:pt x="6668" y="4574"/>
                    <a:pt x="6883" y="3955"/>
                    <a:pt x="6918" y="3300"/>
                  </a:cubicBezTo>
                  <a:cubicBezTo>
                    <a:pt x="6930" y="2622"/>
                    <a:pt x="6752" y="1967"/>
                    <a:pt x="6371" y="1383"/>
                  </a:cubicBezTo>
                  <a:cubicBezTo>
                    <a:pt x="5859" y="633"/>
                    <a:pt x="5037" y="121"/>
                    <a:pt x="4132" y="2"/>
                  </a:cubicBezTo>
                  <a:cubicBezTo>
                    <a:pt x="4126" y="1"/>
                    <a:pt x="4120" y="1"/>
                    <a:pt x="41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3588;p71">
              <a:extLst>
                <a:ext uri="{FF2B5EF4-FFF2-40B4-BE49-F238E27FC236}">
                  <a16:creationId xmlns:a16="http://schemas.microsoft.com/office/drawing/2014/main" id="{940EDB1A-708A-99F4-0ED6-70A051FFB1B5}"/>
                </a:ext>
              </a:extLst>
            </p:cNvPr>
            <p:cNvSpPr/>
            <p:nvPr/>
          </p:nvSpPr>
          <p:spPr>
            <a:xfrm>
              <a:off x="3961923" y="2486317"/>
              <a:ext cx="259839" cy="220936"/>
            </a:xfrm>
            <a:custGeom>
              <a:avLst/>
              <a:gdLst/>
              <a:ahLst/>
              <a:cxnLst/>
              <a:rect l="l" t="t" r="r" b="b"/>
              <a:pathLst>
                <a:path w="8202" h="6974" extrusionOk="0">
                  <a:moveTo>
                    <a:pt x="3198" y="1"/>
                  </a:moveTo>
                  <a:cubicBezTo>
                    <a:pt x="2177" y="1"/>
                    <a:pt x="1174" y="493"/>
                    <a:pt x="560" y="1413"/>
                  </a:cubicBezTo>
                  <a:cubicBezTo>
                    <a:pt x="179" y="1973"/>
                    <a:pt x="1" y="2640"/>
                    <a:pt x="25" y="3318"/>
                  </a:cubicBezTo>
                  <a:cubicBezTo>
                    <a:pt x="60" y="3949"/>
                    <a:pt x="287" y="4556"/>
                    <a:pt x="668" y="5080"/>
                  </a:cubicBezTo>
                  <a:lnTo>
                    <a:pt x="596" y="6795"/>
                  </a:lnTo>
                  <a:cubicBezTo>
                    <a:pt x="596" y="6854"/>
                    <a:pt x="620" y="6914"/>
                    <a:pt x="668" y="6938"/>
                  </a:cubicBezTo>
                  <a:cubicBezTo>
                    <a:pt x="703" y="6962"/>
                    <a:pt x="727" y="6973"/>
                    <a:pt x="763" y="6973"/>
                  </a:cubicBezTo>
                  <a:cubicBezTo>
                    <a:pt x="787" y="6973"/>
                    <a:pt x="799" y="6973"/>
                    <a:pt x="834" y="6962"/>
                  </a:cubicBezTo>
                  <a:lnTo>
                    <a:pt x="2382" y="6235"/>
                  </a:lnTo>
                  <a:cubicBezTo>
                    <a:pt x="2647" y="6300"/>
                    <a:pt x="2916" y="6333"/>
                    <a:pt x="3186" y="6333"/>
                  </a:cubicBezTo>
                  <a:cubicBezTo>
                    <a:pt x="3512" y="6333"/>
                    <a:pt x="3837" y="6285"/>
                    <a:pt x="4156" y="6188"/>
                  </a:cubicBezTo>
                  <a:cubicBezTo>
                    <a:pt x="4240" y="6152"/>
                    <a:pt x="4287" y="6069"/>
                    <a:pt x="4251" y="5973"/>
                  </a:cubicBezTo>
                  <a:cubicBezTo>
                    <a:pt x="4233" y="5909"/>
                    <a:pt x="4172" y="5866"/>
                    <a:pt x="4107" y="5866"/>
                  </a:cubicBezTo>
                  <a:cubicBezTo>
                    <a:pt x="4088" y="5866"/>
                    <a:pt x="4068" y="5870"/>
                    <a:pt x="4049" y="5878"/>
                  </a:cubicBezTo>
                  <a:cubicBezTo>
                    <a:pt x="3772" y="5971"/>
                    <a:pt x="3484" y="6015"/>
                    <a:pt x="3198" y="6015"/>
                  </a:cubicBezTo>
                  <a:cubicBezTo>
                    <a:pt x="2931" y="6015"/>
                    <a:pt x="2664" y="5976"/>
                    <a:pt x="2406" y="5902"/>
                  </a:cubicBezTo>
                  <a:cubicBezTo>
                    <a:pt x="2391" y="5897"/>
                    <a:pt x="2376" y="5894"/>
                    <a:pt x="2361" y="5894"/>
                  </a:cubicBezTo>
                  <a:cubicBezTo>
                    <a:pt x="2339" y="5894"/>
                    <a:pt x="2315" y="5900"/>
                    <a:pt x="2287" y="5914"/>
                  </a:cubicBezTo>
                  <a:lnTo>
                    <a:pt x="941" y="6533"/>
                  </a:lnTo>
                  <a:lnTo>
                    <a:pt x="941" y="6533"/>
                  </a:lnTo>
                  <a:lnTo>
                    <a:pt x="1013" y="5021"/>
                  </a:lnTo>
                  <a:cubicBezTo>
                    <a:pt x="1013" y="4985"/>
                    <a:pt x="1001" y="4949"/>
                    <a:pt x="977" y="4902"/>
                  </a:cubicBezTo>
                  <a:cubicBezTo>
                    <a:pt x="203" y="3937"/>
                    <a:pt x="168" y="2604"/>
                    <a:pt x="846" y="1568"/>
                  </a:cubicBezTo>
                  <a:cubicBezTo>
                    <a:pt x="1393" y="759"/>
                    <a:pt x="2293" y="318"/>
                    <a:pt x="3208" y="318"/>
                  </a:cubicBezTo>
                  <a:cubicBezTo>
                    <a:pt x="3748" y="318"/>
                    <a:pt x="4294" y="472"/>
                    <a:pt x="4775" y="794"/>
                  </a:cubicBezTo>
                  <a:cubicBezTo>
                    <a:pt x="5430" y="1247"/>
                    <a:pt x="5883" y="1949"/>
                    <a:pt x="6002" y="2735"/>
                  </a:cubicBezTo>
                  <a:cubicBezTo>
                    <a:pt x="6013" y="2811"/>
                    <a:pt x="6083" y="2867"/>
                    <a:pt x="6168" y="2867"/>
                  </a:cubicBezTo>
                  <a:cubicBezTo>
                    <a:pt x="6176" y="2867"/>
                    <a:pt x="6184" y="2867"/>
                    <a:pt x="6192" y="2866"/>
                  </a:cubicBezTo>
                  <a:cubicBezTo>
                    <a:pt x="6275" y="2854"/>
                    <a:pt x="6335" y="2759"/>
                    <a:pt x="6323" y="2675"/>
                  </a:cubicBezTo>
                  <a:cubicBezTo>
                    <a:pt x="6264" y="2282"/>
                    <a:pt x="6133" y="1913"/>
                    <a:pt x="5954" y="1592"/>
                  </a:cubicBezTo>
                  <a:cubicBezTo>
                    <a:pt x="5990" y="1532"/>
                    <a:pt x="6025" y="1473"/>
                    <a:pt x="6073" y="1413"/>
                  </a:cubicBezTo>
                  <a:cubicBezTo>
                    <a:pt x="6133" y="1330"/>
                    <a:pt x="6192" y="1270"/>
                    <a:pt x="6252" y="1199"/>
                  </a:cubicBezTo>
                  <a:cubicBezTo>
                    <a:pt x="6395" y="1056"/>
                    <a:pt x="6561" y="901"/>
                    <a:pt x="6740" y="782"/>
                  </a:cubicBezTo>
                  <a:cubicBezTo>
                    <a:pt x="7121" y="520"/>
                    <a:pt x="7585" y="365"/>
                    <a:pt x="8050" y="318"/>
                  </a:cubicBezTo>
                  <a:cubicBezTo>
                    <a:pt x="8057" y="320"/>
                    <a:pt x="8065" y="322"/>
                    <a:pt x="8073" y="322"/>
                  </a:cubicBezTo>
                  <a:cubicBezTo>
                    <a:pt x="8137" y="322"/>
                    <a:pt x="8202" y="238"/>
                    <a:pt x="8180" y="163"/>
                  </a:cubicBezTo>
                  <a:cubicBezTo>
                    <a:pt x="8169" y="75"/>
                    <a:pt x="8107" y="7"/>
                    <a:pt x="8022" y="7"/>
                  </a:cubicBezTo>
                  <a:cubicBezTo>
                    <a:pt x="8016" y="7"/>
                    <a:pt x="8009" y="7"/>
                    <a:pt x="8002" y="8"/>
                  </a:cubicBezTo>
                  <a:cubicBezTo>
                    <a:pt x="7490" y="56"/>
                    <a:pt x="6978" y="234"/>
                    <a:pt x="6549" y="532"/>
                  </a:cubicBezTo>
                  <a:cubicBezTo>
                    <a:pt x="6359" y="663"/>
                    <a:pt x="6156" y="818"/>
                    <a:pt x="6002" y="996"/>
                  </a:cubicBezTo>
                  <a:cubicBezTo>
                    <a:pt x="5918" y="1068"/>
                    <a:pt x="5859" y="1139"/>
                    <a:pt x="5799" y="1211"/>
                  </a:cubicBezTo>
                  <a:cubicBezTo>
                    <a:pt x="5787" y="1247"/>
                    <a:pt x="5764" y="1258"/>
                    <a:pt x="5740" y="1294"/>
                  </a:cubicBezTo>
                  <a:cubicBezTo>
                    <a:pt x="5525" y="996"/>
                    <a:pt x="5252" y="735"/>
                    <a:pt x="4954" y="532"/>
                  </a:cubicBezTo>
                  <a:cubicBezTo>
                    <a:pt x="4414" y="174"/>
                    <a:pt x="3803" y="1"/>
                    <a:pt x="31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589;p71">
              <a:extLst>
                <a:ext uri="{FF2B5EF4-FFF2-40B4-BE49-F238E27FC236}">
                  <a16:creationId xmlns:a16="http://schemas.microsoft.com/office/drawing/2014/main" id="{5DADF8AA-1AA8-18ED-F0ED-FEFDE95BA69C}"/>
                </a:ext>
              </a:extLst>
            </p:cNvPr>
            <p:cNvSpPr/>
            <p:nvPr/>
          </p:nvSpPr>
          <p:spPr>
            <a:xfrm>
              <a:off x="4015113" y="2540870"/>
              <a:ext cx="96212" cy="95832"/>
            </a:xfrm>
            <a:custGeom>
              <a:avLst/>
              <a:gdLst/>
              <a:ahLst/>
              <a:cxnLst/>
              <a:rect l="l" t="t" r="r" b="b"/>
              <a:pathLst>
                <a:path w="3037" h="3025" extrusionOk="0">
                  <a:moveTo>
                    <a:pt x="1418" y="346"/>
                  </a:moveTo>
                  <a:cubicBezTo>
                    <a:pt x="2013" y="346"/>
                    <a:pt x="2501" y="834"/>
                    <a:pt x="2501" y="1430"/>
                  </a:cubicBezTo>
                  <a:cubicBezTo>
                    <a:pt x="2501" y="1668"/>
                    <a:pt x="2430" y="1894"/>
                    <a:pt x="2299" y="2072"/>
                  </a:cubicBezTo>
                  <a:lnTo>
                    <a:pt x="1537" y="1310"/>
                  </a:lnTo>
                  <a:cubicBezTo>
                    <a:pt x="1507" y="1281"/>
                    <a:pt x="1462" y="1266"/>
                    <a:pt x="1418" y="1266"/>
                  </a:cubicBezTo>
                  <a:cubicBezTo>
                    <a:pt x="1373" y="1266"/>
                    <a:pt x="1328" y="1281"/>
                    <a:pt x="1298" y="1310"/>
                  </a:cubicBezTo>
                  <a:cubicBezTo>
                    <a:pt x="1239" y="1370"/>
                    <a:pt x="1239" y="1489"/>
                    <a:pt x="1298" y="1549"/>
                  </a:cubicBezTo>
                  <a:lnTo>
                    <a:pt x="2060" y="2311"/>
                  </a:lnTo>
                  <a:cubicBezTo>
                    <a:pt x="1870" y="2442"/>
                    <a:pt x="1656" y="2513"/>
                    <a:pt x="1418" y="2513"/>
                  </a:cubicBezTo>
                  <a:cubicBezTo>
                    <a:pt x="822" y="2513"/>
                    <a:pt x="334" y="2025"/>
                    <a:pt x="334" y="1430"/>
                  </a:cubicBezTo>
                  <a:cubicBezTo>
                    <a:pt x="334" y="834"/>
                    <a:pt x="822" y="346"/>
                    <a:pt x="1418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30"/>
                  </a:cubicBezTo>
                  <a:cubicBezTo>
                    <a:pt x="1" y="2215"/>
                    <a:pt x="644" y="2858"/>
                    <a:pt x="1429" y="2858"/>
                  </a:cubicBezTo>
                  <a:cubicBezTo>
                    <a:pt x="1763" y="2858"/>
                    <a:pt x="2072" y="2739"/>
                    <a:pt x="2310" y="2549"/>
                  </a:cubicBezTo>
                  <a:lnTo>
                    <a:pt x="2739" y="2977"/>
                  </a:lnTo>
                  <a:cubicBezTo>
                    <a:pt x="2775" y="3001"/>
                    <a:pt x="2811" y="3025"/>
                    <a:pt x="2858" y="3025"/>
                  </a:cubicBezTo>
                  <a:cubicBezTo>
                    <a:pt x="2906" y="3025"/>
                    <a:pt x="2953" y="3001"/>
                    <a:pt x="2977" y="2977"/>
                  </a:cubicBezTo>
                  <a:cubicBezTo>
                    <a:pt x="3037" y="2918"/>
                    <a:pt x="3037" y="2811"/>
                    <a:pt x="2977" y="2739"/>
                  </a:cubicBezTo>
                  <a:lnTo>
                    <a:pt x="2549" y="2311"/>
                  </a:lnTo>
                  <a:cubicBezTo>
                    <a:pt x="2739" y="2072"/>
                    <a:pt x="2858" y="1751"/>
                    <a:pt x="2858" y="1430"/>
                  </a:cubicBezTo>
                  <a:cubicBezTo>
                    <a:pt x="2858" y="644"/>
                    <a:pt x="2215" y="1"/>
                    <a:pt x="14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590;p71">
              <a:extLst>
                <a:ext uri="{FF2B5EF4-FFF2-40B4-BE49-F238E27FC236}">
                  <a16:creationId xmlns:a16="http://schemas.microsoft.com/office/drawing/2014/main" id="{D33318CD-0A06-ADF4-13F3-ED9D65041FE8}"/>
                </a:ext>
              </a:extLst>
            </p:cNvPr>
            <p:cNvSpPr/>
            <p:nvPr/>
          </p:nvSpPr>
          <p:spPr>
            <a:xfrm>
              <a:off x="4186375" y="2539381"/>
              <a:ext cx="77331" cy="90541"/>
            </a:xfrm>
            <a:custGeom>
              <a:avLst/>
              <a:gdLst/>
              <a:ahLst/>
              <a:cxnLst/>
              <a:rect l="l" t="t" r="r" b="b"/>
              <a:pathLst>
                <a:path w="2441" h="2858" extrusionOk="0">
                  <a:moveTo>
                    <a:pt x="1203" y="607"/>
                  </a:moveTo>
                  <a:lnTo>
                    <a:pt x="1572" y="1524"/>
                  </a:lnTo>
                  <a:lnTo>
                    <a:pt x="834" y="1524"/>
                  </a:lnTo>
                  <a:lnTo>
                    <a:pt x="1203" y="607"/>
                  </a:lnTo>
                  <a:close/>
                  <a:moveTo>
                    <a:pt x="1215" y="0"/>
                  </a:moveTo>
                  <a:cubicBezTo>
                    <a:pt x="1155" y="0"/>
                    <a:pt x="1084" y="48"/>
                    <a:pt x="1072" y="107"/>
                  </a:cubicBezTo>
                  <a:lnTo>
                    <a:pt x="441" y="1619"/>
                  </a:lnTo>
                  <a:lnTo>
                    <a:pt x="24" y="2620"/>
                  </a:lnTo>
                  <a:cubicBezTo>
                    <a:pt x="0" y="2715"/>
                    <a:pt x="24" y="2798"/>
                    <a:pt x="119" y="2846"/>
                  </a:cubicBezTo>
                  <a:cubicBezTo>
                    <a:pt x="139" y="2851"/>
                    <a:pt x="159" y="2854"/>
                    <a:pt x="179" y="2854"/>
                  </a:cubicBezTo>
                  <a:cubicBezTo>
                    <a:pt x="245" y="2854"/>
                    <a:pt x="309" y="2823"/>
                    <a:pt x="345" y="2750"/>
                  </a:cubicBezTo>
                  <a:lnTo>
                    <a:pt x="714" y="1858"/>
                  </a:lnTo>
                  <a:lnTo>
                    <a:pt x="1750" y="1858"/>
                  </a:lnTo>
                  <a:lnTo>
                    <a:pt x="2131" y="2750"/>
                  </a:lnTo>
                  <a:cubicBezTo>
                    <a:pt x="2155" y="2810"/>
                    <a:pt x="2215" y="2858"/>
                    <a:pt x="2274" y="2858"/>
                  </a:cubicBezTo>
                  <a:cubicBezTo>
                    <a:pt x="2286" y="2858"/>
                    <a:pt x="2322" y="2858"/>
                    <a:pt x="2334" y="2846"/>
                  </a:cubicBezTo>
                  <a:cubicBezTo>
                    <a:pt x="2405" y="2798"/>
                    <a:pt x="2441" y="2715"/>
                    <a:pt x="2405" y="2620"/>
                  </a:cubicBezTo>
                  <a:lnTo>
                    <a:pt x="1988" y="1619"/>
                  </a:lnTo>
                  <a:lnTo>
                    <a:pt x="1369" y="107"/>
                  </a:lnTo>
                  <a:cubicBezTo>
                    <a:pt x="1334" y="48"/>
                    <a:pt x="1274" y="0"/>
                    <a:pt x="1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8107849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3085</TotalTime>
  <Words>167</Words>
  <Application>Microsoft Office PowerPoint</Application>
  <PresentationFormat>寬螢幕</PresentationFormat>
  <Paragraphs>42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Microsoft JhengHei</vt:lpstr>
      <vt:lpstr>Microsoft JhengHei</vt:lpstr>
      <vt:lpstr>Arial</vt:lpstr>
      <vt:lpstr>Calibri</vt:lpstr>
      <vt:lpstr>Calibri Light</vt:lpstr>
      <vt:lpstr>Office 佈景主題</vt:lpstr>
      <vt:lpstr>大屯火山群高密度次聲波資料分析</vt:lpstr>
      <vt:lpstr>Introduction</vt:lpstr>
      <vt:lpstr>Methodology</vt:lpstr>
      <vt:lpstr>Preliminary Results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 Identification of Tatun Volcano Group</dc:title>
  <dc:creator>奕丞 林</dc:creator>
  <cp:lastModifiedBy>奕丞 林</cp:lastModifiedBy>
  <cp:revision>649</cp:revision>
  <dcterms:created xsi:type="dcterms:W3CDTF">2023-07-19T02:18:21Z</dcterms:created>
  <dcterms:modified xsi:type="dcterms:W3CDTF">2023-08-16T20:27:03Z</dcterms:modified>
</cp:coreProperties>
</file>