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339" r:id="rId3"/>
    <p:sldId id="341" r:id="rId4"/>
    <p:sldId id="342" r:id="rId5"/>
    <p:sldId id="343" r:id="rId6"/>
    <p:sldId id="345" r:id="rId7"/>
    <p:sldId id="346" r:id="rId8"/>
    <p:sldId id="347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5589"/>
    <a:srgbClr val="696294"/>
    <a:srgbClr val="2086AE"/>
    <a:srgbClr val="347DAC"/>
    <a:srgbClr val="2086AD"/>
    <a:srgbClr val="2386A0"/>
    <a:srgbClr val="9E3C73"/>
    <a:srgbClr val="298480"/>
    <a:srgbClr val="2982AF"/>
    <a:srgbClr val="278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DCFD5-4723-4C71-AB6F-233EB85DC657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B46897-6FF4-4A52-8252-DE66FAA63DB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7076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09484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80845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53559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60949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23529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78869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1869d692e4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1869d692e4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11869d692e4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287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164DC43-918A-7439-6BED-29E0F5CD34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AB6BCDF-0636-F0E3-1FFA-817FDB2461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09AA0BE-7345-46A3-0A55-63198717B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0DEC109-FB19-56B3-19AC-40C540212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A063202-889A-79A6-C626-BD05C27B1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0951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270116-9CC5-D0C1-C013-D02D7C5C5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A00A415-F640-9E53-DB24-8FE55B4E8B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B71421A-ED4C-FB58-A681-8FD734871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9D4D6E1-6EB1-626B-8F33-B1C89F930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61C3EB-2660-0F6C-4FB8-BCDB9F1CD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557458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FCB7BE-9108-1501-2E05-60F06C696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7925E54-0680-ED15-88BE-B7F0F32D28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1B36F3-8686-11E2-C5D2-24264A5D1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6F6DF6-824C-8515-ACA0-E3A8CD67C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589DB50-FBB8-AA15-9C45-D7C1F3531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74586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3C6C586-4FF6-D44E-160F-0B3849CFD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F96516-7A89-4D28-6ACE-89882EC07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5371B12-7E74-5FAD-291C-E5B1909BF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C814F6-ED1C-9E45-359C-999DCEB65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5BF0D38-E202-60D9-2990-CC5ACB1C3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A14040-2F52-A22F-2338-53BD663D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1083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FE5485-8436-6544-80A6-C4DCF0D6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9DF7512-EED0-8F1B-C699-AE928FBA7F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5022935-FFAC-0DC5-5970-1E55370D45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72AD06A-D367-BEFC-0400-28457EA204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9E188347-A92B-C7A4-1814-5424D4F76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BB5CE546-D50E-D94A-6C0A-76EE184D5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67F1739-87E2-9441-E59C-4E5E4C10DA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6BEFE0E9-BA88-6715-268F-2DCB6835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9574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4D86D5-616F-15FF-EF33-E58E66EE1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90D2F6C-5DE4-F3EE-8FFD-DD663F922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C09993-7AA5-36CB-A9BD-296CA88D9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E54D0D7-AD41-6885-0A40-1DA0F4F9A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83903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763C08E-7152-0311-4FCD-AE7835117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059A427-8FAD-01B3-F449-43FB8976E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49FDA71-C64F-0FA7-5497-D35E55B4C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7061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197256-F21F-2E2D-25E3-06CF449B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4C3DB6-86FA-8BAD-0623-BCA165E85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9FFAF20-07BB-212E-3327-CE84672E8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D5C2FF7-B5D9-82B1-B799-16E97BA7A4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CB8C969-5361-E937-CEC6-69252208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0F0CC93-D55F-7926-C40D-4E1AB7B8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8253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CA5702-FD2C-0C67-77A3-AF4353A64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3A943C6-BDF8-0348-F073-3A0603EC9B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C641E2A-6F7D-CB0E-6A83-73662202DB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C3C1F5A-667E-5D8E-3F77-CD2838AC4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466CC1-34F5-DA84-A09E-529A15A08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6A6CF07-DFF3-32DD-53FF-98A2FC502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9063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6FAB4-CF28-3C3B-8AE5-CA4A29333C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699B885-62B8-FDBD-3592-0754D751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517ED7A-A5A0-D47A-525C-FF0366708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97175B-94B1-B933-A571-D9728965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819A18C-C000-74DF-91F6-52B3922BF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99359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F5FA608-E391-748E-B1A8-618C269D7A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AD3E65E-E98B-A2CD-D6C3-54E3E56D7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F24800-67AD-7598-DA16-C1ED57EE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6F6519F-07E4-24EA-A241-9951F8D8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FB9833-9945-CB5F-DEB8-2FF7E14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3519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>
  <p:cSld name="1_標題投影片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2">
            <a:alphaModFix/>
          </a:blip>
          <a:srcRect r="31461"/>
          <a:stretch/>
        </p:blipFill>
        <p:spPr>
          <a:xfrm>
            <a:off x="9550977" y="2234045"/>
            <a:ext cx="2641023" cy="462395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 txBox="1">
            <a:spLocks noGrp="1"/>
          </p:cNvSpPr>
          <p:nvPr>
            <p:ph type="ctrTitle"/>
          </p:nvPr>
        </p:nvSpPr>
        <p:spPr>
          <a:xfrm>
            <a:off x="1453400" y="3714376"/>
            <a:ext cx="9144000" cy="18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Microsoft JhengHe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r="31461"/>
          <a:stretch/>
        </p:blipFill>
        <p:spPr>
          <a:xfrm rot="10800000">
            <a:off x="0" y="-9240"/>
            <a:ext cx="1453389" cy="25446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Google Shape;1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25388" y="757294"/>
            <a:ext cx="2541223" cy="2202873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9448800" y="6120878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448800" y="6486003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4510200" y="2864300"/>
            <a:ext cx="3171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>
                <a:solidFill>
                  <a:srgbClr val="45818E"/>
                </a:solidFill>
                <a:latin typeface="Calibri"/>
                <a:ea typeface="Calibri"/>
                <a:cs typeface="Calibri"/>
                <a:sym typeface="Calibri"/>
              </a:rPr>
              <a:t>www.aiengineer.tw</a:t>
            </a:r>
            <a:endParaRPr sz="2500" b="1">
              <a:solidFill>
                <a:srgbClr val="45818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179605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含標題的內容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"/>
          <p:cNvSpPr txBox="1">
            <a:spLocks noGrp="1"/>
          </p:cNvSpPr>
          <p:nvPr>
            <p:ph type="title"/>
          </p:nvPr>
        </p:nvSpPr>
        <p:spPr>
          <a:xfrm>
            <a:off x="839725" y="1536300"/>
            <a:ext cx="3932100" cy="103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icrosoft JhengHe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1"/>
          <p:cNvSpPr txBox="1">
            <a:spLocks noGrp="1"/>
          </p:cNvSpPr>
          <p:nvPr>
            <p:ph type="body" idx="1"/>
          </p:nvPr>
        </p:nvSpPr>
        <p:spPr>
          <a:xfrm>
            <a:off x="5183200" y="1612500"/>
            <a:ext cx="6172200" cy="424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3" name="Google Shape;93;p11"/>
          <p:cNvSpPr txBox="1">
            <a:spLocks noGrp="1"/>
          </p:cNvSpPr>
          <p:nvPr>
            <p:ph type="body" idx="2"/>
          </p:nvPr>
        </p:nvSpPr>
        <p:spPr>
          <a:xfrm>
            <a:off x="839800" y="2733373"/>
            <a:ext cx="3932100" cy="31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4" name="Google Shape;94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6" name="Google Shape;9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85850"/>
            <a:ext cx="12192000" cy="7715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1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Microsoft JhengHei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 flipH="1">
            <a:off x="7157875" y="6356350"/>
            <a:ext cx="5034126" cy="5080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00" name="Google Shape;100;p11"/>
          <p:cNvSpPr txBox="1"/>
          <p:nvPr/>
        </p:nvSpPr>
        <p:spPr>
          <a:xfrm>
            <a:off x="7393875" y="6325688"/>
            <a:ext cx="3171600" cy="5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 b="1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www.aiengineer.tw</a:t>
            </a:r>
            <a:endParaRPr sz="2500" b="1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4656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5176BBFB-E7FA-84BF-74E2-2564251B6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838680-DF6B-3D39-3C9F-F0EDF13E1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C8B3EF2-1877-228A-DDB0-734CA9D70C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44F47-5466-46B4-9BFF-4CAF323FBF58}" type="datetimeFigureOut">
              <a:rPr lang="zh-TW" altLang="en-US" smtClean="0"/>
              <a:t>2023/7/28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8848C1-0DEA-A9F8-CB2C-58DC5FB99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2679649-3960-B08E-AE26-F6FC3C7634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BE31D2-6D36-44FE-AD25-AA17089D78D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318531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13" Type="http://schemas.openxmlformats.org/officeDocument/2006/relationships/image" Target="../media/image18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sv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hyperlink" Target="https://doi.org/10.1029/2007GL030616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"/>
          <p:cNvSpPr txBox="1">
            <a:spLocks noGrp="1"/>
          </p:cNvSpPr>
          <p:nvPr>
            <p:ph type="ctrTitle"/>
          </p:nvPr>
        </p:nvSpPr>
        <p:spPr>
          <a:xfrm>
            <a:off x="1151107" y="3351999"/>
            <a:ext cx="9889787" cy="1256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lvl="0">
              <a:lnSpc>
                <a:spcPct val="100000"/>
              </a:lnSpc>
            </a:pPr>
            <a:r>
              <a:rPr lang="zh-TW" altLang="en-US" sz="4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大屯火山群高密度次聲波資料分析</a:t>
            </a:r>
            <a:endParaRPr lang="en-US" sz="4000" b="1" dirty="0">
              <a:solidFill>
                <a:srgbClr val="990000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31" name="Google Shape;131;p1"/>
          <p:cNvSpPr txBox="1">
            <a:spLocks noGrp="1"/>
          </p:cNvSpPr>
          <p:nvPr>
            <p:ph type="subTitle" idx="4294967295"/>
          </p:nvPr>
        </p:nvSpPr>
        <p:spPr>
          <a:xfrm>
            <a:off x="2370546" y="5116283"/>
            <a:ext cx="7450908" cy="13335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altLang="en-US" sz="2400" b="1" i="0" u="none" strike="noStrike" cap="none" dirty="0">
                <a:solidFill>
                  <a:schemeClr val="accent1">
                    <a:lumMod val="50000"/>
                  </a:schemeClr>
                </a:solidFill>
                <a:latin typeface="+mj-lt"/>
                <a:ea typeface="Microsoft JhengHei"/>
                <a:cs typeface="Microsoft JhengHei"/>
                <a:sym typeface="Microsoft JhengHei"/>
              </a:rPr>
              <a:t>林奕丞</a:t>
            </a:r>
            <a:endParaRPr lang="en-US" altLang="zh-TW" sz="2400" b="1" i="0" u="none" strike="noStrike" cap="none" dirty="0">
              <a:solidFill>
                <a:schemeClr val="accent1">
                  <a:lumMod val="50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zh-TW" altLang="en-US" sz="2000" i="0" u="none" strike="noStrike" cap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Microsoft JhengHei"/>
                <a:cs typeface="Microsoft JhengHei"/>
                <a:sym typeface="Microsoft JhengHei"/>
              </a:rPr>
              <a:t>專案經理：張慰慈</a:t>
            </a:r>
            <a:endParaRPr lang="en-US" altLang="zh-TW" sz="200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  <a:p>
            <a:pPr marL="228600" marR="0" lvl="0" indent="-5080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altLang="zh-TW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Jul. 28</a:t>
            </a:r>
            <a:r>
              <a:rPr lang="en-US" altLang="zh-TW" sz="2000" baseline="30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th</a:t>
            </a:r>
            <a:r>
              <a:rPr lang="en-US" altLang="zh-TW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, 2023</a:t>
            </a:r>
            <a:endParaRPr sz="2000" i="0" u="none" strike="noStrike" cap="none" dirty="0">
              <a:solidFill>
                <a:schemeClr val="tx1">
                  <a:lumMod val="65000"/>
                  <a:lumOff val="35000"/>
                </a:schemeClr>
              </a:solidFill>
              <a:latin typeface="+mj-lt"/>
              <a:ea typeface="Microsoft JhengHei"/>
              <a:cs typeface="Microsoft JhengHei"/>
              <a:sym typeface="Microsoft JhengHei"/>
            </a:endParaRP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2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Introduction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F461CA04-44A5-9EB2-CC48-BECA777A63B2}"/>
              </a:ext>
            </a:extLst>
          </p:cNvPr>
          <p:cNvGrpSpPr/>
          <p:nvPr/>
        </p:nvGrpSpPr>
        <p:grpSpPr>
          <a:xfrm>
            <a:off x="466725" y="1101700"/>
            <a:ext cx="5629275" cy="5629275"/>
            <a:chOff x="466725" y="1101700"/>
            <a:chExt cx="5629275" cy="5629275"/>
          </a:xfrm>
        </p:grpSpPr>
        <p:pic>
          <p:nvPicPr>
            <p:cNvPr id="8" name="圖片 7">
              <a:extLst>
                <a:ext uri="{FF2B5EF4-FFF2-40B4-BE49-F238E27FC236}">
                  <a16:creationId xmlns:a16="http://schemas.microsoft.com/office/drawing/2014/main" id="{868C405F-700C-3926-736A-6FC2AE65A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6725" y="1101700"/>
              <a:ext cx="5629275" cy="562927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A5F76138-46B3-747F-E911-5C4228F44A98}"/>
                </a:ext>
              </a:extLst>
            </p:cNvPr>
            <p:cNvSpPr txBox="1"/>
            <p:nvPr/>
          </p:nvSpPr>
          <p:spPr>
            <a:xfrm>
              <a:off x="4324350" y="6170778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SYK01</a:t>
              </a:r>
              <a:endParaRPr lang="zh-TW" altLang="en-US" sz="2000" b="1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934F084A-2175-B5CB-22B4-18DB6DCA0D6B}"/>
                </a:ext>
              </a:extLst>
            </p:cNvPr>
            <p:cNvSpPr txBox="1"/>
            <p:nvPr/>
          </p:nvSpPr>
          <p:spPr>
            <a:xfrm>
              <a:off x="3697278" y="4838730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SYK02</a:t>
              </a:r>
              <a:endParaRPr lang="zh-TW" altLang="en-US" sz="2000" b="1" dirty="0"/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CB80995-653F-794E-9A32-EA63B777E5B0}"/>
                </a:ext>
              </a:extLst>
            </p:cNvPr>
            <p:cNvSpPr txBox="1"/>
            <p:nvPr/>
          </p:nvSpPr>
          <p:spPr>
            <a:xfrm>
              <a:off x="4146314" y="4103073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SYK03</a:t>
              </a:r>
              <a:endParaRPr lang="zh-TW" altLang="en-US" sz="2000" b="1" dirty="0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CBA5DEFD-D945-87EB-ED38-29A61A5FD7DF}"/>
                </a:ext>
              </a:extLst>
            </p:cNvPr>
            <p:cNvSpPr txBox="1"/>
            <p:nvPr/>
          </p:nvSpPr>
          <p:spPr>
            <a:xfrm>
              <a:off x="2035630" y="3724765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SYK04</a:t>
              </a:r>
              <a:endParaRPr lang="zh-TW" altLang="en-US" sz="2000" b="1" dirty="0"/>
            </a:p>
          </p:txBody>
        </p:sp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CB3DFE83-35A0-F3B1-5568-1A24E1332F34}"/>
                </a:ext>
              </a:extLst>
            </p:cNvPr>
            <p:cNvSpPr txBox="1"/>
            <p:nvPr/>
          </p:nvSpPr>
          <p:spPr>
            <a:xfrm>
              <a:off x="1322614" y="2733126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SYK05</a:t>
              </a:r>
              <a:endParaRPr lang="zh-TW" altLang="en-US" sz="2000" b="1" dirty="0"/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A0ABFC60-FD3E-4D6C-C48B-59CBF3E63DBE}"/>
                </a:ext>
              </a:extLst>
            </p:cNvPr>
            <p:cNvSpPr txBox="1"/>
            <p:nvPr/>
          </p:nvSpPr>
          <p:spPr>
            <a:xfrm>
              <a:off x="466725" y="3857625"/>
              <a:ext cx="835422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SYK06</a:t>
              </a:r>
              <a:endParaRPr lang="zh-TW" altLang="en-US" sz="2000" b="1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9703FDB0-6492-9BE0-5378-5AAF981A43C1}"/>
                </a:ext>
              </a:extLst>
            </p:cNvPr>
            <p:cNvSpPr txBox="1"/>
            <p:nvPr/>
          </p:nvSpPr>
          <p:spPr>
            <a:xfrm>
              <a:off x="3281362" y="2199131"/>
              <a:ext cx="73930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/>
                <a:t>YD21</a:t>
              </a:r>
              <a:endParaRPr lang="zh-TW" altLang="en-US" sz="2000" b="1" dirty="0"/>
            </a:p>
          </p:txBody>
        </p:sp>
      </p:grpSp>
      <p:grpSp>
        <p:nvGrpSpPr>
          <p:cNvPr id="142" name="群組 141">
            <a:extLst>
              <a:ext uri="{FF2B5EF4-FFF2-40B4-BE49-F238E27FC236}">
                <a16:creationId xmlns:a16="http://schemas.microsoft.com/office/drawing/2014/main" id="{07E7CE2D-257B-8CA6-D070-65FB4D6D4143}"/>
              </a:ext>
            </a:extLst>
          </p:cNvPr>
          <p:cNvGrpSpPr/>
          <p:nvPr/>
        </p:nvGrpSpPr>
        <p:grpSpPr>
          <a:xfrm>
            <a:off x="6095999" y="1202101"/>
            <a:ext cx="5932185" cy="1647779"/>
            <a:chOff x="6095999" y="1202101"/>
            <a:chExt cx="5932185" cy="1647779"/>
          </a:xfrm>
        </p:grpSpPr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EC90BB0F-BBDE-8789-8650-C16D721275E0}"/>
                </a:ext>
              </a:extLst>
            </p:cNvPr>
            <p:cNvSpPr txBox="1"/>
            <p:nvPr/>
          </p:nvSpPr>
          <p:spPr>
            <a:xfrm>
              <a:off x="6095999" y="1818580"/>
              <a:ext cx="58966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大屯火山是活火山，傳統方法需監測噴氣成分、噴氣溫度，分析</a:t>
              </a:r>
              <a:r>
                <a:rPr lang="zh-TW" altLang="en-US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次聲波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(20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Hz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以下之聲波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)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為一火山監控嶄新領域，並希望透過資訊方法深入分析現有的次聲波資料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13373306-7B24-4D32-5600-05A2087F4464}"/>
                </a:ext>
              </a:extLst>
            </p:cNvPr>
            <p:cNvSpPr txBox="1"/>
            <p:nvPr/>
          </p:nvSpPr>
          <p:spPr>
            <a:xfrm>
              <a:off x="6131557" y="1202101"/>
              <a:ext cx="5896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計畫動機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D6DBE5BB-F12F-B527-280E-655D1B45463B}"/>
                </a:ext>
              </a:extLst>
            </p:cNvPr>
            <p:cNvGrpSpPr/>
            <p:nvPr/>
          </p:nvGrpSpPr>
          <p:grpSpPr>
            <a:xfrm>
              <a:off x="6131560" y="1236525"/>
              <a:ext cx="5861063" cy="1613355"/>
              <a:chOff x="6131560" y="1236525"/>
              <a:chExt cx="5861063" cy="1613355"/>
            </a:xfrm>
          </p:grpSpPr>
          <p:cxnSp>
            <p:nvCxnSpPr>
              <p:cNvPr id="37" name="直線接點 36">
                <a:extLst>
                  <a:ext uri="{FF2B5EF4-FFF2-40B4-BE49-F238E27FC236}">
                    <a16:creationId xmlns:a16="http://schemas.microsoft.com/office/drawing/2014/main" id="{8D55B905-52EE-F245-D801-5776183C7F3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613355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7" name="圖形 46" descr="心跳">
                <a:extLst>
                  <a:ext uri="{FF2B5EF4-FFF2-40B4-BE49-F238E27FC236}">
                    <a16:creationId xmlns:a16="http://schemas.microsoft.com/office/drawing/2014/main" id="{D0127983-C278-EF1D-1757-5EE57ECF263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81323" y="142375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49" name="直線單箭頭接點 48">
                <a:extLst>
                  <a:ext uri="{FF2B5EF4-FFF2-40B4-BE49-F238E27FC236}">
                    <a16:creationId xmlns:a16="http://schemas.microsoft.com/office/drawing/2014/main" id="{96F20FA5-53F7-9C16-DCD4-11DF7167B40E}"/>
                  </a:ext>
                </a:extLst>
              </p:cNvPr>
              <p:cNvCxnSpPr>
                <a:cxnSpLocks/>
                <a:stCxn id="47" idx="3"/>
              </p:cNvCxnSpPr>
              <p:nvPr/>
            </p:nvCxnSpPr>
            <p:spPr>
              <a:xfrm>
                <a:off x="11504755" y="1685470"/>
                <a:ext cx="487868" cy="0"/>
              </a:xfrm>
              <a:prstGeom prst="straightConnector1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線接點 52">
                <a:extLst>
                  <a:ext uri="{FF2B5EF4-FFF2-40B4-BE49-F238E27FC236}">
                    <a16:creationId xmlns:a16="http://schemas.microsoft.com/office/drawing/2014/main" id="{C3D16FDD-7322-B8DC-4A1C-C15426D38450}"/>
                  </a:ext>
                </a:extLst>
              </p:cNvPr>
              <p:cNvCxnSpPr>
                <a:cxnSpLocks/>
                <a:stCxn id="47" idx="1"/>
              </p:cNvCxnSpPr>
              <p:nvPr/>
            </p:nvCxnSpPr>
            <p:spPr>
              <a:xfrm flipH="1" flipV="1">
                <a:off x="6131560" y="1676400"/>
                <a:ext cx="4849763" cy="9070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40" name="群組 139">
            <a:extLst>
              <a:ext uri="{FF2B5EF4-FFF2-40B4-BE49-F238E27FC236}">
                <a16:creationId xmlns:a16="http://schemas.microsoft.com/office/drawing/2014/main" id="{A17E1988-3D21-3D18-A011-FA668D89A5E2}"/>
              </a:ext>
            </a:extLst>
          </p:cNvPr>
          <p:cNvGrpSpPr/>
          <p:nvPr/>
        </p:nvGrpSpPr>
        <p:grpSpPr>
          <a:xfrm>
            <a:off x="6095996" y="2941108"/>
            <a:ext cx="5932187" cy="1655237"/>
            <a:chOff x="6095997" y="3000200"/>
            <a:chExt cx="5932187" cy="1655237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48789279-5ACB-9939-4171-742C4D9ACF0F}"/>
                </a:ext>
              </a:extLst>
            </p:cNvPr>
            <p:cNvSpPr txBox="1"/>
            <p:nvPr/>
          </p:nvSpPr>
          <p:spPr>
            <a:xfrm>
              <a:off x="6095997" y="3707353"/>
              <a:ext cx="589662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期望建立次聲波訊號智慧分析與識別模組，最後完成自動化分析系統，及時監控大屯火山活動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62" name="群組 61">
              <a:extLst>
                <a:ext uri="{FF2B5EF4-FFF2-40B4-BE49-F238E27FC236}">
                  <a16:creationId xmlns:a16="http://schemas.microsoft.com/office/drawing/2014/main" id="{20D8D81B-9687-382D-D4EE-FC27B665DC6D}"/>
                </a:ext>
              </a:extLst>
            </p:cNvPr>
            <p:cNvGrpSpPr/>
            <p:nvPr/>
          </p:nvGrpSpPr>
          <p:grpSpPr>
            <a:xfrm>
              <a:off x="6131560" y="3042082"/>
              <a:ext cx="5861064" cy="1613355"/>
              <a:chOff x="6131560" y="1236525"/>
              <a:chExt cx="5861064" cy="1613355"/>
            </a:xfrm>
          </p:grpSpPr>
          <p:cxnSp>
            <p:nvCxnSpPr>
              <p:cNvPr id="63" name="直線接點 62">
                <a:extLst>
                  <a:ext uri="{FF2B5EF4-FFF2-40B4-BE49-F238E27FC236}">
                    <a16:creationId xmlns:a16="http://schemas.microsoft.com/office/drawing/2014/main" id="{9594D17D-B336-8ED2-FE55-0A0430D056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613355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28" name="圖形 127" descr="心跳">
                <a:extLst>
                  <a:ext uri="{FF2B5EF4-FFF2-40B4-BE49-F238E27FC236}">
                    <a16:creationId xmlns:a16="http://schemas.microsoft.com/office/drawing/2014/main" id="{6EC9AD81-69E9-4254-FB70-A4B31C2234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81323" y="142375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29" name="直線單箭頭接點 128">
                <a:extLst>
                  <a:ext uri="{FF2B5EF4-FFF2-40B4-BE49-F238E27FC236}">
                    <a16:creationId xmlns:a16="http://schemas.microsoft.com/office/drawing/2014/main" id="{6B994DD1-0892-5116-164C-BB6940A08E3F}"/>
                  </a:ext>
                </a:extLst>
              </p:cNvPr>
              <p:cNvCxnSpPr>
                <a:cxnSpLocks/>
                <a:stCxn id="128" idx="3"/>
              </p:cNvCxnSpPr>
              <p:nvPr/>
            </p:nvCxnSpPr>
            <p:spPr>
              <a:xfrm>
                <a:off x="11504755" y="1685470"/>
                <a:ext cx="487869" cy="0"/>
              </a:xfrm>
              <a:prstGeom prst="straightConnector1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直線接點 129">
                <a:extLst>
                  <a:ext uri="{FF2B5EF4-FFF2-40B4-BE49-F238E27FC236}">
                    <a16:creationId xmlns:a16="http://schemas.microsoft.com/office/drawing/2014/main" id="{6A876FB7-3A4C-9197-824C-5277B9FA608D}"/>
                  </a:ext>
                </a:extLst>
              </p:cNvPr>
              <p:cNvCxnSpPr>
                <a:cxnSpLocks/>
                <a:stCxn id="128" idx="1"/>
              </p:cNvCxnSpPr>
              <p:nvPr/>
            </p:nvCxnSpPr>
            <p:spPr>
              <a:xfrm flipH="1" flipV="1">
                <a:off x="6131560" y="1676400"/>
                <a:ext cx="4849763" cy="9070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1" name="文字方塊 130">
              <a:extLst>
                <a:ext uri="{FF2B5EF4-FFF2-40B4-BE49-F238E27FC236}">
                  <a16:creationId xmlns:a16="http://schemas.microsoft.com/office/drawing/2014/main" id="{7372F375-0449-1F6E-AE8A-E2C6ED4A8ABD}"/>
                </a:ext>
              </a:extLst>
            </p:cNvPr>
            <p:cNvSpPr txBox="1"/>
            <p:nvPr/>
          </p:nvSpPr>
          <p:spPr>
            <a:xfrm>
              <a:off x="6131557" y="3000200"/>
              <a:ext cx="5896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計畫目的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23CCA6D4-85BE-0E81-7A13-45F2696E25EC}"/>
              </a:ext>
            </a:extLst>
          </p:cNvPr>
          <p:cNvGrpSpPr/>
          <p:nvPr/>
        </p:nvGrpSpPr>
        <p:grpSpPr>
          <a:xfrm>
            <a:off x="5662286" y="4718558"/>
            <a:ext cx="6365897" cy="1637349"/>
            <a:chOff x="5662286" y="4836327"/>
            <a:chExt cx="6365897" cy="1637349"/>
          </a:xfrm>
        </p:grpSpPr>
        <p:sp>
          <p:nvSpPr>
            <p:cNvPr id="25" name="文字方塊 24">
              <a:extLst>
                <a:ext uri="{FF2B5EF4-FFF2-40B4-BE49-F238E27FC236}">
                  <a16:creationId xmlns:a16="http://schemas.microsoft.com/office/drawing/2014/main" id="{85FE6E08-737A-AA2B-E365-E1B96AD87424}"/>
                </a:ext>
              </a:extLst>
            </p:cNvPr>
            <p:cNvSpPr txBox="1"/>
            <p:nvPr/>
          </p:nvSpPr>
          <p:spPr>
            <a:xfrm>
              <a:off x="5662286" y="5429806"/>
              <a:ext cx="58966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742950" lvl="1" indent="-285750">
                <a:buFont typeface="微軟正黑體" panose="020B0604030504040204" pitchFamily="34" charset="-120"/>
                <a:buChar char="-"/>
              </a:pP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Chaparral Physics (Model 21) 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野外次聲波儀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742950" lvl="1" indent="-285750">
                <a:buFont typeface="微軟正黑體" panose="020B0604030504040204" pitchFamily="34" charset="-120"/>
                <a:buChar char="-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監控微小聲音壓力變化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742950" lvl="1" indent="-285750">
                <a:buFont typeface="微軟正黑體" panose="020B0604030504040204" pitchFamily="34" charset="-120"/>
                <a:buChar char="-"/>
              </a:pP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取樣頻率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(Sampling Rate)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100 (Hz)</a:t>
              </a:r>
            </a:p>
          </p:txBody>
        </p:sp>
        <p:grpSp>
          <p:nvGrpSpPr>
            <p:cNvPr id="132" name="群組 131">
              <a:extLst>
                <a:ext uri="{FF2B5EF4-FFF2-40B4-BE49-F238E27FC236}">
                  <a16:creationId xmlns:a16="http://schemas.microsoft.com/office/drawing/2014/main" id="{E0794FE6-7468-3F3B-D86F-E15E117E1FD8}"/>
                </a:ext>
              </a:extLst>
            </p:cNvPr>
            <p:cNvGrpSpPr/>
            <p:nvPr/>
          </p:nvGrpSpPr>
          <p:grpSpPr>
            <a:xfrm>
              <a:off x="6131559" y="4860321"/>
              <a:ext cx="5861064" cy="1613355"/>
              <a:chOff x="6131560" y="1236525"/>
              <a:chExt cx="5861064" cy="1613355"/>
            </a:xfrm>
          </p:grpSpPr>
          <p:cxnSp>
            <p:nvCxnSpPr>
              <p:cNvPr id="133" name="直線接點 132">
                <a:extLst>
                  <a:ext uri="{FF2B5EF4-FFF2-40B4-BE49-F238E27FC236}">
                    <a16:creationId xmlns:a16="http://schemas.microsoft.com/office/drawing/2014/main" id="{769828A0-F021-BBC4-F6A8-49750F7FD4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613355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34" name="圖形 133" descr="心跳">
                <a:extLst>
                  <a:ext uri="{FF2B5EF4-FFF2-40B4-BE49-F238E27FC236}">
                    <a16:creationId xmlns:a16="http://schemas.microsoft.com/office/drawing/2014/main" id="{38998564-0D68-678D-EC4C-808AFD5FD1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10981323" y="142375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35" name="直線單箭頭接點 134">
                <a:extLst>
                  <a:ext uri="{FF2B5EF4-FFF2-40B4-BE49-F238E27FC236}">
                    <a16:creationId xmlns:a16="http://schemas.microsoft.com/office/drawing/2014/main" id="{74CBE80C-C093-7EA3-DD50-C4D6B59BC6F8}"/>
                  </a:ext>
                </a:extLst>
              </p:cNvPr>
              <p:cNvCxnSpPr>
                <a:cxnSpLocks/>
                <a:stCxn id="134" idx="3"/>
              </p:cNvCxnSpPr>
              <p:nvPr/>
            </p:nvCxnSpPr>
            <p:spPr>
              <a:xfrm>
                <a:off x="11504755" y="1685470"/>
                <a:ext cx="487869" cy="0"/>
              </a:xfrm>
              <a:prstGeom prst="straightConnector1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線接點 135">
                <a:extLst>
                  <a:ext uri="{FF2B5EF4-FFF2-40B4-BE49-F238E27FC236}">
                    <a16:creationId xmlns:a16="http://schemas.microsoft.com/office/drawing/2014/main" id="{5579DB01-F312-7EAE-C34D-70BB5A5A3734}"/>
                  </a:ext>
                </a:extLst>
              </p:cNvPr>
              <p:cNvCxnSpPr>
                <a:cxnSpLocks/>
                <a:stCxn id="134" idx="1"/>
              </p:cNvCxnSpPr>
              <p:nvPr/>
            </p:nvCxnSpPr>
            <p:spPr>
              <a:xfrm flipH="1" flipV="1">
                <a:off x="6131560" y="1676400"/>
                <a:ext cx="4849763" cy="9070"/>
              </a:xfrm>
              <a:prstGeom prst="line">
                <a:avLst/>
              </a:prstGeom>
              <a:solidFill>
                <a:srgbClr val="4578A7"/>
              </a:solidFill>
              <a:ln w="28575">
                <a:solidFill>
                  <a:srgbClr val="4578A7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7" name="文字方塊 136">
              <a:extLst>
                <a:ext uri="{FF2B5EF4-FFF2-40B4-BE49-F238E27FC236}">
                  <a16:creationId xmlns:a16="http://schemas.microsoft.com/office/drawing/2014/main" id="{02BDC646-4990-5937-1875-89A8044BC082}"/>
                </a:ext>
              </a:extLst>
            </p:cNvPr>
            <p:cNvSpPr txBox="1"/>
            <p:nvPr/>
          </p:nvSpPr>
          <p:spPr>
            <a:xfrm>
              <a:off x="6131556" y="4836327"/>
              <a:ext cx="589662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資料來源：小油坑次聲波測站 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SYK01~06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892990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3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Methodology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0" name="流程圖: 文件 39">
            <a:extLst>
              <a:ext uri="{FF2B5EF4-FFF2-40B4-BE49-F238E27FC236}">
                <a16:creationId xmlns:a16="http://schemas.microsoft.com/office/drawing/2014/main" id="{5B394100-E560-D358-3CE8-F62B60114A21}"/>
              </a:ext>
            </a:extLst>
          </p:cNvPr>
          <p:cNvSpPr/>
          <p:nvPr/>
        </p:nvSpPr>
        <p:spPr>
          <a:xfrm>
            <a:off x="914400" y="1280655"/>
            <a:ext cx="2255520" cy="888851"/>
          </a:xfrm>
          <a:prstGeom prst="flowChartDocument">
            <a:avLst/>
          </a:prstGeom>
          <a:solidFill>
            <a:srgbClr val="298480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次聲波原始資料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1" name="流程圖: 程序 40">
            <a:extLst>
              <a:ext uri="{FF2B5EF4-FFF2-40B4-BE49-F238E27FC236}">
                <a16:creationId xmlns:a16="http://schemas.microsoft.com/office/drawing/2014/main" id="{4E64E491-1618-0D82-C055-4EA26309CD52}"/>
              </a:ext>
            </a:extLst>
          </p:cNvPr>
          <p:cNvSpPr/>
          <p:nvPr/>
        </p:nvSpPr>
        <p:spPr>
          <a:xfrm>
            <a:off x="914400" y="2489120"/>
            <a:ext cx="2255520" cy="720000"/>
          </a:xfrm>
          <a:prstGeom prst="flowChartProcess">
            <a:avLst/>
          </a:prstGeom>
          <a:solidFill>
            <a:srgbClr val="2086AA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資料清理</a:t>
            </a:r>
            <a:endParaRPr lang="en-US" altLang="zh-TW" sz="2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2" name="流程圖: 程序 41">
            <a:extLst>
              <a:ext uri="{FF2B5EF4-FFF2-40B4-BE49-F238E27FC236}">
                <a16:creationId xmlns:a16="http://schemas.microsoft.com/office/drawing/2014/main" id="{7E5665E8-8D62-3CDE-593C-CAE8C4920739}"/>
              </a:ext>
            </a:extLst>
          </p:cNvPr>
          <p:cNvSpPr/>
          <p:nvPr/>
        </p:nvSpPr>
        <p:spPr>
          <a:xfrm>
            <a:off x="914400" y="3533106"/>
            <a:ext cx="2255520" cy="720000"/>
          </a:xfrm>
          <a:prstGeom prst="flowChartProcess">
            <a:avLst/>
          </a:prstGeom>
          <a:solidFill>
            <a:srgbClr val="5071A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快速傅立葉轉換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43" name="流程圖: 程序 42">
            <a:extLst>
              <a:ext uri="{FF2B5EF4-FFF2-40B4-BE49-F238E27FC236}">
                <a16:creationId xmlns:a16="http://schemas.microsoft.com/office/drawing/2014/main" id="{39E5EC12-5BA1-FB93-381C-6AB9C7FCA6A5}"/>
              </a:ext>
            </a:extLst>
          </p:cNvPr>
          <p:cNvSpPr/>
          <p:nvPr/>
        </p:nvSpPr>
        <p:spPr>
          <a:xfrm>
            <a:off x="914400" y="4577092"/>
            <a:ext cx="2255520" cy="720000"/>
          </a:xfrm>
          <a:prstGeom prst="flowChartProcess">
            <a:avLst/>
          </a:prstGeom>
          <a:solidFill>
            <a:srgbClr val="606698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頻帶功率計算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(Band Power, BP)</a:t>
            </a:r>
          </a:p>
        </p:txBody>
      </p:sp>
      <p:sp>
        <p:nvSpPr>
          <p:cNvPr id="44" name="流程圖: 程序 43">
            <a:extLst>
              <a:ext uri="{FF2B5EF4-FFF2-40B4-BE49-F238E27FC236}">
                <a16:creationId xmlns:a16="http://schemas.microsoft.com/office/drawing/2014/main" id="{5119DD16-F8DF-F1E6-FB93-8B52999A97CF}"/>
              </a:ext>
            </a:extLst>
          </p:cNvPr>
          <p:cNvSpPr/>
          <p:nvPr/>
        </p:nvSpPr>
        <p:spPr>
          <a:xfrm>
            <a:off x="914400" y="5621078"/>
            <a:ext cx="2255520" cy="720000"/>
          </a:xfrm>
          <a:prstGeom prst="flowChartProcess">
            <a:avLst/>
          </a:prstGeom>
          <a:solidFill>
            <a:srgbClr val="91457E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機器學習分群</a:t>
            </a:r>
            <a:endParaRPr lang="en-US" altLang="zh-TW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algn="ctr"/>
            <a:r>
              <a:rPr lang="en-US" altLang="zh-TW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(K-Means)</a:t>
            </a:r>
          </a:p>
        </p:txBody>
      </p:sp>
      <p:cxnSp>
        <p:nvCxnSpPr>
          <p:cNvPr id="46" name="直線單箭頭接點 45">
            <a:extLst>
              <a:ext uri="{FF2B5EF4-FFF2-40B4-BE49-F238E27FC236}">
                <a16:creationId xmlns:a16="http://schemas.microsoft.com/office/drawing/2014/main" id="{2D8ED627-D9C0-BF8C-40DC-5E80C2CCC107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>
            <a:off x="2042160" y="2110743"/>
            <a:ext cx="0" cy="37837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單箭頭接點 50">
            <a:extLst>
              <a:ext uri="{FF2B5EF4-FFF2-40B4-BE49-F238E27FC236}">
                <a16:creationId xmlns:a16="http://schemas.microsoft.com/office/drawing/2014/main" id="{3DFA48E7-C413-B958-DEC4-D50B00D4436C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2042160" y="3209120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線單箭頭接點 54">
            <a:extLst>
              <a:ext uri="{FF2B5EF4-FFF2-40B4-BE49-F238E27FC236}">
                <a16:creationId xmlns:a16="http://schemas.microsoft.com/office/drawing/2014/main" id="{1848D637-93EE-1592-C3D3-49988FDE3A84}"/>
              </a:ext>
            </a:extLst>
          </p:cNvPr>
          <p:cNvCxnSpPr>
            <a:cxnSpLocks/>
            <a:stCxn id="42" idx="2"/>
            <a:endCxn id="43" idx="0"/>
          </p:cNvCxnSpPr>
          <p:nvPr/>
        </p:nvCxnSpPr>
        <p:spPr>
          <a:xfrm>
            <a:off x="2042160" y="4253106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線單箭頭接點 57">
            <a:extLst>
              <a:ext uri="{FF2B5EF4-FFF2-40B4-BE49-F238E27FC236}">
                <a16:creationId xmlns:a16="http://schemas.microsoft.com/office/drawing/2014/main" id="{5EEBE736-F511-485F-A8E4-003EF81A200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2042160" y="5297092"/>
            <a:ext cx="0" cy="32398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文字方塊 142">
            <a:extLst>
              <a:ext uri="{FF2B5EF4-FFF2-40B4-BE49-F238E27FC236}">
                <a16:creationId xmlns:a16="http://schemas.microsoft.com/office/drawing/2014/main" id="{809350D2-0DF1-DE43-8143-6227ABCC9C8E}"/>
              </a:ext>
            </a:extLst>
          </p:cNvPr>
          <p:cNvSpPr txBox="1"/>
          <p:nvPr/>
        </p:nvSpPr>
        <p:spPr>
          <a:xfrm>
            <a:off x="3317240" y="1404719"/>
            <a:ext cx="7960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六個觀測站之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17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天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(2023.03.03~2023.03.19)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時間域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資料集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145" name="群組 144">
            <a:extLst>
              <a:ext uri="{FF2B5EF4-FFF2-40B4-BE49-F238E27FC236}">
                <a16:creationId xmlns:a16="http://schemas.microsoft.com/office/drawing/2014/main" id="{D0D5BE71-9C9C-F6A2-4526-D177E6377698}"/>
              </a:ext>
            </a:extLst>
          </p:cNvPr>
          <p:cNvGrpSpPr/>
          <p:nvPr/>
        </p:nvGrpSpPr>
        <p:grpSpPr>
          <a:xfrm>
            <a:off x="3317240" y="1280655"/>
            <a:ext cx="7960358" cy="976330"/>
            <a:chOff x="6131560" y="1236525"/>
            <a:chExt cx="5373195" cy="976330"/>
          </a:xfrm>
          <a:solidFill>
            <a:srgbClr val="298480"/>
          </a:solidFill>
        </p:grpSpPr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6C48842D-3D1B-FEBA-EE62-E9199C03AA51}"/>
                </a:ext>
              </a:extLst>
            </p:cNvPr>
            <p:cNvCxnSpPr>
              <a:cxnSpLocks/>
            </p:cNvCxnSpPr>
            <p:nvPr/>
          </p:nvCxnSpPr>
          <p:spPr>
            <a:xfrm>
              <a:off x="6131560" y="1236525"/>
              <a:ext cx="0" cy="720000"/>
            </a:xfrm>
            <a:prstGeom prst="line">
              <a:avLst/>
            </a:prstGeom>
            <a:grpFill/>
            <a:ln w="28575">
              <a:solidFill>
                <a:srgbClr val="2984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7" name="圖形 146" descr="心跳">
              <a:extLst>
                <a:ext uri="{FF2B5EF4-FFF2-40B4-BE49-F238E27FC236}">
                  <a16:creationId xmlns:a16="http://schemas.microsoft.com/office/drawing/2014/main" id="{11BC5BDE-5A23-61D1-F597-165E30A61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981323" y="1689423"/>
              <a:ext cx="523432" cy="523432"/>
            </a:xfrm>
            <a:prstGeom prst="rect">
              <a:avLst/>
            </a:prstGeom>
          </p:spPr>
        </p:pic>
        <p:cxnSp>
          <p:nvCxnSpPr>
            <p:cNvPr id="149" name="直線接點 148">
              <a:extLst>
                <a:ext uri="{FF2B5EF4-FFF2-40B4-BE49-F238E27FC236}">
                  <a16:creationId xmlns:a16="http://schemas.microsoft.com/office/drawing/2014/main" id="{0C395F5D-9EAE-788B-014B-53393C55F2B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1560" y="1942069"/>
              <a:ext cx="4849763" cy="9070"/>
            </a:xfrm>
            <a:prstGeom prst="line">
              <a:avLst/>
            </a:prstGeom>
            <a:grpFill/>
            <a:ln w="28575">
              <a:solidFill>
                <a:srgbClr val="29848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0F4DE459-D69D-04F6-B549-30723BF9AC3A}"/>
              </a:ext>
            </a:extLst>
          </p:cNvPr>
          <p:cNvGrpSpPr/>
          <p:nvPr/>
        </p:nvGrpSpPr>
        <p:grpSpPr>
          <a:xfrm>
            <a:off x="3317240" y="2488451"/>
            <a:ext cx="7960358" cy="976330"/>
            <a:chOff x="6131560" y="1236525"/>
            <a:chExt cx="5373195" cy="976330"/>
          </a:xfrm>
          <a:solidFill>
            <a:srgbClr val="298480"/>
          </a:solidFill>
        </p:grpSpPr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C4FD8290-ED5A-1742-5DC3-01B6793476EB}"/>
                </a:ext>
              </a:extLst>
            </p:cNvPr>
            <p:cNvCxnSpPr>
              <a:cxnSpLocks/>
            </p:cNvCxnSpPr>
            <p:nvPr/>
          </p:nvCxnSpPr>
          <p:spPr>
            <a:xfrm>
              <a:off x="6131560" y="1236525"/>
              <a:ext cx="0" cy="720000"/>
            </a:xfrm>
            <a:prstGeom prst="line">
              <a:avLst/>
            </a:prstGeom>
            <a:grpFill/>
            <a:ln w="28575">
              <a:solidFill>
                <a:srgbClr val="2086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3" name="圖形 152" descr="心跳">
              <a:extLst>
                <a:ext uri="{FF2B5EF4-FFF2-40B4-BE49-F238E27FC236}">
                  <a16:creationId xmlns:a16="http://schemas.microsoft.com/office/drawing/2014/main" id="{2452C81D-A2A9-C8A4-C8CA-EC83BCBCC3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0981323" y="1689423"/>
              <a:ext cx="523432" cy="523432"/>
            </a:xfrm>
            <a:prstGeom prst="rect">
              <a:avLst/>
            </a:prstGeom>
          </p:spPr>
        </p:pic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E5CF9575-3F13-E0E8-C382-9E60FD720D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1560" y="1942069"/>
              <a:ext cx="4849763" cy="9070"/>
            </a:xfrm>
            <a:prstGeom prst="line">
              <a:avLst/>
            </a:prstGeom>
            <a:grpFill/>
            <a:ln w="28575">
              <a:solidFill>
                <a:srgbClr val="2086AA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群組 154">
            <a:extLst>
              <a:ext uri="{FF2B5EF4-FFF2-40B4-BE49-F238E27FC236}">
                <a16:creationId xmlns:a16="http://schemas.microsoft.com/office/drawing/2014/main" id="{C546BC4A-E8F7-A6E4-9921-538378F772F6}"/>
              </a:ext>
            </a:extLst>
          </p:cNvPr>
          <p:cNvGrpSpPr/>
          <p:nvPr/>
        </p:nvGrpSpPr>
        <p:grpSpPr>
          <a:xfrm>
            <a:off x="3317240" y="3529303"/>
            <a:ext cx="7960358" cy="976330"/>
            <a:chOff x="6131560" y="1236525"/>
            <a:chExt cx="5373195" cy="976330"/>
          </a:xfrm>
          <a:solidFill>
            <a:srgbClr val="298480"/>
          </a:solidFill>
        </p:grpSpPr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573A87AF-E694-6EFC-5311-3167CD161780}"/>
                </a:ext>
              </a:extLst>
            </p:cNvPr>
            <p:cNvCxnSpPr>
              <a:cxnSpLocks/>
            </p:cNvCxnSpPr>
            <p:nvPr/>
          </p:nvCxnSpPr>
          <p:spPr>
            <a:xfrm>
              <a:off x="6131560" y="1236525"/>
              <a:ext cx="0" cy="720000"/>
            </a:xfrm>
            <a:prstGeom prst="line">
              <a:avLst/>
            </a:prstGeom>
            <a:grpFill/>
            <a:ln w="28575">
              <a:solidFill>
                <a:srgbClr val="5071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57" name="圖形 156" descr="心跳">
              <a:extLst>
                <a:ext uri="{FF2B5EF4-FFF2-40B4-BE49-F238E27FC236}">
                  <a16:creationId xmlns:a16="http://schemas.microsoft.com/office/drawing/2014/main" id="{40B9DC59-F102-B57F-7A5E-F65039F58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0981323" y="1689423"/>
              <a:ext cx="523432" cy="523432"/>
            </a:xfrm>
            <a:prstGeom prst="rect">
              <a:avLst/>
            </a:prstGeom>
          </p:spPr>
        </p:pic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F68835AA-CC9E-8D71-4802-3367AF6850E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1560" y="1942069"/>
              <a:ext cx="4849763" cy="9070"/>
            </a:xfrm>
            <a:prstGeom prst="line">
              <a:avLst/>
            </a:prstGeom>
            <a:grpFill/>
            <a:ln w="28575">
              <a:solidFill>
                <a:srgbClr val="5071A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9" name="群組 158">
            <a:extLst>
              <a:ext uri="{FF2B5EF4-FFF2-40B4-BE49-F238E27FC236}">
                <a16:creationId xmlns:a16="http://schemas.microsoft.com/office/drawing/2014/main" id="{4718B107-0942-56A5-A413-3FA536E1A1A1}"/>
              </a:ext>
            </a:extLst>
          </p:cNvPr>
          <p:cNvGrpSpPr/>
          <p:nvPr/>
        </p:nvGrpSpPr>
        <p:grpSpPr>
          <a:xfrm>
            <a:off x="3317240" y="4577092"/>
            <a:ext cx="7960358" cy="976330"/>
            <a:chOff x="6131560" y="1236525"/>
            <a:chExt cx="5373195" cy="976330"/>
          </a:xfrm>
          <a:solidFill>
            <a:srgbClr val="298480"/>
          </a:solidFill>
        </p:grpSpPr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B13D863A-247C-7816-F486-0E59753B3E1E}"/>
                </a:ext>
              </a:extLst>
            </p:cNvPr>
            <p:cNvCxnSpPr>
              <a:cxnSpLocks/>
            </p:cNvCxnSpPr>
            <p:nvPr/>
          </p:nvCxnSpPr>
          <p:spPr>
            <a:xfrm>
              <a:off x="6131560" y="1236525"/>
              <a:ext cx="0" cy="720000"/>
            </a:xfrm>
            <a:prstGeom prst="line">
              <a:avLst/>
            </a:prstGeom>
            <a:solidFill>
              <a:srgbClr val="606698"/>
            </a:solidFill>
            <a:ln w="28575">
              <a:solidFill>
                <a:srgbClr val="6066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1" name="圖形 160" descr="心跳">
              <a:extLst>
                <a:ext uri="{FF2B5EF4-FFF2-40B4-BE49-F238E27FC236}">
                  <a16:creationId xmlns:a16="http://schemas.microsoft.com/office/drawing/2014/main" id="{D4487A1F-E9E4-1274-5B90-F5124B95CE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10981323" y="1689423"/>
              <a:ext cx="523432" cy="523432"/>
            </a:xfrm>
            <a:prstGeom prst="rect">
              <a:avLst/>
            </a:prstGeom>
          </p:spPr>
        </p:pic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471C5C66-085F-2A4B-59C3-9A3B3B63969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31560" y="1942069"/>
              <a:ext cx="4849763" cy="9070"/>
            </a:xfrm>
            <a:prstGeom prst="line">
              <a:avLst/>
            </a:prstGeom>
            <a:solidFill>
              <a:srgbClr val="606698"/>
            </a:solidFill>
            <a:ln w="28575">
              <a:solidFill>
                <a:srgbClr val="606698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3" name="群組 162">
            <a:extLst>
              <a:ext uri="{FF2B5EF4-FFF2-40B4-BE49-F238E27FC236}">
                <a16:creationId xmlns:a16="http://schemas.microsoft.com/office/drawing/2014/main" id="{EE4D7746-0310-09F6-CF7C-9FFE3783E60A}"/>
              </a:ext>
            </a:extLst>
          </p:cNvPr>
          <p:cNvGrpSpPr/>
          <p:nvPr/>
        </p:nvGrpSpPr>
        <p:grpSpPr>
          <a:xfrm>
            <a:off x="3317239" y="5621078"/>
            <a:ext cx="4071339" cy="971565"/>
            <a:chOff x="6131560" y="1236525"/>
            <a:chExt cx="2748130" cy="971565"/>
          </a:xfrm>
          <a:solidFill>
            <a:srgbClr val="298480"/>
          </a:solidFill>
        </p:grpSpPr>
        <p:cxnSp>
          <p:nvCxnSpPr>
            <p:cNvPr id="164" name="直線接點 163">
              <a:extLst>
                <a:ext uri="{FF2B5EF4-FFF2-40B4-BE49-F238E27FC236}">
                  <a16:creationId xmlns:a16="http://schemas.microsoft.com/office/drawing/2014/main" id="{184E3B9F-19E7-8E53-6C90-78EAB527DC20}"/>
                </a:ext>
              </a:extLst>
            </p:cNvPr>
            <p:cNvCxnSpPr>
              <a:cxnSpLocks/>
            </p:cNvCxnSpPr>
            <p:nvPr/>
          </p:nvCxnSpPr>
          <p:spPr>
            <a:xfrm>
              <a:off x="6131560" y="1236525"/>
              <a:ext cx="0" cy="720000"/>
            </a:xfrm>
            <a:prstGeom prst="line">
              <a:avLst/>
            </a:prstGeom>
            <a:grpFill/>
            <a:ln w="28575">
              <a:solidFill>
                <a:srgbClr val="9145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65" name="圖形 164" descr="心跳">
              <a:extLst>
                <a:ext uri="{FF2B5EF4-FFF2-40B4-BE49-F238E27FC236}">
                  <a16:creationId xmlns:a16="http://schemas.microsoft.com/office/drawing/2014/main" id="{FCAB0048-4173-50F5-A1A6-146AB89866D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8356258" y="1684658"/>
              <a:ext cx="523432" cy="523432"/>
            </a:xfrm>
            <a:prstGeom prst="rect">
              <a:avLst/>
            </a:prstGeom>
          </p:spPr>
        </p:pic>
        <p:cxnSp>
          <p:nvCxnSpPr>
            <p:cNvPr id="166" name="直線接點 165">
              <a:extLst>
                <a:ext uri="{FF2B5EF4-FFF2-40B4-BE49-F238E27FC236}">
                  <a16:creationId xmlns:a16="http://schemas.microsoft.com/office/drawing/2014/main" id="{BD474A5B-82A6-E6E6-9E4C-70513FAAE352}"/>
                </a:ext>
              </a:extLst>
            </p:cNvPr>
            <p:cNvCxnSpPr>
              <a:cxnSpLocks/>
              <a:stCxn id="165" idx="1"/>
            </p:cNvCxnSpPr>
            <p:nvPr/>
          </p:nvCxnSpPr>
          <p:spPr>
            <a:xfrm flipH="1" flipV="1">
              <a:off x="6131560" y="1942069"/>
              <a:ext cx="2224698" cy="4305"/>
            </a:xfrm>
            <a:prstGeom prst="line">
              <a:avLst/>
            </a:prstGeom>
            <a:grpFill/>
            <a:ln w="28575">
              <a:solidFill>
                <a:srgbClr val="9145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DFBA6E22-6C9F-5728-4A2B-CAA1E16F8227}"/>
              </a:ext>
            </a:extLst>
          </p:cNvPr>
          <p:cNvSpPr txBox="1"/>
          <p:nvPr/>
        </p:nvSpPr>
        <p:spPr>
          <a:xfrm>
            <a:off x="3317240" y="2516991"/>
            <a:ext cx="79603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切分資料窗口大小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3600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秒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overlap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大小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50%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，並除去缺損資料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每組窗口資料減去其平均值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基線修正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9851CC2F-5311-C096-8DC8-ADEBCAA979FC}"/>
              </a:ext>
            </a:extLst>
          </p:cNvPr>
          <p:cNvSpPr txBox="1"/>
          <p:nvPr/>
        </p:nvSpPr>
        <p:spPr>
          <a:xfrm>
            <a:off x="3317235" y="3566959"/>
            <a:ext cx="7960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計算離散傅立葉轉換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(DFT)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，將經過漢明窗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(Hamming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Window)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之時間域離散資料轉換成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頻率域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離散資料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6A8AB76-137C-5C4B-717F-49325047F185}"/>
                  </a:ext>
                </a:extLst>
              </p:cNvPr>
              <p:cNvSpPr txBox="1"/>
              <p:nvPr/>
            </p:nvSpPr>
            <p:spPr>
              <a:xfrm>
                <a:off x="3317237" y="4453689"/>
                <a:ext cx="7960361" cy="8001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功率譜密度</a:t>
                </a:r>
                <a14:m>
                  <m:oMath xmlns:m="http://schemas.openxmlformats.org/officeDocument/2006/math">
                    <m:r>
                      <a:rPr lang="en-US" altLang="zh-TW" i="1">
                        <a:latin typeface="Cambria Math" panose="02040503050406030204" pitchFamily="18" charset="0"/>
                      </a:rPr>
                      <m:t>𝑃𝑆𝐷</m:t>
                    </m:r>
                    <m:d>
                      <m:d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N</m:t>
                        </m:r>
                      </m:den>
                    </m:f>
                  </m:oMath>
                </a14:m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，其中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X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(</m:t>
                    </m:r>
                    <m:r>
                      <a:rPr lang="en-US" altLang="zh-TW" b="0" i="1" dirty="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𝑓</m:t>
                    </m:r>
                    <m:r>
                      <a:rPr lang="en-US" altLang="zh-TW" i="1" dirty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)</m:t>
                    </m:r>
                  </m:oMath>
                </a14:m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為頻率域資料，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TW" i="1" dirty="0" smtClean="0">
                        <a:latin typeface="Cambria Math" panose="02040503050406030204" pitchFamily="18" charset="0"/>
                        <a:ea typeface="微軟正黑體" panose="020B0604030504040204" pitchFamily="34" charset="-120"/>
                      </a:rPr>
                      <m:t>N</m:t>
                    </m:r>
                  </m:oMath>
                </a14:m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為資料點數量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  <a:p>
                <a:r>
                  <a:rPr lang="zh-TW" altLang="en-US" b="1" dirty="0">
                    <a:solidFill>
                      <a:srgbClr val="FF0000"/>
                    </a:solidFill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頻帶功率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TW" i="1">
                            <a:latin typeface="Cambria Math" panose="02040503050406030204" pitchFamily="18" charset="0"/>
                          </a:rPr>
                          <m:t>B</m:t>
                        </m:r>
                        <m:r>
                          <m:rPr>
                            <m:sty m:val="p"/>
                          </m:rPr>
                          <a:rPr lang="en-US" altLang="zh-TW" i="1" smtClean="0">
                            <a:latin typeface="Cambria Math" panose="02040503050406030204" pitchFamily="18" charset="0"/>
                          </a:rPr>
                          <m:t>P</m:t>
                        </m:r>
                      </m:e>
                      <m:sub>
                        <m:sSup>
                          <m:sSup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</m:sSub>
                    <m:d>
                      <m:dPr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d>
                    <m:r>
                      <a:rPr lang="en-US" altLang="zh-TW" sz="18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zh-TW" altLang="en-US" sz="1800" b="0" i="1" smtClean="0">
                                <a:latin typeface="Cambria Math" panose="02040503050406030204" pitchFamily="18" charset="0"/>
                              </a:rPr>
                              <m:t>𝜔</m:t>
                            </m:r>
                          </m:e>
                          <m:sup>
                            <m:r>
                              <a:rPr lang="en-US" altLang="zh-TW" sz="1800" b="0" i="1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sub>
                      <m:sup/>
                      <m:e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𝑃𝑆𝐷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zh-TW" sz="18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，其中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p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</m:oMath>
                </a14:m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為特定頻帶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46A8AB76-137C-5C4B-717F-49325047F1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237" y="4453689"/>
                <a:ext cx="7960361" cy="800155"/>
              </a:xfrm>
              <a:prstGeom prst="rect">
                <a:avLst/>
              </a:prstGeom>
              <a:blipFill>
                <a:blip r:embed="rId13"/>
                <a:stretch>
                  <a:fillRect l="-613" t="-1527" b="-8626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字方塊 3">
            <a:extLst>
              <a:ext uri="{FF2B5EF4-FFF2-40B4-BE49-F238E27FC236}">
                <a16:creationId xmlns:a16="http://schemas.microsoft.com/office/drawing/2014/main" id="{13699E3D-3867-C1DD-B44D-DE5E5D25D193}"/>
              </a:ext>
            </a:extLst>
          </p:cNvPr>
          <p:cNvSpPr txBox="1"/>
          <p:nvPr/>
        </p:nvSpPr>
        <p:spPr>
          <a:xfrm>
            <a:off x="3317236" y="5612352"/>
            <a:ext cx="79603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由於沒有類別標籤，所以採用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K-Means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非監督式機器學習方法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六筆測站資料為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六個特徵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，並設定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3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種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分類類別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(K=3)</a:t>
            </a:r>
          </a:p>
        </p:txBody>
      </p:sp>
    </p:spTree>
    <p:extLst>
      <p:ext uri="{BB962C8B-B14F-4D97-AF65-F5344CB8AC3E}">
        <p14:creationId xmlns:p14="http://schemas.microsoft.com/office/powerpoint/2010/main" val="240708199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4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Preliminary Results – </a:t>
            </a:r>
            <a:r>
              <a:rPr lang="en-US" altLang="zh-TW" sz="3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Time, Frequency, Spectrogram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4D41503-4A8C-43AC-A123-4BABE90ABDC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453"/>
          <a:stretch/>
        </p:blipFill>
        <p:spPr>
          <a:xfrm>
            <a:off x="142875" y="1092176"/>
            <a:ext cx="5295900" cy="266487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FBFCD28-2009-81FC-3B79-8158CF9D845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08" t="33611" r="7917" b="33472"/>
          <a:stretch/>
        </p:blipFill>
        <p:spPr>
          <a:xfrm>
            <a:off x="142875" y="3757052"/>
            <a:ext cx="5295900" cy="3099081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A74B880-F52B-5691-F8BC-5D3DA6C02E2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92" t="66389" r="8125"/>
          <a:stretch/>
        </p:blipFill>
        <p:spPr>
          <a:xfrm>
            <a:off x="6210298" y="968351"/>
            <a:ext cx="5295600" cy="3156489"/>
          </a:xfrm>
          <a:prstGeom prst="rect">
            <a:avLst/>
          </a:prstGeom>
        </p:spPr>
      </p:pic>
      <p:sp>
        <p:nvSpPr>
          <p:cNvPr id="3" name="圖說文字: 向下箭號 2">
            <a:extLst>
              <a:ext uri="{FF2B5EF4-FFF2-40B4-BE49-F238E27FC236}">
                <a16:creationId xmlns:a16="http://schemas.microsoft.com/office/drawing/2014/main" id="{C102A3F8-1808-0B9E-5A33-4C97E803ED40}"/>
              </a:ext>
            </a:extLst>
          </p:cNvPr>
          <p:cNvSpPr/>
          <p:nvPr/>
        </p:nvSpPr>
        <p:spPr>
          <a:xfrm>
            <a:off x="6720061" y="4437004"/>
            <a:ext cx="4276073" cy="914400"/>
          </a:xfrm>
          <a:prstGeom prst="downArrowCallout">
            <a:avLst/>
          </a:prstGeom>
          <a:solidFill>
            <a:srgbClr val="91457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時域圖、頻域圖、時頻圖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6C751368-2B02-90F3-4E93-38A7C4C2C2F2}"/>
              </a:ext>
            </a:extLst>
          </p:cNvPr>
          <p:cNvSpPr txBox="1"/>
          <p:nvPr/>
        </p:nvSpPr>
        <p:spPr>
          <a:xfrm>
            <a:off x="7868082" y="5501643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特徵不明顯</a:t>
            </a:r>
          </a:p>
        </p:txBody>
      </p:sp>
    </p:spTree>
    <p:extLst>
      <p:ext uri="{BB962C8B-B14F-4D97-AF65-F5344CB8AC3E}">
        <p14:creationId xmlns:p14="http://schemas.microsoft.com/office/powerpoint/2010/main" val="4005778479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5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Preliminary Results – </a:t>
            </a:r>
            <a:r>
              <a:rPr lang="en-US" altLang="zh-TW" sz="3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Power Spectral Density Plot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77" name="圖片 176">
            <a:extLst>
              <a:ext uri="{FF2B5EF4-FFF2-40B4-BE49-F238E27FC236}">
                <a16:creationId xmlns:a16="http://schemas.microsoft.com/office/drawing/2014/main" id="{1F7ADA03-8BE2-7AA8-D272-92CFCEEDE87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29" t="11388" r="9629" b="4187"/>
          <a:stretch/>
        </p:blipFill>
        <p:spPr>
          <a:xfrm>
            <a:off x="3757828" y="1531544"/>
            <a:ext cx="6342684" cy="4288593"/>
          </a:xfrm>
          <a:prstGeom prst="rect">
            <a:avLst/>
          </a:prstGeom>
        </p:spPr>
      </p:pic>
      <p:grpSp>
        <p:nvGrpSpPr>
          <p:cNvPr id="222" name="群組 221">
            <a:extLst>
              <a:ext uri="{FF2B5EF4-FFF2-40B4-BE49-F238E27FC236}">
                <a16:creationId xmlns:a16="http://schemas.microsoft.com/office/drawing/2014/main" id="{636BA3C0-13D3-CC6A-8A5A-54BA3D23B26D}"/>
              </a:ext>
            </a:extLst>
          </p:cNvPr>
          <p:cNvGrpSpPr/>
          <p:nvPr/>
        </p:nvGrpSpPr>
        <p:grpSpPr>
          <a:xfrm>
            <a:off x="4715170" y="1601620"/>
            <a:ext cx="1982209" cy="875751"/>
            <a:chOff x="7562366" y="1149749"/>
            <a:chExt cx="1982209" cy="875751"/>
          </a:xfrm>
        </p:grpSpPr>
        <p:grpSp>
          <p:nvGrpSpPr>
            <p:cNvPr id="178" name="群組 177">
              <a:extLst>
                <a:ext uri="{FF2B5EF4-FFF2-40B4-BE49-F238E27FC236}">
                  <a16:creationId xmlns:a16="http://schemas.microsoft.com/office/drawing/2014/main" id="{72852171-14C5-47C7-53B2-28E01049399A}"/>
                </a:ext>
              </a:extLst>
            </p:cNvPr>
            <p:cNvGrpSpPr/>
            <p:nvPr/>
          </p:nvGrpSpPr>
          <p:grpSpPr>
            <a:xfrm>
              <a:off x="7562366" y="1149749"/>
              <a:ext cx="1982209" cy="875751"/>
              <a:chOff x="10355281" y="5270719"/>
              <a:chExt cx="1982209" cy="875751"/>
            </a:xfrm>
          </p:grpSpPr>
          <p:grpSp>
            <p:nvGrpSpPr>
              <p:cNvPr id="183" name="群組 182">
                <a:extLst>
                  <a:ext uri="{FF2B5EF4-FFF2-40B4-BE49-F238E27FC236}">
                    <a16:creationId xmlns:a16="http://schemas.microsoft.com/office/drawing/2014/main" id="{CA1716EF-05C3-167C-B780-5BBCE7F34448}"/>
                  </a:ext>
                </a:extLst>
              </p:cNvPr>
              <p:cNvGrpSpPr/>
              <p:nvPr/>
            </p:nvGrpSpPr>
            <p:grpSpPr>
              <a:xfrm>
                <a:off x="10355281" y="5270719"/>
                <a:ext cx="1893980" cy="369332"/>
                <a:chOff x="10355281" y="5270719"/>
                <a:chExt cx="1893980" cy="369332"/>
              </a:xfrm>
            </p:grpSpPr>
            <p:sp>
              <p:nvSpPr>
                <p:cNvPr id="189" name="文字方塊 188">
                  <a:extLst>
                    <a:ext uri="{FF2B5EF4-FFF2-40B4-BE49-F238E27FC236}">
                      <a16:creationId xmlns:a16="http://schemas.microsoft.com/office/drawing/2014/main" id="{283DA8C4-0390-036B-D105-9F102D86C466}"/>
                    </a:ext>
                  </a:extLst>
                </p:cNvPr>
                <p:cNvSpPr txBox="1"/>
                <p:nvPr/>
              </p:nvSpPr>
              <p:spPr>
                <a:xfrm>
                  <a:off x="10355281" y="5270719"/>
                  <a:ext cx="189398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dirty="0">
                      <a:solidFill>
                        <a:srgbClr val="808080"/>
                      </a:solidFill>
                    </a:rPr>
                    <a:t>SYK05 PSD History</a:t>
                  </a:r>
                  <a:endParaRPr lang="zh-TW" altLang="en-US" dirty="0">
                    <a:solidFill>
                      <a:srgbClr val="808080"/>
                    </a:solidFill>
                  </a:endParaRPr>
                </a:p>
              </p:txBody>
            </p:sp>
            <p:cxnSp>
              <p:nvCxnSpPr>
                <p:cNvPr id="191" name="直線接點 190">
                  <a:extLst>
                    <a:ext uri="{FF2B5EF4-FFF2-40B4-BE49-F238E27FC236}">
                      <a16:creationId xmlns:a16="http://schemas.microsoft.com/office/drawing/2014/main" id="{6B5D1561-49C0-3922-599D-2A9717AA54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0431369" y="5628472"/>
                  <a:ext cx="1718906" cy="0"/>
                </a:xfrm>
                <a:prstGeom prst="line">
                  <a:avLst/>
                </a:prstGeom>
                <a:solidFill>
                  <a:srgbClr val="274949"/>
                </a:solidFill>
                <a:ln w="28575">
                  <a:solidFill>
                    <a:srgbClr val="80808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85" name="文字方塊 184">
                <a:extLst>
                  <a:ext uri="{FF2B5EF4-FFF2-40B4-BE49-F238E27FC236}">
                    <a16:creationId xmlns:a16="http://schemas.microsoft.com/office/drawing/2014/main" id="{D5500B4C-4B25-B360-B034-C104C49E8C73}"/>
                  </a:ext>
                </a:extLst>
              </p:cNvPr>
              <p:cNvSpPr txBox="1"/>
              <p:nvPr/>
            </p:nvSpPr>
            <p:spPr>
              <a:xfrm>
                <a:off x="10355281" y="5777138"/>
                <a:ext cx="198220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dirty="0">
                    <a:solidFill>
                      <a:srgbClr val="1F77B4"/>
                    </a:solidFill>
                  </a:rPr>
                  <a:t>SYK05 PSD Average</a:t>
                </a:r>
                <a:endParaRPr lang="zh-TW" altLang="en-US" dirty="0">
                  <a:solidFill>
                    <a:srgbClr val="1F77B4"/>
                  </a:solidFill>
                </a:endParaRPr>
              </a:p>
            </p:txBody>
          </p:sp>
        </p:grpSp>
        <p:cxnSp>
          <p:nvCxnSpPr>
            <p:cNvPr id="210" name="直線接點 209">
              <a:extLst>
                <a:ext uri="{FF2B5EF4-FFF2-40B4-BE49-F238E27FC236}">
                  <a16:creationId xmlns:a16="http://schemas.microsoft.com/office/drawing/2014/main" id="{D22D0B38-BB82-7F51-1BD0-7B1C675BA8EB}"/>
                </a:ext>
              </a:extLst>
            </p:cNvPr>
            <p:cNvCxnSpPr>
              <a:cxnSpLocks/>
            </p:cNvCxnSpPr>
            <p:nvPr/>
          </p:nvCxnSpPr>
          <p:spPr>
            <a:xfrm>
              <a:off x="7638454" y="2025500"/>
              <a:ext cx="1718906" cy="0"/>
            </a:xfrm>
            <a:prstGeom prst="line">
              <a:avLst/>
            </a:prstGeom>
            <a:solidFill>
              <a:srgbClr val="274949"/>
            </a:solidFill>
            <a:ln w="28575">
              <a:solidFill>
                <a:srgbClr val="1F77B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11" name="圖片 210">
            <a:extLst>
              <a:ext uri="{FF2B5EF4-FFF2-40B4-BE49-F238E27FC236}">
                <a16:creationId xmlns:a16="http://schemas.microsoft.com/office/drawing/2014/main" id="{D947E3BC-1F9C-78E1-6293-FE9088606A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504" t="40113" r="32560" b="29983"/>
          <a:stretch/>
        </p:blipFill>
        <p:spPr>
          <a:xfrm>
            <a:off x="8501298" y="2652084"/>
            <a:ext cx="3565923" cy="3565923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sp>
        <p:nvSpPr>
          <p:cNvPr id="213" name="橢圓 212">
            <a:extLst>
              <a:ext uri="{FF2B5EF4-FFF2-40B4-BE49-F238E27FC236}">
                <a16:creationId xmlns:a16="http://schemas.microsoft.com/office/drawing/2014/main" id="{82D258FA-5A99-2603-53BA-B9C18E0A46C3}"/>
              </a:ext>
            </a:extLst>
          </p:cNvPr>
          <p:cNvSpPr/>
          <p:nvPr/>
        </p:nvSpPr>
        <p:spPr>
          <a:xfrm>
            <a:off x="6932745" y="3010805"/>
            <a:ext cx="1423925" cy="1423925"/>
          </a:xfrm>
          <a:prstGeom prst="ellipse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5" name="直線接點 214">
            <a:extLst>
              <a:ext uri="{FF2B5EF4-FFF2-40B4-BE49-F238E27FC236}">
                <a16:creationId xmlns:a16="http://schemas.microsoft.com/office/drawing/2014/main" id="{C2DA15B6-787B-29A9-6884-D6C629F55B01}"/>
              </a:ext>
            </a:extLst>
          </p:cNvPr>
          <p:cNvCxnSpPr>
            <a:cxnSpLocks/>
          </p:cNvCxnSpPr>
          <p:nvPr/>
        </p:nvCxnSpPr>
        <p:spPr>
          <a:xfrm flipV="1">
            <a:off x="7463790" y="2652084"/>
            <a:ext cx="2636722" cy="378771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直線接點 218">
            <a:extLst>
              <a:ext uri="{FF2B5EF4-FFF2-40B4-BE49-F238E27FC236}">
                <a16:creationId xmlns:a16="http://schemas.microsoft.com/office/drawing/2014/main" id="{0982D011-6E8E-7589-90C5-BCCBC3637E2E}"/>
              </a:ext>
            </a:extLst>
          </p:cNvPr>
          <p:cNvCxnSpPr>
            <a:cxnSpLocks/>
          </p:cNvCxnSpPr>
          <p:nvPr/>
        </p:nvCxnSpPr>
        <p:spPr>
          <a:xfrm>
            <a:off x="7239000" y="4306992"/>
            <a:ext cx="2023110" cy="15600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文字方塊 224">
            <a:extLst>
              <a:ext uri="{FF2B5EF4-FFF2-40B4-BE49-F238E27FC236}">
                <a16:creationId xmlns:a16="http://schemas.microsoft.com/office/drawing/2014/main" id="{AB385923-2165-0419-31B8-F1344249FF6C}"/>
              </a:ext>
            </a:extLst>
          </p:cNvPr>
          <p:cNvSpPr txBox="1"/>
          <p:nvPr/>
        </p:nvSpPr>
        <p:spPr>
          <a:xfrm>
            <a:off x="8503383" y="1367045"/>
            <a:ext cx="3387241" cy="523220"/>
          </a:xfrm>
          <a:prstGeom prst="rect">
            <a:avLst/>
          </a:prstGeom>
          <a:solidFill>
            <a:srgbClr val="91457E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能量波動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25~35 Hz 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33" name="文字方塊 232">
            <a:extLst>
              <a:ext uri="{FF2B5EF4-FFF2-40B4-BE49-F238E27FC236}">
                <a16:creationId xmlns:a16="http://schemas.microsoft.com/office/drawing/2014/main" id="{CAEA3B8E-09CA-3F43-EDE8-5CC71B9E02AE}"/>
              </a:ext>
            </a:extLst>
          </p:cNvPr>
          <p:cNvSpPr txBox="1"/>
          <p:nvPr/>
        </p:nvSpPr>
        <p:spPr>
          <a:xfrm>
            <a:off x="4613704" y="1263066"/>
            <a:ext cx="20836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SYK05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測站資料為例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275B021-A81B-C9BC-D014-1CD0684AFCD6}"/>
              </a:ext>
            </a:extLst>
          </p:cNvPr>
          <p:cNvSpPr txBox="1"/>
          <p:nvPr/>
        </p:nvSpPr>
        <p:spPr>
          <a:xfrm>
            <a:off x="301376" y="1385080"/>
            <a:ext cx="3387241" cy="523220"/>
          </a:xfrm>
          <a:prstGeom prst="rect">
            <a:avLst/>
          </a:prstGeom>
          <a:solidFill>
            <a:srgbClr val="91457E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zh-TW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pPr algn="ctr"/>
            <a:r>
              <a:rPr lang="zh-TW" altLang="en-US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參考文獻 </a:t>
            </a:r>
            <a:r>
              <a:rPr lang="en-US" altLang="zh-TW" sz="2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0.5~3 Hz</a:t>
            </a:r>
            <a:endParaRPr lang="zh-TW" altLang="en-US" sz="2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22C6D16A-417D-B5C3-3C91-B0A7A1E085C3}"/>
              </a:ext>
            </a:extLst>
          </p:cNvPr>
          <p:cNvSpPr txBox="1"/>
          <p:nvPr/>
        </p:nvSpPr>
        <p:spPr>
          <a:xfrm>
            <a:off x="0" y="6334780"/>
            <a:ext cx="71913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參考文獻：</a:t>
            </a:r>
            <a:r>
              <a:rPr lang="en-US" altLang="zh-TW" sz="1400" dirty="0">
                <a:ea typeface="微軟正黑體" panose="020B0604030504040204" pitchFamily="34" charset="-120"/>
              </a:rPr>
              <a:t>[1] </a:t>
            </a:r>
            <a:r>
              <a:rPr lang="en-US" altLang="zh-TW" sz="1400" b="0" i="0" dirty="0">
                <a:solidFill>
                  <a:srgbClr val="333333"/>
                </a:solidFill>
                <a:effectLst/>
              </a:rPr>
              <a:t>Daivid Fee., Milton </a:t>
            </a:r>
            <a:r>
              <a:rPr lang="en-US" altLang="zh-TW" sz="1400" b="0" i="0" dirty="0" err="1">
                <a:solidFill>
                  <a:srgbClr val="333333"/>
                </a:solidFill>
                <a:effectLst/>
              </a:rPr>
              <a:t>Garcés</a:t>
            </a:r>
            <a:r>
              <a:rPr lang="en-US" altLang="zh-TW" sz="1400" b="0" i="0" dirty="0">
                <a:solidFill>
                  <a:srgbClr val="333333"/>
                </a:solidFill>
                <a:effectLst/>
              </a:rPr>
              <a:t>. Infrasonic tremor in the diffraction zone. </a:t>
            </a:r>
            <a:r>
              <a:rPr lang="en-US" altLang="zh-TW" sz="1400" b="0" i="1" dirty="0">
                <a:solidFill>
                  <a:srgbClr val="333333"/>
                </a:solidFill>
                <a:effectLst/>
              </a:rPr>
              <a:t>Geophysical Research Letters</a:t>
            </a:r>
            <a:r>
              <a:rPr lang="en-US" altLang="zh-TW" sz="1400" dirty="0">
                <a:solidFill>
                  <a:srgbClr val="333333"/>
                </a:solidFill>
              </a:rPr>
              <a:t>, </a:t>
            </a:r>
            <a:r>
              <a:rPr lang="en-US" altLang="zh-TW" sz="1400" b="0" i="0" dirty="0">
                <a:solidFill>
                  <a:srgbClr val="333333"/>
                </a:solidFill>
                <a:effectLst/>
              </a:rPr>
              <a:t>Vol. 34, L16826,</a:t>
            </a:r>
            <a:r>
              <a:rPr lang="zh-TW" altLang="en-US" sz="1400" b="0" i="0" dirty="0">
                <a:solidFill>
                  <a:srgbClr val="333333"/>
                </a:solidFill>
                <a:effectLst/>
              </a:rPr>
              <a:t> </a:t>
            </a:r>
            <a:r>
              <a:rPr lang="en-US" altLang="zh-TW" sz="1400" b="0" i="0" dirty="0" err="1">
                <a:solidFill>
                  <a:srgbClr val="333333"/>
                </a:solidFill>
                <a:effectLst/>
              </a:rPr>
              <a:t>doi</a:t>
            </a:r>
            <a:r>
              <a:rPr lang="en-US" altLang="zh-TW" sz="1400" dirty="0" err="1">
                <a:solidFill>
                  <a:srgbClr val="333333"/>
                </a:solidFill>
              </a:rPr>
              <a:t>:</a:t>
            </a:r>
            <a:r>
              <a:rPr lang="en-US" altLang="zh-TW" sz="1400" b="0" i="0" dirty="0" err="1">
                <a:solidFill>
                  <a:srgbClr val="333333"/>
                </a:solidFill>
                <a:effectLst/>
                <a:hlinkClick r:id="rId4"/>
              </a:rPr>
              <a:t>https</a:t>
            </a:r>
            <a:r>
              <a:rPr lang="en-US" altLang="zh-TW" sz="1400" b="0" i="0" dirty="0">
                <a:solidFill>
                  <a:srgbClr val="333333"/>
                </a:solidFill>
                <a:effectLst/>
                <a:hlinkClick r:id="rId4"/>
              </a:rPr>
              <a:t>://doi.org/10.1029/2007GL030616</a:t>
            </a:r>
            <a:r>
              <a:rPr lang="en-US" altLang="zh-TW" sz="1400" b="0" i="0" dirty="0">
                <a:solidFill>
                  <a:srgbClr val="333333"/>
                </a:solidFill>
                <a:effectLst/>
              </a:rPr>
              <a:t>, 2017</a:t>
            </a:r>
            <a:endParaRPr lang="zh-TW" altLang="en-US" sz="1400" dirty="0">
              <a:ea typeface="微軟正黑體" panose="020B0604030504040204" pitchFamily="34" charset="-120"/>
            </a:endParaRPr>
          </a:p>
        </p:txBody>
      </p: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624F4C73-4D47-6D98-5B95-8C9FE99E57CF}"/>
              </a:ext>
            </a:extLst>
          </p:cNvPr>
          <p:cNvGrpSpPr/>
          <p:nvPr/>
        </p:nvGrpSpPr>
        <p:grpSpPr>
          <a:xfrm>
            <a:off x="289946" y="1956368"/>
            <a:ext cx="3398671" cy="1582817"/>
            <a:chOff x="6117867" y="974809"/>
            <a:chExt cx="3398671" cy="1582817"/>
          </a:xfrm>
        </p:grpSpPr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47BAAE3B-4BA1-0EDB-2A1C-90F892CB118D}"/>
                </a:ext>
              </a:extLst>
            </p:cNvPr>
            <p:cNvSpPr txBox="1"/>
            <p:nvPr/>
          </p:nvSpPr>
          <p:spPr>
            <a:xfrm>
              <a:off x="6180720" y="1357297"/>
              <a:ext cx="3335817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根據文獻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[1]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描述，火山次聲波頻譜強度在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0.5~3 Hz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之間較為集中，所以選擇此感興趣頻帶深入調查</a:t>
              </a:r>
              <a:endParaRPr lang="zh-TW" altLang="en-US" dirty="0"/>
            </a:p>
          </p:txBody>
        </p:sp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F8E14169-79A2-EDDB-4D71-2010F8B98D77}"/>
                </a:ext>
              </a:extLst>
            </p:cNvPr>
            <p:cNvGrpSpPr/>
            <p:nvPr/>
          </p:nvGrpSpPr>
          <p:grpSpPr>
            <a:xfrm>
              <a:off x="6117867" y="974809"/>
              <a:ext cx="3398671" cy="1582817"/>
              <a:chOff x="6117867" y="974809"/>
              <a:chExt cx="3398671" cy="1582817"/>
            </a:xfrm>
          </p:grpSpPr>
          <p:cxnSp>
            <p:nvCxnSpPr>
              <p:cNvPr id="35" name="直線接點 34">
                <a:extLst>
                  <a:ext uri="{FF2B5EF4-FFF2-40B4-BE49-F238E27FC236}">
                    <a16:creationId xmlns:a16="http://schemas.microsoft.com/office/drawing/2014/main" id="{B6F54859-4584-0EFC-F4F7-623E4141C38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321101"/>
              </a:xfrm>
              <a:prstGeom prst="line">
                <a:avLst/>
              </a:prstGeom>
              <a:solidFill>
                <a:srgbClr val="91457E"/>
              </a:solidFill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6" name="圖形 35" descr="心跳">
                <a:extLst>
                  <a:ext uri="{FF2B5EF4-FFF2-40B4-BE49-F238E27FC236}">
                    <a16:creationId xmlns:a16="http://schemas.microsoft.com/office/drawing/2014/main" id="{2AAD219B-6EE6-721A-B6D2-F7BE6A7481D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8569812" y="974809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37" name="直線單箭頭接點 36">
                <a:extLst>
                  <a:ext uri="{FF2B5EF4-FFF2-40B4-BE49-F238E27FC236}">
                    <a16:creationId xmlns:a16="http://schemas.microsoft.com/office/drawing/2014/main" id="{74780CFB-6715-5783-B3BF-E499EA456BC4}"/>
                  </a:ext>
                </a:extLst>
              </p:cNvPr>
              <p:cNvCxnSpPr>
                <a:cxnSpLocks/>
                <a:stCxn id="36" idx="3"/>
              </p:cNvCxnSpPr>
              <p:nvPr/>
            </p:nvCxnSpPr>
            <p:spPr>
              <a:xfrm>
                <a:off x="9093244" y="1236525"/>
                <a:ext cx="423294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rgbClr val="91457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接點 37">
                <a:extLst>
                  <a:ext uri="{FF2B5EF4-FFF2-40B4-BE49-F238E27FC236}">
                    <a16:creationId xmlns:a16="http://schemas.microsoft.com/office/drawing/2014/main" id="{DB9A4BDB-2A73-3CE4-FA49-72E46E69F284}"/>
                  </a:ext>
                </a:extLst>
              </p:cNvPr>
              <p:cNvCxnSpPr>
                <a:cxnSpLocks/>
                <a:stCxn id="36" idx="1"/>
              </p:cNvCxnSpPr>
              <p:nvPr/>
            </p:nvCxnSpPr>
            <p:spPr>
              <a:xfrm flipH="1">
                <a:off x="6117867" y="1236525"/>
                <a:ext cx="2451945" cy="0"/>
              </a:xfrm>
              <a:prstGeom prst="line">
                <a:avLst/>
              </a:prstGeom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2555779895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06B71B9B-C320-921A-816B-EE7D1B6D858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15" t="11726" r="9756" b="5929"/>
          <a:stretch/>
        </p:blipFill>
        <p:spPr>
          <a:xfrm>
            <a:off x="-2877" y="1526812"/>
            <a:ext cx="6094800" cy="407390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109025ED-40BF-544B-80F5-E0504449465E}"/>
              </a:ext>
            </a:extLst>
          </p:cNvPr>
          <p:cNvSpPr/>
          <p:nvPr/>
        </p:nvSpPr>
        <p:spPr>
          <a:xfrm>
            <a:off x="889737" y="5736687"/>
            <a:ext cx="10800000" cy="540000"/>
          </a:xfrm>
          <a:prstGeom prst="rect">
            <a:avLst/>
          </a:prstGeom>
          <a:solidFill>
            <a:srgbClr val="91457E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6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Preliminary Results – </a:t>
            </a:r>
            <a:r>
              <a:rPr lang="en-US" altLang="zh-TW" sz="31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Band Power Plot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62B21AB1-81AE-2E39-EBFC-9A9B5BD38B23}"/>
              </a:ext>
            </a:extLst>
          </p:cNvPr>
          <p:cNvSpPr txBox="1"/>
          <p:nvPr/>
        </p:nvSpPr>
        <p:spPr>
          <a:xfrm>
            <a:off x="36193" y="1167052"/>
            <a:ext cx="1072730" cy="307777"/>
          </a:xfrm>
          <a:prstGeom prst="rect">
            <a:avLst/>
          </a:prstGeom>
          <a:solidFill>
            <a:srgbClr val="91457E"/>
          </a:solidFill>
          <a:ln w="38100">
            <a:solidFill>
              <a:srgbClr val="91457E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/>
                </a:solidFill>
              </a:rPr>
              <a:t>03/03 00:00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3076311-BA01-C4D5-8CBB-E8474D190471}"/>
              </a:ext>
            </a:extLst>
          </p:cNvPr>
          <p:cNvSpPr txBox="1"/>
          <p:nvPr/>
        </p:nvSpPr>
        <p:spPr>
          <a:xfrm>
            <a:off x="5217007" y="1167052"/>
            <a:ext cx="1072730" cy="307777"/>
          </a:xfrm>
          <a:prstGeom prst="rect">
            <a:avLst/>
          </a:prstGeom>
          <a:solidFill>
            <a:srgbClr val="91457E"/>
          </a:solidFill>
          <a:ln w="38100">
            <a:solidFill>
              <a:srgbClr val="91457E"/>
            </a:solidFill>
          </a:ln>
        </p:spPr>
        <p:txBody>
          <a:bodyPr wrap="none" rtlCol="0">
            <a:spAutoFit/>
          </a:bodyPr>
          <a:lstStyle>
            <a:defPPr>
              <a:defRPr lang="zh-TW"/>
            </a:defPPr>
            <a:lvl1pPr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US" altLang="zh-TW" dirty="0"/>
              <a:t>03/19 24:00</a:t>
            </a:r>
            <a:endParaRPr lang="zh-TW" altLang="en-US" dirty="0"/>
          </a:p>
        </p:txBody>
      </p:sp>
      <p:grpSp>
        <p:nvGrpSpPr>
          <p:cNvPr id="143" name="群組 142">
            <a:extLst>
              <a:ext uri="{FF2B5EF4-FFF2-40B4-BE49-F238E27FC236}">
                <a16:creationId xmlns:a16="http://schemas.microsoft.com/office/drawing/2014/main" id="{29A0DA49-4C64-FFA9-BFDC-EA908CBE93E5}"/>
              </a:ext>
            </a:extLst>
          </p:cNvPr>
          <p:cNvGrpSpPr/>
          <p:nvPr/>
        </p:nvGrpSpPr>
        <p:grpSpPr>
          <a:xfrm>
            <a:off x="7552800" y="999892"/>
            <a:ext cx="4603007" cy="373233"/>
            <a:chOff x="6861513" y="5270719"/>
            <a:chExt cx="5058227" cy="401519"/>
          </a:xfrm>
        </p:grpSpPr>
        <p:grpSp>
          <p:nvGrpSpPr>
            <p:cNvPr id="135" name="群組 134">
              <a:extLst>
                <a:ext uri="{FF2B5EF4-FFF2-40B4-BE49-F238E27FC236}">
                  <a16:creationId xmlns:a16="http://schemas.microsoft.com/office/drawing/2014/main" id="{5FFDF6DD-92BA-F5BF-EF80-5AC329665E52}"/>
                </a:ext>
              </a:extLst>
            </p:cNvPr>
            <p:cNvGrpSpPr/>
            <p:nvPr/>
          </p:nvGrpSpPr>
          <p:grpSpPr>
            <a:xfrm>
              <a:off x="6861513" y="5274396"/>
              <a:ext cx="692434" cy="397842"/>
              <a:chOff x="6861513" y="5274396"/>
              <a:chExt cx="692434" cy="397842"/>
            </a:xfrm>
          </p:grpSpPr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55503F8-F499-FFCB-6B9B-F263E69F57D9}"/>
                  </a:ext>
                </a:extLst>
              </p:cNvPr>
              <p:cNvSpPr txBox="1"/>
              <p:nvPr/>
            </p:nvSpPr>
            <p:spPr>
              <a:xfrm>
                <a:off x="6861513" y="5274396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FF0000"/>
                    </a:solidFill>
                  </a:rPr>
                  <a:t>SYK01</a:t>
                </a:r>
                <a:endParaRPr lang="zh-TW" altLang="en-US" sz="1600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44" name="直線接點 43">
                <a:extLst>
                  <a:ext uri="{FF2B5EF4-FFF2-40B4-BE49-F238E27FC236}">
                    <a16:creationId xmlns:a16="http://schemas.microsoft.com/office/drawing/2014/main" id="{510476ED-AB5B-D1AD-510A-5BF5D5B74770}"/>
                  </a:ext>
                </a:extLst>
              </p:cNvPr>
              <p:cNvCxnSpPr>
                <a:cxnSpLocks/>
                <a:endCxn id="50" idx="2"/>
              </p:cNvCxnSpPr>
              <p:nvPr/>
            </p:nvCxnSpPr>
            <p:spPr>
              <a:xfrm>
                <a:off x="6937760" y="5636238"/>
                <a:ext cx="530200" cy="0"/>
              </a:xfrm>
              <a:prstGeom prst="line">
                <a:avLst/>
              </a:prstGeom>
              <a:ln w="28575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182AB559-4FE9-83DF-EE18-8ACABA5AE2A3}"/>
                  </a:ext>
                </a:extLst>
              </p:cNvPr>
              <p:cNvSpPr/>
              <p:nvPr/>
            </p:nvSpPr>
            <p:spPr>
              <a:xfrm>
                <a:off x="7467960" y="5600238"/>
                <a:ext cx="72000" cy="72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600"/>
              </a:p>
            </p:txBody>
          </p:sp>
        </p:grpSp>
        <p:grpSp>
          <p:nvGrpSpPr>
            <p:cNvPr id="136" name="群組 135">
              <a:extLst>
                <a:ext uri="{FF2B5EF4-FFF2-40B4-BE49-F238E27FC236}">
                  <a16:creationId xmlns:a16="http://schemas.microsoft.com/office/drawing/2014/main" id="{07D9BEFC-F1CA-6067-23A7-CC979A5168E2}"/>
                </a:ext>
              </a:extLst>
            </p:cNvPr>
            <p:cNvGrpSpPr/>
            <p:nvPr/>
          </p:nvGrpSpPr>
          <p:grpSpPr>
            <a:xfrm>
              <a:off x="7738575" y="5278066"/>
              <a:ext cx="692434" cy="390375"/>
              <a:chOff x="7738575" y="5278066"/>
              <a:chExt cx="692434" cy="390375"/>
            </a:xfrm>
          </p:grpSpPr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10693CED-5267-EC2A-BC40-216899D50861}"/>
                  </a:ext>
                </a:extLst>
              </p:cNvPr>
              <p:cNvSpPr txBox="1"/>
              <p:nvPr/>
            </p:nvSpPr>
            <p:spPr>
              <a:xfrm>
                <a:off x="7738575" y="5278066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32CD32"/>
                    </a:solidFill>
                  </a:rPr>
                  <a:t>SYK02</a:t>
                </a:r>
                <a:endParaRPr lang="zh-TW" altLang="en-US" sz="1600" dirty="0">
                  <a:solidFill>
                    <a:srgbClr val="32CD32"/>
                  </a:solidFill>
                </a:endParaRPr>
              </a:p>
            </p:txBody>
          </p:sp>
          <p:grpSp>
            <p:nvGrpSpPr>
              <p:cNvPr id="56" name="群組 55">
                <a:extLst>
                  <a:ext uri="{FF2B5EF4-FFF2-40B4-BE49-F238E27FC236}">
                    <a16:creationId xmlns:a16="http://schemas.microsoft.com/office/drawing/2014/main" id="{9D973696-7849-7668-1A7D-EB474E01FF93}"/>
                  </a:ext>
                </a:extLst>
              </p:cNvPr>
              <p:cNvGrpSpPr/>
              <p:nvPr/>
            </p:nvGrpSpPr>
            <p:grpSpPr>
              <a:xfrm>
                <a:off x="7809785" y="5596441"/>
                <a:ext cx="602200" cy="72000"/>
                <a:chOff x="6940279" y="5604051"/>
                <a:chExt cx="602200" cy="72000"/>
              </a:xfrm>
              <a:solidFill>
                <a:srgbClr val="32CD32"/>
              </a:solidFill>
            </p:grpSpPr>
            <p:cxnSp>
              <p:nvCxnSpPr>
                <p:cNvPr id="57" name="直線接點 56">
                  <a:extLst>
                    <a:ext uri="{FF2B5EF4-FFF2-40B4-BE49-F238E27FC236}">
                      <a16:creationId xmlns:a16="http://schemas.microsoft.com/office/drawing/2014/main" id="{DDEF6BA2-C263-F4A8-BA95-37B41BDD4AA9}"/>
                    </a:ext>
                  </a:extLst>
                </p:cNvPr>
                <p:cNvCxnSpPr>
                  <a:cxnSpLocks/>
                  <a:endCxn id="58" idx="2"/>
                </p:cNvCxnSpPr>
                <p:nvPr/>
              </p:nvCxnSpPr>
              <p:spPr>
                <a:xfrm>
                  <a:off x="6940279" y="5640051"/>
                  <a:ext cx="530200" cy="0"/>
                </a:xfrm>
                <a:prstGeom prst="line">
                  <a:avLst/>
                </a:prstGeom>
                <a:grpFill/>
                <a:ln w="28575">
                  <a:solidFill>
                    <a:srgbClr val="32CD3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橢圓 57">
                  <a:extLst>
                    <a:ext uri="{FF2B5EF4-FFF2-40B4-BE49-F238E27FC236}">
                      <a16:creationId xmlns:a16="http://schemas.microsoft.com/office/drawing/2014/main" id="{04E21A54-3D49-236E-527D-41FAFBCFE12C}"/>
                    </a:ext>
                  </a:extLst>
                </p:cNvPr>
                <p:cNvSpPr/>
                <p:nvPr/>
              </p:nvSpPr>
              <p:spPr>
                <a:xfrm>
                  <a:off x="7470479" y="5604051"/>
                  <a:ext cx="72000" cy="72000"/>
                </a:xfrm>
                <a:prstGeom prst="ellipse">
                  <a:avLst/>
                </a:prstGeom>
                <a:grpFill/>
                <a:ln>
                  <a:solidFill>
                    <a:srgbClr val="32CD3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</p:grpSp>
        <p:grpSp>
          <p:nvGrpSpPr>
            <p:cNvPr id="137" name="群組 136">
              <a:extLst>
                <a:ext uri="{FF2B5EF4-FFF2-40B4-BE49-F238E27FC236}">
                  <a16:creationId xmlns:a16="http://schemas.microsoft.com/office/drawing/2014/main" id="{A96DB52B-5EB9-F446-D777-02796F9DFF7F}"/>
                </a:ext>
              </a:extLst>
            </p:cNvPr>
            <p:cNvGrpSpPr/>
            <p:nvPr/>
          </p:nvGrpSpPr>
          <p:grpSpPr>
            <a:xfrm>
              <a:off x="8610600" y="5270719"/>
              <a:ext cx="692434" cy="397722"/>
              <a:chOff x="8610600" y="5270719"/>
              <a:chExt cx="692434" cy="397722"/>
            </a:xfrm>
          </p:grpSpPr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A7F0DD4-BDAD-06EC-17F2-1FD628A37ACD}"/>
                  </a:ext>
                </a:extLst>
              </p:cNvPr>
              <p:cNvSpPr txBox="1"/>
              <p:nvPr/>
            </p:nvSpPr>
            <p:spPr>
              <a:xfrm>
                <a:off x="8610600" y="5270719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4169E1"/>
                    </a:solidFill>
                  </a:rPr>
                  <a:t>SYK03</a:t>
                </a:r>
                <a:endParaRPr lang="zh-TW" altLang="en-US" sz="1600" dirty="0">
                  <a:solidFill>
                    <a:srgbClr val="4169E1"/>
                  </a:solidFill>
                </a:endParaRPr>
              </a:p>
            </p:txBody>
          </p:sp>
          <p:grpSp>
            <p:nvGrpSpPr>
              <p:cNvPr id="59" name="群組 58">
                <a:extLst>
                  <a:ext uri="{FF2B5EF4-FFF2-40B4-BE49-F238E27FC236}">
                    <a16:creationId xmlns:a16="http://schemas.microsoft.com/office/drawing/2014/main" id="{ED90DB9E-75A4-39D6-C992-666CB7519455}"/>
                  </a:ext>
                </a:extLst>
              </p:cNvPr>
              <p:cNvGrpSpPr/>
              <p:nvPr/>
            </p:nvGrpSpPr>
            <p:grpSpPr>
              <a:xfrm>
                <a:off x="8686847" y="5596441"/>
                <a:ext cx="602200" cy="72000"/>
                <a:chOff x="6940279" y="5604051"/>
                <a:chExt cx="602200" cy="72000"/>
              </a:xfrm>
            </p:grpSpPr>
            <p:cxnSp>
              <p:nvCxnSpPr>
                <p:cNvPr id="60" name="直線接點 59">
                  <a:extLst>
                    <a:ext uri="{FF2B5EF4-FFF2-40B4-BE49-F238E27FC236}">
                      <a16:creationId xmlns:a16="http://schemas.microsoft.com/office/drawing/2014/main" id="{131D37A0-695B-DE79-15EC-FFB1857AC065}"/>
                    </a:ext>
                  </a:extLst>
                </p:cNvPr>
                <p:cNvCxnSpPr>
                  <a:cxnSpLocks/>
                  <a:endCxn id="61" idx="2"/>
                </p:cNvCxnSpPr>
                <p:nvPr/>
              </p:nvCxnSpPr>
              <p:spPr>
                <a:xfrm>
                  <a:off x="6940279" y="5640051"/>
                  <a:ext cx="530200" cy="0"/>
                </a:xfrm>
                <a:prstGeom prst="line">
                  <a:avLst/>
                </a:prstGeom>
                <a:solidFill>
                  <a:srgbClr val="4169E1"/>
                </a:solidFill>
                <a:ln w="28575">
                  <a:solidFill>
                    <a:srgbClr val="4169E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1" name="橢圓 60">
                  <a:extLst>
                    <a:ext uri="{FF2B5EF4-FFF2-40B4-BE49-F238E27FC236}">
                      <a16:creationId xmlns:a16="http://schemas.microsoft.com/office/drawing/2014/main" id="{B1349EC0-9971-E5C8-E601-C81A5C7EC885}"/>
                    </a:ext>
                  </a:extLst>
                </p:cNvPr>
                <p:cNvSpPr/>
                <p:nvPr/>
              </p:nvSpPr>
              <p:spPr>
                <a:xfrm>
                  <a:off x="7470479" y="5604051"/>
                  <a:ext cx="72000" cy="72000"/>
                </a:xfrm>
                <a:prstGeom prst="ellipse">
                  <a:avLst/>
                </a:prstGeom>
                <a:solidFill>
                  <a:srgbClr val="4169E1"/>
                </a:solidFill>
                <a:ln>
                  <a:solidFill>
                    <a:srgbClr val="4169E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</p:grpSp>
        <p:grpSp>
          <p:nvGrpSpPr>
            <p:cNvPr id="139" name="群組 138">
              <a:extLst>
                <a:ext uri="{FF2B5EF4-FFF2-40B4-BE49-F238E27FC236}">
                  <a16:creationId xmlns:a16="http://schemas.microsoft.com/office/drawing/2014/main" id="{70D28947-E634-C822-D05F-D6203DEBEA43}"/>
                </a:ext>
              </a:extLst>
            </p:cNvPr>
            <p:cNvGrpSpPr/>
            <p:nvPr/>
          </p:nvGrpSpPr>
          <p:grpSpPr>
            <a:xfrm>
              <a:off x="9483256" y="5278066"/>
              <a:ext cx="692434" cy="390375"/>
              <a:chOff x="9483256" y="5278066"/>
              <a:chExt cx="692434" cy="390375"/>
            </a:xfrm>
          </p:grpSpPr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5744AE67-D568-B51C-91B3-8995A78977E6}"/>
                  </a:ext>
                </a:extLst>
              </p:cNvPr>
              <p:cNvSpPr txBox="1"/>
              <p:nvPr/>
            </p:nvSpPr>
            <p:spPr>
              <a:xfrm>
                <a:off x="9483256" y="5278066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FFA300"/>
                    </a:solidFill>
                  </a:rPr>
                  <a:t>SYK04</a:t>
                </a:r>
                <a:endParaRPr lang="zh-TW" altLang="en-US" sz="1600" dirty="0">
                  <a:solidFill>
                    <a:srgbClr val="FFA300"/>
                  </a:solidFill>
                </a:endParaRPr>
              </a:p>
            </p:txBody>
          </p:sp>
          <p:grpSp>
            <p:nvGrpSpPr>
              <p:cNvPr id="62" name="群組 61">
                <a:extLst>
                  <a:ext uri="{FF2B5EF4-FFF2-40B4-BE49-F238E27FC236}">
                    <a16:creationId xmlns:a16="http://schemas.microsoft.com/office/drawing/2014/main" id="{6FDF4198-2F86-7EE1-1C87-03A19299DFC4}"/>
                  </a:ext>
                </a:extLst>
              </p:cNvPr>
              <p:cNvGrpSpPr/>
              <p:nvPr/>
            </p:nvGrpSpPr>
            <p:grpSpPr>
              <a:xfrm>
                <a:off x="9554466" y="5596441"/>
                <a:ext cx="602200" cy="72000"/>
                <a:chOff x="6940279" y="5604051"/>
                <a:chExt cx="602200" cy="72000"/>
              </a:xfrm>
            </p:grpSpPr>
            <p:cxnSp>
              <p:nvCxnSpPr>
                <p:cNvPr id="63" name="直線接點 62">
                  <a:extLst>
                    <a:ext uri="{FF2B5EF4-FFF2-40B4-BE49-F238E27FC236}">
                      <a16:creationId xmlns:a16="http://schemas.microsoft.com/office/drawing/2014/main" id="{D4002947-45BA-DEC1-2414-B52385DEFB25}"/>
                    </a:ext>
                  </a:extLst>
                </p:cNvPr>
                <p:cNvCxnSpPr>
                  <a:cxnSpLocks/>
                  <a:endCxn id="128" idx="2"/>
                </p:cNvCxnSpPr>
                <p:nvPr/>
              </p:nvCxnSpPr>
              <p:spPr>
                <a:xfrm>
                  <a:off x="6940279" y="5640051"/>
                  <a:ext cx="530200" cy="0"/>
                </a:xfrm>
                <a:prstGeom prst="line">
                  <a:avLst/>
                </a:prstGeom>
                <a:solidFill>
                  <a:srgbClr val="FFA300"/>
                </a:solidFill>
                <a:ln w="28575">
                  <a:solidFill>
                    <a:srgbClr val="FFA3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28" name="橢圓 127">
                  <a:extLst>
                    <a:ext uri="{FF2B5EF4-FFF2-40B4-BE49-F238E27FC236}">
                      <a16:creationId xmlns:a16="http://schemas.microsoft.com/office/drawing/2014/main" id="{C79573DA-01B5-02E7-6608-80B08A458C3E}"/>
                    </a:ext>
                  </a:extLst>
                </p:cNvPr>
                <p:cNvSpPr/>
                <p:nvPr/>
              </p:nvSpPr>
              <p:spPr>
                <a:xfrm>
                  <a:off x="7470479" y="5604051"/>
                  <a:ext cx="72000" cy="72000"/>
                </a:xfrm>
                <a:prstGeom prst="ellipse">
                  <a:avLst/>
                </a:prstGeom>
                <a:solidFill>
                  <a:srgbClr val="FFA300"/>
                </a:solidFill>
                <a:ln>
                  <a:solidFill>
                    <a:srgbClr val="FFA3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</p:grpSp>
        <p:grpSp>
          <p:nvGrpSpPr>
            <p:cNvPr id="140" name="群組 139">
              <a:extLst>
                <a:ext uri="{FF2B5EF4-FFF2-40B4-BE49-F238E27FC236}">
                  <a16:creationId xmlns:a16="http://schemas.microsoft.com/office/drawing/2014/main" id="{F3FC0822-7333-7AD7-9859-FC1885DF807A}"/>
                </a:ext>
              </a:extLst>
            </p:cNvPr>
            <p:cNvGrpSpPr/>
            <p:nvPr/>
          </p:nvGrpSpPr>
          <p:grpSpPr>
            <a:xfrm>
              <a:off x="10355281" y="5270719"/>
              <a:ext cx="692434" cy="393753"/>
              <a:chOff x="10355281" y="5270719"/>
              <a:chExt cx="692434" cy="393753"/>
            </a:xfrm>
          </p:grpSpPr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C48F37DD-CD49-845E-3A6A-D6E5CE4F3E54}"/>
                  </a:ext>
                </a:extLst>
              </p:cNvPr>
              <p:cNvSpPr txBox="1"/>
              <p:nvPr/>
            </p:nvSpPr>
            <p:spPr>
              <a:xfrm>
                <a:off x="10355281" y="5270719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274949"/>
                    </a:solidFill>
                  </a:rPr>
                  <a:t>SYK05</a:t>
                </a:r>
                <a:endParaRPr lang="zh-TW" altLang="en-US" sz="1600" dirty="0">
                  <a:solidFill>
                    <a:srgbClr val="274949"/>
                  </a:solidFill>
                </a:endParaRPr>
              </a:p>
            </p:txBody>
          </p:sp>
          <p:grpSp>
            <p:nvGrpSpPr>
              <p:cNvPr id="129" name="群組 128">
                <a:extLst>
                  <a:ext uri="{FF2B5EF4-FFF2-40B4-BE49-F238E27FC236}">
                    <a16:creationId xmlns:a16="http://schemas.microsoft.com/office/drawing/2014/main" id="{9BFEB6FC-CAB7-C4FF-3E0A-146D2111AC0E}"/>
                  </a:ext>
                </a:extLst>
              </p:cNvPr>
              <p:cNvGrpSpPr/>
              <p:nvPr/>
            </p:nvGrpSpPr>
            <p:grpSpPr>
              <a:xfrm>
                <a:off x="10431369" y="5592472"/>
                <a:ext cx="602200" cy="72000"/>
                <a:chOff x="6940279" y="5604051"/>
                <a:chExt cx="602200" cy="72000"/>
              </a:xfrm>
            </p:grpSpPr>
            <p:cxnSp>
              <p:nvCxnSpPr>
                <p:cNvPr id="130" name="直線接點 129">
                  <a:extLst>
                    <a:ext uri="{FF2B5EF4-FFF2-40B4-BE49-F238E27FC236}">
                      <a16:creationId xmlns:a16="http://schemas.microsoft.com/office/drawing/2014/main" id="{C3537173-7DE9-67CC-F26F-7DDE5985C282}"/>
                    </a:ext>
                  </a:extLst>
                </p:cNvPr>
                <p:cNvCxnSpPr>
                  <a:cxnSpLocks/>
                  <a:endCxn id="131" idx="2"/>
                </p:cNvCxnSpPr>
                <p:nvPr/>
              </p:nvCxnSpPr>
              <p:spPr>
                <a:xfrm>
                  <a:off x="6940279" y="5640051"/>
                  <a:ext cx="530200" cy="0"/>
                </a:xfrm>
                <a:prstGeom prst="line">
                  <a:avLst/>
                </a:prstGeom>
                <a:solidFill>
                  <a:srgbClr val="274949"/>
                </a:solidFill>
                <a:ln w="28575">
                  <a:solidFill>
                    <a:srgbClr val="27494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1" name="橢圓 130">
                  <a:extLst>
                    <a:ext uri="{FF2B5EF4-FFF2-40B4-BE49-F238E27FC236}">
                      <a16:creationId xmlns:a16="http://schemas.microsoft.com/office/drawing/2014/main" id="{EE4C770D-26D9-4D14-0755-5AE7222BD27E}"/>
                    </a:ext>
                  </a:extLst>
                </p:cNvPr>
                <p:cNvSpPr/>
                <p:nvPr/>
              </p:nvSpPr>
              <p:spPr>
                <a:xfrm>
                  <a:off x="7470479" y="5604051"/>
                  <a:ext cx="72000" cy="72000"/>
                </a:xfrm>
                <a:prstGeom prst="ellipse">
                  <a:avLst/>
                </a:prstGeom>
                <a:solidFill>
                  <a:srgbClr val="274949"/>
                </a:solidFill>
                <a:ln>
                  <a:solidFill>
                    <a:srgbClr val="274949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</p:grpSp>
        <p:grpSp>
          <p:nvGrpSpPr>
            <p:cNvPr id="142" name="群組 141">
              <a:extLst>
                <a:ext uri="{FF2B5EF4-FFF2-40B4-BE49-F238E27FC236}">
                  <a16:creationId xmlns:a16="http://schemas.microsoft.com/office/drawing/2014/main" id="{D639531D-D90E-2681-E08F-7575C00FCE41}"/>
                </a:ext>
              </a:extLst>
            </p:cNvPr>
            <p:cNvGrpSpPr/>
            <p:nvPr/>
          </p:nvGrpSpPr>
          <p:grpSpPr>
            <a:xfrm>
              <a:off x="11227306" y="5280095"/>
              <a:ext cx="692434" cy="384377"/>
              <a:chOff x="11227306" y="5280095"/>
              <a:chExt cx="692434" cy="384377"/>
            </a:xfrm>
          </p:grpSpPr>
          <p:sp>
            <p:nvSpPr>
              <p:cNvPr id="32" name="文字方塊 31">
                <a:extLst>
                  <a:ext uri="{FF2B5EF4-FFF2-40B4-BE49-F238E27FC236}">
                    <a16:creationId xmlns:a16="http://schemas.microsoft.com/office/drawing/2014/main" id="{5E0DFA15-894F-F22E-D05E-D93FD2C7446D}"/>
                  </a:ext>
                </a:extLst>
              </p:cNvPr>
              <p:cNvSpPr txBox="1"/>
              <p:nvPr/>
            </p:nvSpPr>
            <p:spPr>
              <a:xfrm>
                <a:off x="11227306" y="5280095"/>
                <a:ext cx="69243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TW" sz="1600" dirty="0">
                    <a:solidFill>
                      <a:srgbClr val="9400D3"/>
                    </a:solidFill>
                  </a:rPr>
                  <a:t>SYK06</a:t>
                </a:r>
                <a:endParaRPr lang="zh-TW" altLang="en-US" sz="1600" dirty="0">
                  <a:solidFill>
                    <a:srgbClr val="9400D3"/>
                  </a:solidFill>
                </a:endParaRPr>
              </a:p>
            </p:txBody>
          </p:sp>
          <p:grpSp>
            <p:nvGrpSpPr>
              <p:cNvPr id="132" name="群組 131">
                <a:extLst>
                  <a:ext uri="{FF2B5EF4-FFF2-40B4-BE49-F238E27FC236}">
                    <a16:creationId xmlns:a16="http://schemas.microsoft.com/office/drawing/2014/main" id="{BDBEA79A-1C9D-1B93-87BB-0EAF72574175}"/>
                  </a:ext>
                </a:extLst>
              </p:cNvPr>
              <p:cNvGrpSpPr/>
              <p:nvPr/>
            </p:nvGrpSpPr>
            <p:grpSpPr>
              <a:xfrm>
                <a:off x="11303553" y="5592472"/>
                <a:ext cx="602200" cy="72000"/>
                <a:chOff x="6940279" y="5604051"/>
                <a:chExt cx="602200" cy="72000"/>
              </a:xfrm>
            </p:grpSpPr>
            <p:cxnSp>
              <p:nvCxnSpPr>
                <p:cNvPr id="133" name="直線接點 132">
                  <a:extLst>
                    <a:ext uri="{FF2B5EF4-FFF2-40B4-BE49-F238E27FC236}">
                      <a16:creationId xmlns:a16="http://schemas.microsoft.com/office/drawing/2014/main" id="{246A7576-5D2B-F93D-74AC-11C3A2EA5A86}"/>
                    </a:ext>
                  </a:extLst>
                </p:cNvPr>
                <p:cNvCxnSpPr>
                  <a:cxnSpLocks/>
                  <a:endCxn id="134" idx="2"/>
                </p:cNvCxnSpPr>
                <p:nvPr/>
              </p:nvCxnSpPr>
              <p:spPr>
                <a:xfrm>
                  <a:off x="6940279" y="5640051"/>
                  <a:ext cx="530200" cy="0"/>
                </a:xfrm>
                <a:prstGeom prst="line">
                  <a:avLst/>
                </a:prstGeom>
                <a:solidFill>
                  <a:srgbClr val="9400D3"/>
                </a:solidFill>
                <a:ln w="28575">
                  <a:solidFill>
                    <a:srgbClr val="9400D3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4" name="橢圓 133">
                  <a:extLst>
                    <a:ext uri="{FF2B5EF4-FFF2-40B4-BE49-F238E27FC236}">
                      <a16:creationId xmlns:a16="http://schemas.microsoft.com/office/drawing/2014/main" id="{9F72D909-3548-E6D9-B88B-4CF5AE741BAC}"/>
                    </a:ext>
                  </a:extLst>
                </p:cNvPr>
                <p:cNvSpPr/>
                <p:nvPr/>
              </p:nvSpPr>
              <p:spPr>
                <a:xfrm>
                  <a:off x="7470479" y="5604051"/>
                  <a:ext cx="72000" cy="72000"/>
                </a:xfrm>
                <a:prstGeom prst="ellipse">
                  <a:avLst/>
                </a:prstGeom>
                <a:solidFill>
                  <a:srgbClr val="9400D3"/>
                </a:solidFill>
                <a:ln>
                  <a:solidFill>
                    <a:srgbClr val="9400D3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600"/>
                </a:p>
              </p:txBody>
            </p:sp>
          </p:grpSp>
        </p:grpSp>
      </p:grpSp>
      <p:grpSp>
        <p:nvGrpSpPr>
          <p:cNvPr id="149" name="群組 148">
            <a:extLst>
              <a:ext uri="{FF2B5EF4-FFF2-40B4-BE49-F238E27FC236}">
                <a16:creationId xmlns:a16="http://schemas.microsoft.com/office/drawing/2014/main" id="{AB68657A-7CBE-AE20-5007-54457932A7CB}"/>
              </a:ext>
            </a:extLst>
          </p:cNvPr>
          <p:cNvGrpSpPr/>
          <p:nvPr/>
        </p:nvGrpSpPr>
        <p:grpSpPr>
          <a:xfrm>
            <a:off x="938788" y="5816894"/>
            <a:ext cx="10314423" cy="370806"/>
            <a:chOff x="36193" y="5789378"/>
            <a:chExt cx="10314423" cy="370806"/>
          </a:xfrm>
        </p:grpSpPr>
        <p:sp>
          <p:nvSpPr>
            <p:cNvPr id="144" name="文字方塊 143">
              <a:extLst>
                <a:ext uri="{FF2B5EF4-FFF2-40B4-BE49-F238E27FC236}">
                  <a16:creationId xmlns:a16="http://schemas.microsoft.com/office/drawing/2014/main" id="{F4E211EF-2708-CF2C-D257-74F95846CAFB}"/>
                </a:ext>
              </a:extLst>
            </p:cNvPr>
            <p:cNvSpPr txBox="1"/>
            <p:nvPr/>
          </p:nvSpPr>
          <p:spPr>
            <a:xfrm>
              <a:off x="36193" y="5790852"/>
              <a:ext cx="38779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b="1" dirty="0">
                  <a:solidFill>
                    <a:schemeClr val="bg1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分類出三種類別，並推測其事件為：</a:t>
              </a:r>
            </a:p>
          </p:txBody>
        </p:sp>
        <p:sp>
          <p:nvSpPr>
            <p:cNvPr id="146" name="文字方塊 145">
              <a:extLst>
                <a:ext uri="{FF2B5EF4-FFF2-40B4-BE49-F238E27FC236}">
                  <a16:creationId xmlns:a16="http://schemas.microsoft.com/office/drawing/2014/main" id="{1B6A17C8-CDD5-8239-2A51-E6751D16D088}"/>
                </a:ext>
              </a:extLst>
            </p:cNvPr>
            <p:cNvSpPr txBox="1"/>
            <p:nvPr/>
          </p:nvSpPr>
          <p:spPr>
            <a:xfrm>
              <a:off x="3914178" y="5790852"/>
              <a:ext cx="1593706" cy="369332"/>
            </a:xfrm>
            <a:prstGeom prst="rect">
              <a:avLst/>
            </a:prstGeom>
            <a:solidFill>
              <a:srgbClr val="FFFBF6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1.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無事件發生</a:t>
              </a:r>
            </a:p>
          </p:txBody>
        </p:sp>
        <p:sp>
          <p:nvSpPr>
            <p:cNvPr id="147" name="文字方塊 146">
              <a:extLst>
                <a:ext uri="{FF2B5EF4-FFF2-40B4-BE49-F238E27FC236}">
                  <a16:creationId xmlns:a16="http://schemas.microsoft.com/office/drawing/2014/main" id="{45041075-B827-171F-4F3B-1BCB6D809724}"/>
                </a:ext>
              </a:extLst>
            </p:cNvPr>
            <p:cNvSpPr txBox="1"/>
            <p:nvPr/>
          </p:nvSpPr>
          <p:spPr>
            <a:xfrm>
              <a:off x="5643047" y="5790852"/>
              <a:ext cx="2747868" cy="369332"/>
            </a:xfrm>
            <a:prstGeom prst="rect">
              <a:avLst/>
            </a:prstGeom>
            <a:solidFill>
              <a:srgbClr val="E9E2F7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2.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較小事件或大範圍噪音</a:t>
              </a:r>
            </a:p>
          </p:txBody>
        </p:sp>
        <p:sp>
          <p:nvSpPr>
            <p:cNvPr id="148" name="文字方塊 147">
              <a:extLst>
                <a:ext uri="{FF2B5EF4-FFF2-40B4-BE49-F238E27FC236}">
                  <a16:creationId xmlns:a16="http://schemas.microsoft.com/office/drawing/2014/main" id="{E3FCA25E-2561-FBCC-CBF9-AB7932BEC527}"/>
                </a:ext>
              </a:extLst>
            </p:cNvPr>
            <p:cNvSpPr txBox="1"/>
            <p:nvPr/>
          </p:nvSpPr>
          <p:spPr>
            <a:xfrm>
              <a:off x="8526078" y="5789378"/>
              <a:ext cx="1824538" cy="369332"/>
            </a:xfrm>
            <a:prstGeom prst="rect">
              <a:avLst/>
            </a:prstGeom>
            <a:solidFill>
              <a:srgbClr val="F8D0D8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3.</a:t>
              </a:r>
              <a:r>
                <a:rPr lang="zh-TW" altLang="en-US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較大事件發生</a:t>
              </a:r>
            </a:p>
          </p:txBody>
        </p:sp>
      </p:grpSp>
      <p:cxnSp>
        <p:nvCxnSpPr>
          <p:cNvPr id="159" name="直線接點 158">
            <a:extLst>
              <a:ext uri="{FF2B5EF4-FFF2-40B4-BE49-F238E27FC236}">
                <a16:creationId xmlns:a16="http://schemas.microsoft.com/office/drawing/2014/main" id="{FD67F845-8E63-5EC9-47A7-19EC8B7B3E1F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572558" y="1474829"/>
            <a:ext cx="0" cy="4068543"/>
          </a:xfrm>
          <a:prstGeom prst="line">
            <a:avLst/>
          </a:prstGeom>
          <a:ln w="57150">
            <a:solidFill>
              <a:srgbClr val="91457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直線接點 160">
            <a:extLst>
              <a:ext uri="{FF2B5EF4-FFF2-40B4-BE49-F238E27FC236}">
                <a16:creationId xmlns:a16="http://schemas.microsoft.com/office/drawing/2014/main" id="{56C2AEE0-072C-0D69-03C5-E828EF1D40FF}"/>
              </a:ext>
            </a:extLst>
          </p:cNvPr>
          <p:cNvCxnSpPr>
            <a:cxnSpLocks/>
            <a:stCxn id="3" idx="2"/>
          </p:cNvCxnSpPr>
          <p:nvPr/>
        </p:nvCxnSpPr>
        <p:spPr>
          <a:xfrm>
            <a:off x="5753372" y="1474829"/>
            <a:ext cx="0" cy="4083852"/>
          </a:xfrm>
          <a:prstGeom prst="line">
            <a:avLst/>
          </a:prstGeom>
          <a:ln w="57150">
            <a:solidFill>
              <a:srgbClr val="91457E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文字方塊 162">
            <a:extLst>
              <a:ext uri="{FF2B5EF4-FFF2-40B4-BE49-F238E27FC236}">
                <a16:creationId xmlns:a16="http://schemas.microsoft.com/office/drawing/2014/main" id="{42B6FBF7-878C-B108-9152-9D38D922F05C}"/>
              </a:ext>
            </a:extLst>
          </p:cNvPr>
          <p:cNvSpPr txBox="1"/>
          <p:nvPr/>
        </p:nvSpPr>
        <p:spPr>
          <a:xfrm>
            <a:off x="3077371" y="1167052"/>
            <a:ext cx="1082348" cy="307777"/>
          </a:xfrm>
          <a:prstGeom prst="rect">
            <a:avLst/>
          </a:prstGeom>
          <a:solidFill>
            <a:srgbClr val="91457E"/>
          </a:solidFill>
          <a:ln w="38100">
            <a:solidFill>
              <a:srgbClr val="91457E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TW" sz="1400" b="1" dirty="0">
                <a:solidFill>
                  <a:schemeClr val="bg1"/>
                </a:solidFill>
              </a:rPr>
              <a:t>03/11 00:00</a:t>
            </a:r>
            <a:endParaRPr lang="zh-TW" altLang="en-US" sz="1400" b="1" dirty="0">
              <a:solidFill>
                <a:schemeClr val="bg1"/>
              </a:solidFill>
            </a:endParaRPr>
          </a:p>
        </p:txBody>
      </p:sp>
      <p:pic>
        <p:nvPicPr>
          <p:cNvPr id="165" name="圖片 164">
            <a:extLst>
              <a:ext uri="{FF2B5EF4-FFF2-40B4-BE49-F238E27FC236}">
                <a16:creationId xmlns:a16="http://schemas.microsoft.com/office/drawing/2014/main" id="{A29F1397-D488-F04B-D34A-43111485E62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5" t="11229" r="9589" b="6116"/>
          <a:stretch/>
        </p:blipFill>
        <p:spPr>
          <a:xfrm>
            <a:off x="6095999" y="1505625"/>
            <a:ext cx="6096001" cy="4075200"/>
          </a:xfrm>
          <a:prstGeom prst="rect">
            <a:avLst/>
          </a:prstGeom>
        </p:spPr>
      </p:pic>
      <p:sp>
        <p:nvSpPr>
          <p:cNvPr id="167" name="文字方塊 166">
            <a:extLst>
              <a:ext uri="{FF2B5EF4-FFF2-40B4-BE49-F238E27FC236}">
                <a16:creationId xmlns:a16="http://schemas.microsoft.com/office/drawing/2014/main" id="{408E061C-F830-A8D0-F2F6-1BCD0DA39009}"/>
              </a:ext>
            </a:extLst>
          </p:cNvPr>
          <p:cNvSpPr txBox="1"/>
          <p:nvPr/>
        </p:nvSpPr>
        <p:spPr>
          <a:xfrm>
            <a:off x="782219" y="5143155"/>
            <a:ext cx="2295152" cy="519351"/>
          </a:xfrm>
          <a:prstGeom prst="ellipse">
            <a:avLst/>
          </a:prstGeom>
          <a:solidFill>
            <a:schemeClr val="bg1">
              <a:alpha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低頻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值穩定</a:t>
            </a:r>
          </a:p>
        </p:txBody>
      </p:sp>
      <p:pic>
        <p:nvPicPr>
          <p:cNvPr id="172" name="圖片 171">
            <a:extLst>
              <a:ext uri="{FF2B5EF4-FFF2-40B4-BE49-F238E27FC236}">
                <a16:creationId xmlns:a16="http://schemas.microsoft.com/office/drawing/2014/main" id="{9386BBF4-9009-A3E4-8828-251F6509B7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57" t="11483" r="61091" b="77189"/>
          <a:stretch/>
        </p:blipFill>
        <p:spPr>
          <a:xfrm>
            <a:off x="1744923" y="1390845"/>
            <a:ext cx="1080000" cy="1080000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pic>
        <p:nvPicPr>
          <p:cNvPr id="174" name="圖片 173">
            <a:extLst>
              <a:ext uri="{FF2B5EF4-FFF2-40B4-BE49-F238E27FC236}">
                <a16:creationId xmlns:a16="http://schemas.microsoft.com/office/drawing/2014/main" id="{D02496CC-6460-58E3-092A-3AF5A2BC07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323" t="11444" r="60904" b="76897"/>
          <a:stretch/>
        </p:blipFill>
        <p:spPr>
          <a:xfrm>
            <a:off x="7850976" y="1425141"/>
            <a:ext cx="1080000" cy="1080000"/>
          </a:xfrm>
          <a:prstGeom prst="ellipse">
            <a:avLst/>
          </a:prstGeom>
          <a:ln w="25400">
            <a:solidFill>
              <a:schemeClr val="tx1"/>
            </a:solidFill>
          </a:ln>
          <a:effectLst>
            <a:outerShdw blurRad="63500" dist="63500" dir="2700000" algn="tl" rotWithShape="0">
              <a:prstClr val="black">
                <a:alpha val="50000"/>
              </a:prstClr>
            </a:outerShdw>
          </a:effectLst>
        </p:spPr>
      </p:pic>
      <p:sp>
        <p:nvSpPr>
          <p:cNvPr id="175" name="文字方塊 174">
            <a:extLst>
              <a:ext uri="{FF2B5EF4-FFF2-40B4-BE49-F238E27FC236}">
                <a16:creationId xmlns:a16="http://schemas.microsoft.com/office/drawing/2014/main" id="{D6083AEA-56E2-CB52-591A-3B8900F68CB2}"/>
              </a:ext>
            </a:extLst>
          </p:cNvPr>
          <p:cNvSpPr txBox="1"/>
          <p:nvPr/>
        </p:nvSpPr>
        <p:spPr>
          <a:xfrm>
            <a:off x="6592500" y="5143155"/>
            <a:ext cx="2295152" cy="519351"/>
          </a:xfrm>
          <a:prstGeom prst="ellipse">
            <a:avLst/>
          </a:prstGeom>
          <a:solidFill>
            <a:schemeClr val="bg1">
              <a:alpha val="7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高頻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BP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值波動</a:t>
            </a:r>
          </a:p>
        </p:txBody>
      </p:sp>
    </p:spTree>
    <p:extLst>
      <p:ext uri="{BB962C8B-B14F-4D97-AF65-F5344CB8AC3E}">
        <p14:creationId xmlns:p14="http://schemas.microsoft.com/office/powerpoint/2010/main" val="179441540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7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Conclusion &amp; Future Works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18DD7C57-B59F-93C5-C911-125080B49BFB}"/>
              </a:ext>
            </a:extLst>
          </p:cNvPr>
          <p:cNvGrpSpPr/>
          <p:nvPr/>
        </p:nvGrpSpPr>
        <p:grpSpPr>
          <a:xfrm>
            <a:off x="6776406" y="1225175"/>
            <a:ext cx="4744992" cy="1263435"/>
            <a:chOff x="6129297" y="1202101"/>
            <a:chExt cx="4744992" cy="1263435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98D6360F-7F03-EAF6-9A95-A18D24C8FA7F}"/>
                </a:ext>
              </a:extLst>
            </p:cNvPr>
            <p:cNvSpPr txBox="1"/>
            <p:nvPr/>
          </p:nvSpPr>
          <p:spPr>
            <a:xfrm>
              <a:off x="6200771" y="1819205"/>
              <a:ext cx="466809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目前時間窗口長度為</a:t>
              </a:r>
              <a:r>
                <a: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3600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秒，將測試更長或更短時間窗口長度，以取得更顯著之特徵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6" name="文字方塊 5">
              <a:extLst>
                <a:ext uri="{FF2B5EF4-FFF2-40B4-BE49-F238E27FC236}">
                  <a16:creationId xmlns:a16="http://schemas.microsoft.com/office/drawing/2014/main" id="{D10C5D21-F311-7BB5-E27E-09A73695D53B}"/>
                </a:ext>
              </a:extLst>
            </p:cNvPr>
            <p:cNvSpPr txBox="1"/>
            <p:nvPr/>
          </p:nvSpPr>
          <p:spPr>
            <a:xfrm>
              <a:off x="6131557" y="1202101"/>
              <a:ext cx="4735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未來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：確定時間窗口長度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7" name="群組 6">
              <a:extLst>
                <a:ext uri="{FF2B5EF4-FFF2-40B4-BE49-F238E27FC236}">
                  <a16:creationId xmlns:a16="http://schemas.microsoft.com/office/drawing/2014/main" id="{69AED4D2-E626-06C5-2B8C-F1020063A410}"/>
                </a:ext>
              </a:extLst>
            </p:cNvPr>
            <p:cNvGrpSpPr/>
            <p:nvPr/>
          </p:nvGrpSpPr>
          <p:grpSpPr>
            <a:xfrm>
              <a:off x="6129297" y="1236525"/>
              <a:ext cx="4744992" cy="1228386"/>
              <a:chOff x="6129297" y="1236525"/>
              <a:chExt cx="4744992" cy="1228386"/>
            </a:xfrm>
          </p:grpSpPr>
          <p:cxnSp>
            <p:nvCxnSpPr>
              <p:cNvPr id="8" name="直線接點 7">
                <a:extLst>
                  <a:ext uri="{FF2B5EF4-FFF2-40B4-BE49-F238E27FC236}">
                    <a16:creationId xmlns:a16="http://schemas.microsoft.com/office/drawing/2014/main" id="{EAB3C8C1-F132-8796-E09B-416CECB377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228386"/>
              </a:xfrm>
              <a:prstGeom prst="line">
                <a:avLst/>
              </a:prstGeom>
              <a:solidFill>
                <a:srgbClr val="91457E"/>
              </a:solidFill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9" name="圖形 8" descr="心跳">
                <a:extLst>
                  <a:ext uri="{FF2B5EF4-FFF2-40B4-BE49-F238E27FC236}">
                    <a16:creationId xmlns:a16="http://schemas.microsoft.com/office/drawing/2014/main" id="{2AE7247E-2CAE-3328-F384-014A33313A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862989" y="143647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10" name="直線單箭頭接點 9">
                <a:extLst>
                  <a:ext uri="{FF2B5EF4-FFF2-40B4-BE49-F238E27FC236}">
                    <a16:creationId xmlns:a16="http://schemas.microsoft.com/office/drawing/2014/main" id="{5DB673FF-012F-E2BB-D1AE-C5E9E41D7963}"/>
                  </a:ext>
                </a:extLst>
              </p:cNvPr>
              <p:cNvCxnSpPr>
                <a:cxnSpLocks/>
                <a:stCxn id="9" idx="3"/>
              </p:cNvCxnSpPr>
              <p:nvPr/>
            </p:nvCxnSpPr>
            <p:spPr>
              <a:xfrm>
                <a:off x="10386421" y="1698190"/>
                <a:ext cx="487868" cy="0"/>
              </a:xfrm>
              <a:prstGeom prst="straightConnector1">
                <a:avLst/>
              </a:prstGeom>
              <a:solidFill>
                <a:srgbClr val="91457E"/>
              </a:solidFill>
              <a:ln w="28575">
                <a:solidFill>
                  <a:srgbClr val="91457E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線接點 10">
                <a:extLst>
                  <a:ext uri="{FF2B5EF4-FFF2-40B4-BE49-F238E27FC236}">
                    <a16:creationId xmlns:a16="http://schemas.microsoft.com/office/drawing/2014/main" id="{970065DA-FFA9-D472-692B-64E476C2EF2C}"/>
                  </a:ext>
                </a:extLst>
              </p:cNvPr>
              <p:cNvCxnSpPr>
                <a:cxnSpLocks/>
                <a:stCxn id="9" idx="1"/>
              </p:cNvCxnSpPr>
              <p:nvPr/>
            </p:nvCxnSpPr>
            <p:spPr>
              <a:xfrm flipH="1" flipV="1">
                <a:off x="6129297" y="1671951"/>
                <a:ext cx="3733692" cy="26239"/>
              </a:xfrm>
              <a:prstGeom prst="line">
                <a:avLst/>
              </a:prstGeom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8" name="群組 37">
            <a:extLst>
              <a:ext uri="{FF2B5EF4-FFF2-40B4-BE49-F238E27FC236}">
                <a16:creationId xmlns:a16="http://schemas.microsoft.com/office/drawing/2014/main" id="{3446F905-0A04-680B-5DAD-7987AF585518}"/>
              </a:ext>
            </a:extLst>
          </p:cNvPr>
          <p:cNvGrpSpPr/>
          <p:nvPr/>
        </p:nvGrpSpPr>
        <p:grpSpPr>
          <a:xfrm>
            <a:off x="6769853" y="2674338"/>
            <a:ext cx="4744992" cy="1277063"/>
            <a:chOff x="449236" y="2724664"/>
            <a:chExt cx="4744992" cy="1277063"/>
          </a:xfrm>
        </p:grpSpPr>
        <p:grpSp>
          <p:nvGrpSpPr>
            <p:cNvPr id="15" name="群組 14">
              <a:extLst>
                <a:ext uri="{FF2B5EF4-FFF2-40B4-BE49-F238E27FC236}">
                  <a16:creationId xmlns:a16="http://schemas.microsoft.com/office/drawing/2014/main" id="{F853FDE5-8B9C-B76F-2F1A-B6516C915FF2}"/>
                </a:ext>
              </a:extLst>
            </p:cNvPr>
            <p:cNvGrpSpPr/>
            <p:nvPr/>
          </p:nvGrpSpPr>
          <p:grpSpPr>
            <a:xfrm>
              <a:off x="454657" y="2724664"/>
              <a:ext cx="4737307" cy="1277063"/>
              <a:chOff x="6129296" y="1202101"/>
              <a:chExt cx="4737307" cy="1277063"/>
            </a:xfrm>
          </p:grpSpPr>
          <p:sp>
            <p:nvSpPr>
              <p:cNvPr id="16" name="文字方塊 15">
                <a:extLst>
                  <a:ext uri="{FF2B5EF4-FFF2-40B4-BE49-F238E27FC236}">
                    <a16:creationId xmlns:a16="http://schemas.microsoft.com/office/drawing/2014/main" id="{5E439887-93E0-F09B-2078-41FE76A9CCE8}"/>
                  </a:ext>
                </a:extLst>
              </p:cNvPr>
              <p:cNvSpPr txBox="1"/>
              <p:nvPr/>
            </p:nvSpPr>
            <p:spPr>
              <a:xfrm>
                <a:off x="6198510" y="1832833"/>
                <a:ext cx="4668093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由於每個火山環境不同，大屯火山次聲波其有效頻帶還需深入探究</a:t>
                </a:r>
                <a:endParaRPr lang="en-US" altLang="zh-TW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sp>
            <p:nvSpPr>
              <p:cNvPr id="17" name="文字方塊 16">
                <a:extLst>
                  <a:ext uri="{FF2B5EF4-FFF2-40B4-BE49-F238E27FC236}">
                    <a16:creationId xmlns:a16="http://schemas.microsoft.com/office/drawing/2014/main" id="{3777A5E6-B922-8268-738A-0884EC6A6C56}"/>
                  </a:ext>
                </a:extLst>
              </p:cNvPr>
              <p:cNvSpPr txBox="1"/>
              <p:nvPr/>
            </p:nvSpPr>
            <p:spPr>
              <a:xfrm>
                <a:off x="6131557" y="1202101"/>
                <a:ext cx="466356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TW" altLang="en-US" sz="24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未來</a:t>
                </a:r>
                <a:r>
                  <a:rPr lang="en-US" altLang="zh-TW" sz="24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2</a:t>
                </a:r>
                <a:r>
                  <a:rPr lang="zh-TW" altLang="en-US" sz="24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rPr>
                  <a:t>：確定頻帶位置、帶寬</a:t>
                </a:r>
                <a:endPara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endParaRPr>
              </a:p>
            </p:txBody>
          </p: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91A34F02-9987-79BC-207D-6F7344B692B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29296" y="1236525"/>
                <a:ext cx="2264" cy="1242639"/>
              </a:xfrm>
              <a:prstGeom prst="line">
                <a:avLst/>
              </a:prstGeom>
              <a:solidFill>
                <a:srgbClr val="91457E"/>
              </a:solidFill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29" name="圖形 28" descr="心跳">
              <a:extLst>
                <a:ext uri="{FF2B5EF4-FFF2-40B4-BE49-F238E27FC236}">
                  <a16:creationId xmlns:a16="http://schemas.microsoft.com/office/drawing/2014/main" id="{00C6FC4D-730A-B3D8-AE95-6B45C3F20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82928" y="2938437"/>
              <a:ext cx="523432" cy="523432"/>
            </a:xfrm>
            <a:prstGeom prst="rect">
              <a:avLst/>
            </a:prstGeom>
          </p:spPr>
        </p:pic>
        <p:cxnSp>
          <p:nvCxnSpPr>
            <p:cNvPr id="30" name="直線單箭頭接點 29">
              <a:extLst>
                <a:ext uri="{FF2B5EF4-FFF2-40B4-BE49-F238E27FC236}">
                  <a16:creationId xmlns:a16="http://schemas.microsoft.com/office/drawing/2014/main" id="{DEEE6C50-4AA8-7112-802F-4E3DC06E0D17}"/>
                </a:ext>
              </a:extLst>
            </p:cNvPr>
            <p:cNvCxnSpPr>
              <a:cxnSpLocks/>
              <a:stCxn id="29" idx="3"/>
            </p:cNvCxnSpPr>
            <p:nvPr/>
          </p:nvCxnSpPr>
          <p:spPr>
            <a:xfrm>
              <a:off x="4706360" y="3200153"/>
              <a:ext cx="487868" cy="0"/>
            </a:xfrm>
            <a:prstGeom prst="straightConnector1">
              <a:avLst/>
            </a:prstGeom>
            <a:solidFill>
              <a:srgbClr val="91457E"/>
            </a:solidFill>
            <a:ln w="28575">
              <a:solidFill>
                <a:srgbClr val="9145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E7D2E17D-6862-5DDD-D3C1-094868A182DE}"/>
                </a:ext>
              </a:extLst>
            </p:cNvPr>
            <p:cNvCxnSpPr>
              <a:cxnSpLocks/>
              <a:stCxn id="29" idx="1"/>
            </p:cNvCxnSpPr>
            <p:nvPr/>
          </p:nvCxnSpPr>
          <p:spPr>
            <a:xfrm flipH="1" flipV="1">
              <a:off x="449236" y="3173914"/>
              <a:ext cx="3733692" cy="26239"/>
            </a:xfrm>
            <a:prstGeom prst="line">
              <a:avLst/>
            </a:prstGeom>
            <a:ln w="28575">
              <a:solidFill>
                <a:srgbClr val="91457E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B5BF252E-D7B8-1C9F-A0E2-543532B03FEB}"/>
              </a:ext>
            </a:extLst>
          </p:cNvPr>
          <p:cNvGrpSpPr/>
          <p:nvPr/>
        </p:nvGrpSpPr>
        <p:grpSpPr>
          <a:xfrm>
            <a:off x="6775960" y="4204994"/>
            <a:ext cx="4744992" cy="1831061"/>
            <a:chOff x="6487790" y="1359474"/>
            <a:chExt cx="4744992" cy="1831061"/>
          </a:xfrm>
        </p:grpSpPr>
        <p:cxnSp>
          <p:nvCxnSpPr>
            <p:cNvPr id="33" name="直線單箭頭接點 32">
              <a:extLst>
                <a:ext uri="{FF2B5EF4-FFF2-40B4-BE49-F238E27FC236}">
                  <a16:creationId xmlns:a16="http://schemas.microsoft.com/office/drawing/2014/main" id="{4C3F1D56-7DF9-7003-6097-3125047F6E60}"/>
                </a:ext>
              </a:extLst>
            </p:cNvPr>
            <p:cNvCxnSpPr>
              <a:cxnSpLocks/>
              <a:stCxn id="32" idx="3"/>
            </p:cNvCxnSpPr>
            <p:nvPr/>
          </p:nvCxnSpPr>
          <p:spPr>
            <a:xfrm>
              <a:off x="10744914" y="1855185"/>
              <a:ext cx="487868" cy="0"/>
            </a:xfrm>
            <a:prstGeom prst="straightConnector1">
              <a:avLst/>
            </a:prstGeom>
            <a:solidFill>
              <a:srgbClr val="91457E"/>
            </a:solidFill>
            <a:ln w="28575">
              <a:solidFill>
                <a:srgbClr val="91457E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群組 34">
              <a:extLst>
                <a:ext uri="{FF2B5EF4-FFF2-40B4-BE49-F238E27FC236}">
                  <a16:creationId xmlns:a16="http://schemas.microsoft.com/office/drawing/2014/main" id="{C8293B9E-DF7E-FA68-ABC2-8B0CFB0C06DD}"/>
                </a:ext>
              </a:extLst>
            </p:cNvPr>
            <p:cNvGrpSpPr/>
            <p:nvPr/>
          </p:nvGrpSpPr>
          <p:grpSpPr>
            <a:xfrm>
              <a:off x="6487790" y="1359474"/>
              <a:ext cx="4732778" cy="1831061"/>
              <a:chOff x="6422756" y="1296528"/>
              <a:chExt cx="4732778" cy="1831061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37ABFEDD-6386-DCFA-765A-25C15134B03A}"/>
                  </a:ext>
                </a:extLst>
              </p:cNvPr>
              <p:cNvGrpSpPr/>
              <p:nvPr/>
            </p:nvGrpSpPr>
            <p:grpSpPr>
              <a:xfrm>
                <a:off x="6422756" y="1296528"/>
                <a:ext cx="4732778" cy="1831061"/>
                <a:chOff x="6131558" y="1202101"/>
                <a:chExt cx="4732778" cy="1831061"/>
              </a:xfrm>
            </p:grpSpPr>
            <p:sp>
              <p:nvSpPr>
                <p:cNvPr id="12" name="文字方塊 11">
                  <a:extLst>
                    <a:ext uri="{FF2B5EF4-FFF2-40B4-BE49-F238E27FC236}">
                      <a16:creationId xmlns:a16="http://schemas.microsoft.com/office/drawing/2014/main" id="{CCF26002-4BC9-1788-8761-157F496F6DAA}"/>
                    </a:ext>
                  </a:extLst>
                </p:cNvPr>
                <p:cNvSpPr txBox="1"/>
                <p:nvPr/>
              </p:nvSpPr>
              <p:spPr>
                <a:xfrm>
                  <a:off x="6198510" y="1832833"/>
                  <a:ext cx="4663563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諮詢中研院地球科學專家，以噴口氣體成分、溫度等觀測資料，確認有無事件發生</a:t>
                  </a:r>
                  <a:endPara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zh-TW" altLang="en-US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優化演算法流程，減少執行時間，為未來及時監測系統做準備</a:t>
                  </a:r>
                  <a:endParaRPr lang="en-US" altLang="zh-TW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3B00A111-0341-061E-7C6F-204FBA94B0F2}"/>
                    </a:ext>
                  </a:extLst>
                </p:cNvPr>
                <p:cNvSpPr txBox="1"/>
                <p:nvPr/>
              </p:nvSpPr>
              <p:spPr>
                <a:xfrm>
                  <a:off x="6131558" y="1202101"/>
                  <a:ext cx="473277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zh-TW" altLang="en-US" sz="24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未來</a:t>
                  </a:r>
                  <a:r>
                    <a:rPr lang="en-US" altLang="zh-TW" sz="24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3</a:t>
                  </a:r>
                  <a:r>
                    <a:rPr lang="zh-TW" altLang="en-US" sz="2400" b="1" dirty="0">
                      <a:latin typeface="微軟正黑體" panose="020B0604030504040204" pitchFamily="34" charset="-120"/>
                      <a:ea typeface="微軟正黑體" panose="020B0604030504040204" pitchFamily="34" charset="-120"/>
                    </a:rPr>
                    <a:t>：確認分析方法可行性</a:t>
                  </a:r>
                  <a:endParaRPr lang="en-US" altLang="zh-TW" sz="2400" b="1" dirty="0">
                    <a:latin typeface="微軟正黑體" panose="020B0604030504040204" pitchFamily="34" charset="-120"/>
                    <a:ea typeface="微軟正黑體" panose="020B0604030504040204" pitchFamily="34" charset="-120"/>
                  </a:endParaRPr>
                </a:p>
              </p:txBody>
            </p: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7192C9D1-EAD4-F9C8-C7B0-6B0D579388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131560" y="1236525"/>
                  <a:ext cx="2262" cy="1796637"/>
                </a:xfrm>
                <a:prstGeom prst="line">
                  <a:avLst/>
                </a:prstGeom>
                <a:solidFill>
                  <a:srgbClr val="91457E"/>
                </a:solidFill>
                <a:ln w="28575">
                  <a:solidFill>
                    <a:srgbClr val="91457E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32" name="圖形 31" descr="心跳">
                <a:extLst>
                  <a:ext uri="{FF2B5EF4-FFF2-40B4-BE49-F238E27FC236}">
                    <a16:creationId xmlns:a16="http://schemas.microsoft.com/office/drawing/2014/main" id="{58FA6DA5-0EFA-AA39-0E6D-DA81636AC4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10156448" y="1530523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34" name="直線接點 33">
                <a:extLst>
                  <a:ext uri="{FF2B5EF4-FFF2-40B4-BE49-F238E27FC236}">
                    <a16:creationId xmlns:a16="http://schemas.microsoft.com/office/drawing/2014/main" id="{161E33FA-BCFA-A528-58FF-AC62713B8F17}"/>
                  </a:ext>
                </a:extLst>
              </p:cNvPr>
              <p:cNvCxnSpPr>
                <a:cxnSpLocks/>
                <a:stCxn id="32" idx="1"/>
              </p:cNvCxnSpPr>
              <p:nvPr/>
            </p:nvCxnSpPr>
            <p:spPr>
              <a:xfrm flipH="1" flipV="1">
                <a:off x="6422756" y="1766000"/>
                <a:ext cx="3733692" cy="26239"/>
              </a:xfrm>
              <a:prstGeom prst="line">
                <a:avLst/>
              </a:prstGeom>
              <a:ln w="28575">
                <a:solidFill>
                  <a:srgbClr val="91457E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群組 40">
            <a:extLst>
              <a:ext uri="{FF2B5EF4-FFF2-40B4-BE49-F238E27FC236}">
                <a16:creationId xmlns:a16="http://schemas.microsoft.com/office/drawing/2014/main" id="{78079CCD-91D0-7AFB-ECF9-27E17F1FCA16}"/>
              </a:ext>
            </a:extLst>
          </p:cNvPr>
          <p:cNvGrpSpPr/>
          <p:nvPr/>
        </p:nvGrpSpPr>
        <p:grpSpPr>
          <a:xfrm>
            <a:off x="932304" y="1221588"/>
            <a:ext cx="4744992" cy="1540434"/>
            <a:chOff x="6129297" y="1202101"/>
            <a:chExt cx="4744992" cy="1540434"/>
          </a:xfrm>
        </p:grpSpPr>
        <p:sp>
          <p:nvSpPr>
            <p:cNvPr id="42" name="文字方塊 41">
              <a:extLst>
                <a:ext uri="{FF2B5EF4-FFF2-40B4-BE49-F238E27FC236}">
                  <a16:creationId xmlns:a16="http://schemas.microsoft.com/office/drawing/2014/main" id="{EDF23FED-E1B5-C008-29C4-EFEFB8A702D8}"/>
                </a:ext>
              </a:extLst>
            </p:cNvPr>
            <p:cNvSpPr txBox="1"/>
            <p:nvPr/>
          </p:nvSpPr>
          <p:spPr>
            <a:xfrm>
              <a:off x="6200771" y="1819205"/>
              <a:ext cx="46680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根據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PSD Plot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，本研究觀察六個測站，其中四個測站在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25~35 Hz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有能量波動，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推測可能有較多高頻噪音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3" name="文字方塊 42">
              <a:extLst>
                <a:ext uri="{FF2B5EF4-FFF2-40B4-BE49-F238E27FC236}">
                  <a16:creationId xmlns:a16="http://schemas.microsoft.com/office/drawing/2014/main" id="{53496E03-D2A6-3604-E7A7-8C90696408B0}"/>
                </a:ext>
              </a:extLst>
            </p:cNvPr>
            <p:cNvSpPr txBox="1"/>
            <p:nvPr/>
          </p:nvSpPr>
          <p:spPr>
            <a:xfrm>
              <a:off x="6131557" y="1202101"/>
              <a:ext cx="4735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1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25~35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Hz 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能量波動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4" name="群組 43">
              <a:extLst>
                <a:ext uri="{FF2B5EF4-FFF2-40B4-BE49-F238E27FC236}">
                  <a16:creationId xmlns:a16="http://schemas.microsoft.com/office/drawing/2014/main" id="{4BC9BC32-DE86-1082-B333-1CC875BCC672}"/>
                </a:ext>
              </a:extLst>
            </p:cNvPr>
            <p:cNvGrpSpPr/>
            <p:nvPr/>
          </p:nvGrpSpPr>
          <p:grpSpPr>
            <a:xfrm>
              <a:off x="6129297" y="1236525"/>
              <a:ext cx="4744992" cy="1452750"/>
              <a:chOff x="6129297" y="1236525"/>
              <a:chExt cx="4744992" cy="1452750"/>
            </a:xfrm>
          </p:grpSpPr>
          <p:cxnSp>
            <p:nvCxnSpPr>
              <p:cNvPr id="45" name="直線接點 44">
                <a:extLst>
                  <a:ext uri="{FF2B5EF4-FFF2-40B4-BE49-F238E27FC236}">
                    <a16:creationId xmlns:a16="http://schemas.microsoft.com/office/drawing/2014/main" id="{B8D67FCF-44A0-2443-4F84-A6B2E41C3D6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452750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46" name="圖形 45" descr="心跳">
                <a:extLst>
                  <a:ext uri="{FF2B5EF4-FFF2-40B4-BE49-F238E27FC236}">
                    <a16:creationId xmlns:a16="http://schemas.microsoft.com/office/drawing/2014/main" id="{BCBE4454-D506-AD69-B6DD-C75CC38FA8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62989" y="143647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47" name="直線單箭頭接點 46">
                <a:extLst>
                  <a:ext uri="{FF2B5EF4-FFF2-40B4-BE49-F238E27FC236}">
                    <a16:creationId xmlns:a16="http://schemas.microsoft.com/office/drawing/2014/main" id="{38A70962-9592-D92D-0DA4-76C62A6FF5F7}"/>
                  </a:ext>
                </a:extLst>
              </p:cNvPr>
              <p:cNvCxnSpPr>
                <a:cxnSpLocks/>
                <a:stCxn id="46" idx="3"/>
              </p:cNvCxnSpPr>
              <p:nvPr/>
            </p:nvCxnSpPr>
            <p:spPr>
              <a:xfrm>
                <a:off x="10386421" y="1698190"/>
                <a:ext cx="487868" cy="0"/>
              </a:xfrm>
              <a:prstGeom prst="straightConnector1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線接點 47">
                <a:extLst>
                  <a:ext uri="{FF2B5EF4-FFF2-40B4-BE49-F238E27FC236}">
                    <a16:creationId xmlns:a16="http://schemas.microsoft.com/office/drawing/2014/main" id="{A4580A56-FA23-4037-5B5A-E48A932E7ADF}"/>
                  </a:ext>
                </a:extLst>
              </p:cNvPr>
              <p:cNvCxnSpPr>
                <a:cxnSpLocks/>
                <a:stCxn id="46" idx="1"/>
              </p:cNvCxnSpPr>
              <p:nvPr/>
            </p:nvCxnSpPr>
            <p:spPr>
              <a:xfrm flipH="1" flipV="1">
                <a:off x="6129297" y="1671951"/>
                <a:ext cx="3733692" cy="26239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50" name="群組 49">
            <a:extLst>
              <a:ext uri="{FF2B5EF4-FFF2-40B4-BE49-F238E27FC236}">
                <a16:creationId xmlns:a16="http://schemas.microsoft.com/office/drawing/2014/main" id="{05737BBF-7D92-213C-C12B-7940FC8A72F6}"/>
              </a:ext>
            </a:extLst>
          </p:cNvPr>
          <p:cNvGrpSpPr/>
          <p:nvPr/>
        </p:nvGrpSpPr>
        <p:grpSpPr>
          <a:xfrm>
            <a:off x="931172" y="4840606"/>
            <a:ext cx="4746124" cy="1540434"/>
            <a:chOff x="6128165" y="1202101"/>
            <a:chExt cx="4746124" cy="1540434"/>
          </a:xfrm>
        </p:grpSpPr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2C37B809-DB12-C522-8C71-0E704EBB38B7}"/>
                </a:ext>
              </a:extLst>
            </p:cNvPr>
            <p:cNvSpPr txBox="1"/>
            <p:nvPr/>
          </p:nvSpPr>
          <p:spPr>
            <a:xfrm>
              <a:off x="6200771" y="1819205"/>
              <a:ext cx="4668093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機器學習能根據頻帶功率特徵，初步分離有無事件發生，但是否為火山相關事件仍有待研究</a:t>
              </a:r>
              <a:endPara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DC225C72-A5AD-D470-B437-77E751A03D80}"/>
                </a:ext>
              </a:extLst>
            </p:cNvPr>
            <p:cNvSpPr txBox="1"/>
            <p:nvPr/>
          </p:nvSpPr>
          <p:spPr>
            <a:xfrm>
              <a:off x="6131557" y="1202101"/>
              <a:ext cx="4735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3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：頻帶功率分類事件有無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E20C7238-B119-FA3B-49EC-F66779C4C5FE}"/>
                </a:ext>
              </a:extLst>
            </p:cNvPr>
            <p:cNvGrpSpPr/>
            <p:nvPr/>
          </p:nvGrpSpPr>
          <p:grpSpPr>
            <a:xfrm>
              <a:off x="6128165" y="1236525"/>
              <a:ext cx="4746124" cy="1464810"/>
              <a:chOff x="6128165" y="1236525"/>
              <a:chExt cx="4746124" cy="1464810"/>
            </a:xfrm>
          </p:grpSpPr>
          <p:cxnSp>
            <p:nvCxnSpPr>
              <p:cNvPr id="54" name="直線接點 53">
                <a:extLst>
                  <a:ext uri="{FF2B5EF4-FFF2-40B4-BE49-F238E27FC236}">
                    <a16:creationId xmlns:a16="http://schemas.microsoft.com/office/drawing/2014/main" id="{20D4DDC0-FF64-6A90-1F52-F04CB1CC455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128165" y="1236525"/>
                <a:ext cx="3395" cy="1464810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5" name="圖形 54" descr="心跳">
                <a:extLst>
                  <a:ext uri="{FF2B5EF4-FFF2-40B4-BE49-F238E27FC236}">
                    <a16:creationId xmlns:a16="http://schemas.microsoft.com/office/drawing/2014/main" id="{00374D0E-293A-F0C1-0CAF-6C4EF5123A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62989" y="143647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56" name="直線單箭頭接點 55">
                <a:extLst>
                  <a:ext uri="{FF2B5EF4-FFF2-40B4-BE49-F238E27FC236}">
                    <a16:creationId xmlns:a16="http://schemas.microsoft.com/office/drawing/2014/main" id="{F9E439E0-E0AC-DF6A-2FFE-C916033FF2E0}"/>
                  </a:ext>
                </a:extLst>
              </p:cNvPr>
              <p:cNvCxnSpPr>
                <a:cxnSpLocks/>
                <a:stCxn id="55" idx="3"/>
              </p:cNvCxnSpPr>
              <p:nvPr/>
            </p:nvCxnSpPr>
            <p:spPr>
              <a:xfrm>
                <a:off x="10386421" y="1698190"/>
                <a:ext cx="487868" cy="0"/>
              </a:xfrm>
              <a:prstGeom prst="straightConnector1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直線接點 56">
                <a:extLst>
                  <a:ext uri="{FF2B5EF4-FFF2-40B4-BE49-F238E27FC236}">
                    <a16:creationId xmlns:a16="http://schemas.microsoft.com/office/drawing/2014/main" id="{397E4C07-D3DB-331B-C4E7-96D13120BEE1}"/>
                  </a:ext>
                </a:extLst>
              </p:cNvPr>
              <p:cNvCxnSpPr>
                <a:cxnSpLocks/>
                <a:stCxn id="55" idx="1"/>
              </p:cNvCxnSpPr>
              <p:nvPr/>
            </p:nvCxnSpPr>
            <p:spPr>
              <a:xfrm flipH="1" flipV="1">
                <a:off x="6129297" y="1671951"/>
                <a:ext cx="3733692" cy="26239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BD254810-4FF7-A4E9-297F-767B388D32A6}"/>
              </a:ext>
            </a:extLst>
          </p:cNvPr>
          <p:cNvGrpSpPr/>
          <p:nvPr/>
        </p:nvGrpSpPr>
        <p:grpSpPr>
          <a:xfrm>
            <a:off x="932304" y="2866795"/>
            <a:ext cx="4744992" cy="1817433"/>
            <a:chOff x="6129297" y="1202101"/>
            <a:chExt cx="4744992" cy="1817433"/>
          </a:xfrm>
        </p:grpSpPr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39F67597-96DA-A988-8830-18E06FFCC5C6}"/>
                </a:ext>
              </a:extLst>
            </p:cNvPr>
            <p:cNvSpPr txBox="1"/>
            <p:nvPr/>
          </p:nvSpPr>
          <p:spPr>
            <a:xfrm>
              <a:off x="6200771" y="1819205"/>
              <a:ext cx="466809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本研究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繪製 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Band Power Plot 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觀察六個測站在此頻帶之</a:t>
              </a:r>
              <a:r>
                <a:rPr lang="zh-TW" altLang="en-US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頻帶功率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值 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(BP)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，發現訊號來源</a:t>
              </a:r>
              <a:r>
                <a:rPr lang="zh-TW" altLang="en-US" sz="1800" b="1" dirty="0">
                  <a:solidFill>
                    <a:srgbClr val="FF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穩定且乾淨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，所以相比高頻帶，低頻事件較有可能為火山次聲波</a:t>
              </a:r>
              <a:endPara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40" name="文字方塊 39">
              <a:extLst>
                <a:ext uri="{FF2B5EF4-FFF2-40B4-BE49-F238E27FC236}">
                  <a16:creationId xmlns:a16="http://schemas.microsoft.com/office/drawing/2014/main" id="{11E43E58-FB3B-89B0-1076-9737AC4002D9}"/>
                </a:ext>
              </a:extLst>
            </p:cNvPr>
            <p:cNvSpPr txBox="1"/>
            <p:nvPr/>
          </p:nvSpPr>
          <p:spPr>
            <a:xfrm>
              <a:off x="6131557" y="1202101"/>
              <a:ext cx="473504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結論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2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：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0.5~3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</a:t>
              </a:r>
              <a:r>
                <a:rPr lang="en-US" altLang="zh-TW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Hz </a:t>
              </a:r>
              <a:r>
                <a:rPr lang="zh-TW" altLang="en-US" sz="2400" b="1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頻帶功率穩定</a:t>
              </a:r>
              <a:endParaRPr lang="en-US" altLang="zh-TW" sz="2400" b="1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9" name="群組 48">
              <a:extLst>
                <a:ext uri="{FF2B5EF4-FFF2-40B4-BE49-F238E27FC236}">
                  <a16:creationId xmlns:a16="http://schemas.microsoft.com/office/drawing/2014/main" id="{6A211600-A02C-73B4-31D8-D47E2290F7E3}"/>
                </a:ext>
              </a:extLst>
            </p:cNvPr>
            <p:cNvGrpSpPr/>
            <p:nvPr/>
          </p:nvGrpSpPr>
          <p:grpSpPr>
            <a:xfrm>
              <a:off x="6129297" y="1236525"/>
              <a:ext cx="4744992" cy="1765440"/>
              <a:chOff x="6129297" y="1236525"/>
              <a:chExt cx="4744992" cy="1765440"/>
            </a:xfrm>
          </p:grpSpPr>
          <p:cxnSp>
            <p:nvCxnSpPr>
              <p:cNvPr id="58" name="直線接點 57">
                <a:extLst>
                  <a:ext uri="{FF2B5EF4-FFF2-40B4-BE49-F238E27FC236}">
                    <a16:creationId xmlns:a16="http://schemas.microsoft.com/office/drawing/2014/main" id="{CE4F12B8-3B97-DD9C-74BD-75C42E746D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31560" y="1236525"/>
                <a:ext cx="0" cy="1765440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59" name="圖形 58" descr="心跳">
                <a:extLst>
                  <a:ext uri="{FF2B5EF4-FFF2-40B4-BE49-F238E27FC236}">
                    <a16:creationId xmlns:a16="http://schemas.microsoft.com/office/drawing/2014/main" id="{0483B89A-A538-4BD9-B717-23C9A7BD5F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9862989" y="1436474"/>
                <a:ext cx="523432" cy="523432"/>
              </a:xfrm>
              <a:prstGeom prst="rect">
                <a:avLst/>
              </a:prstGeom>
            </p:spPr>
          </p:pic>
          <p:cxnSp>
            <p:nvCxnSpPr>
              <p:cNvPr id="60" name="直線單箭頭接點 59">
                <a:extLst>
                  <a:ext uri="{FF2B5EF4-FFF2-40B4-BE49-F238E27FC236}">
                    <a16:creationId xmlns:a16="http://schemas.microsoft.com/office/drawing/2014/main" id="{926E7281-2A1D-0F04-8F40-8EECFCA2E6B6}"/>
                  </a:ext>
                </a:extLst>
              </p:cNvPr>
              <p:cNvCxnSpPr>
                <a:cxnSpLocks/>
                <a:stCxn id="59" idx="3"/>
              </p:cNvCxnSpPr>
              <p:nvPr/>
            </p:nvCxnSpPr>
            <p:spPr>
              <a:xfrm>
                <a:off x="10386421" y="1698190"/>
                <a:ext cx="487868" cy="0"/>
              </a:xfrm>
              <a:prstGeom prst="straightConnector1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直線接點 60">
                <a:extLst>
                  <a:ext uri="{FF2B5EF4-FFF2-40B4-BE49-F238E27FC236}">
                    <a16:creationId xmlns:a16="http://schemas.microsoft.com/office/drawing/2014/main" id="{2A6449CE-FD6E-772C-7294-962A624B9680}"/>
                  </a:ext>
                </a:extLst>
              </p:cNvPr>
              <p:cNvCxnSpPr>
                <a:cxnSpLocks/>
                <a:stCxn id="59" idx="1"/>
              </p:cNvCxnSpPr>
              <p:nvPr/>
            </p:nvCxnSpPr>
            <p:spPr>
              <a:xfrm flipH="1" flipV="1">
                <a:off x="6129297" y="1671951"/>
                <a:ext cx="3733692" cy="26239"/>
              </a:xfrm>
              <a:prstGeom prst="line">
                <a:avLst/>
              </a:prstGeom>
              <a:solidFill>
                <a:srgbClr val="278488"/>
              </a:solidFill>
              <a:ln w="28575">
                <a:solidFill>
                  <a:srgbClr val="278488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72168857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11869d692e4_1_52"/>
          <p:cNvSpPr txBox="1">
            <a:spLocks noGrp="1"/>
          </p:cNvSpPr>
          <p:nvPr>
            <p:ph type="sldNum" idx="12"/>
          </p:nvPr>
        </p:nvSpPr>
        <p:spPr>
          <a:xfrm>
            <a:off x="8610600" y="6432550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altLang="zh-TW">
                <a:latin typeface="+mj-lt"/>
              </a:rPr>
              <a:t>8</a:t>
            </a:fld>
            <a:endParaRPr dirty="0">
              <a:latin typeface="+mj-lt"/>
            </a:endParaRPr>
          </a:p>
        </p:txBody>
      </p:sp>
      <p:sp>
        <p:nvSpPr>
          <p:cNvPr id="141" name="Google Shape;141;g11869d692e4_1_52"/>
          <p:cNvSpPr txBox="1">
            <a:spLocks noGrp="1"/>
          </p:cNvSpPr>
          <p:nvPr>
            <p:ph type="title" idx="3"/>
          </p:nvPr>
        </p:nvSpPr>
        <p:spPr>
          <a:xfrm>
            <a:off x="1477027" y="287112"/>
            <a:ext cx="10515600" cy="569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lvl="0">
              <a:lnSpc>
                <a:spcPct val="100000"/>
              </a:lnSpc>
            </a:pP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B4B384E-27CE-FF9D-4B96-1E8C722A35B6}"/>
              </a:ext>
            </a:extLst>
          </p:cNvPr>
          <p:cNvSpPr txBox="1"/>
          <p:nvPr/>
        </p:nvSpPr>
        <p:spPr>
          <a:xfrm>
            <a:off x="2541180" y="1537770"/>
            <a:ext cx="710963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6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感謝聆聽，請多指教</a:t>
            </a:r>
          </a:p>
        </p:txBody>
      </p:sp>
      <p:grpSp>
        <p:nvGrpSpPr>
          <p:cNvPr id="18" name="Google Shape;13586;p71">
            <a:extLst>
              <a:ext uri="{FF2B5EF4-FFF2-40B4-BE49-F238E27FC236}">
                <a16:creationId xmlns:a16="http://schemas.microsoft.com/office/drawing/2014/main" id="{DF7E544E-49E7-06DF-85C7-15F46ED00DA3}"/>
              </a:ext>
            </a:extLst>
          </p:cNvPr>
          <p:cNvGrpSpPr/>
          <p:nvPr/>
        </p:nvGrpSpPr>
        <p:grpSpPr>
          <a:xfrm>
            <a:off x="3747303" y="2883950"/>
            <a:ext cx="4697393" cy="2847916"/>
            <a:chOff x="3961923" y="2486317"/>
            <a:chExt cx="364415" cy="220936"/>
          </a:xfrm>
          <a:gradFill flip="none" rotWithShape="1">
            <a:gsLst>
              <a:gs pos="0">
                <a:srgbClr val="298480"/>
              </a:gs>
              <a:gs pos="68000">
                <a:srgbClr val="696294"/>
              </a:gs>
              <a:gs pos="52000">
                <a:srgbClr val="347DAC"/>
              </a:gs>
              <a:gs pos="34000">
                <a:srgbClr val="2086AE"/>
              </a:gs>
              <a:gs pos="17000">
                <a:srgbClr val="2386A0"/>
              </a:gs>
              <a:gs pos="86000">
                <a:srgbClr val="805589"/>
              </a:gs>
              <a:gs pos="100000">
                <a:srgbClr val="9E3C73"/>
              </a:gs>
            </a:gsLst>
            <a:lin ang="0" scaled="1"/>
            <a:tileRect/>
          </a:gradFill>
        </p:grpSpPr>
        <p:sp>
          <p:nvSpPr>
            <p:cNvPr id="21" name="Google Shape;13587;p71">
              <a:extLst>
                <a:ext uri="{FF2B5EF4-FFF2-40B4-BE49-F238E27FC236}">
                  <a16:creationId xmlns:a16="http://schemas.microsoft.com/office/drawing/2014/main" id="{703A0031-F0B1-084B-8B6B-624B0F7E6BB8}"/>
                </a:ext>
              </a:extLst>
            </p:cNvPr>
            <p:cNvSpPr/>
            <p:nvPr/>
          </p:nvSpPr>
          <p:spPr>
            <a:xfrm>
              <a:off x="4106764" y="2486507"/>
              <a:ext cx="219574" cy="220746"/>
            </a:xfrm>
            <a:custGeom>
              <a:avLst/>
              <a:gdLst/>
              <a:ahLst/>
              <a:cxnLst/>
              <a:rect l="l" t="t" r="r" b="b"/>
              <a:pathLst>
                <a:path w="6931" h="6968" extrusionOk="0">
                  <a:moveTo>
                    <a:pt x="4114" y="1"/>
                  </a:moveTo>
                  <a:cubicBezTo>
                    <a:pt x="4035" y="1"/>
                    <a:pt x="3953" y="69"/>
                    <a:pt x="3942" y="157"/>
                  </a:cubicBezTo>
                  <a:cubicBezTo>
                    <a:pt x="3930" y="240"/>
                    <a:pt x="4001" y="336"/>
                    <a:pt x="4085" y="348"/>
                  </a:cubicBezTo>
                  <a:cubicBezTo>
                    <a:pt x="4906" y="455"/>
                    <a:pt x="5633" y="895"/>
                    <a:pt x="6085" y="1574"/>
                  </a:cubicBezTo>
                  <a:cubicBezTo>
                    <a:pt x="6764" y="2610"/>
                    <a:pt x="6728" y="3943"/>
                    <a:pt x="5954" y="4908"/>
                  </a:cubicBezTo>
                  <a:cubicBezTo>
                    <a:pt x="5918" y="4943"/>
                    <a:pt x="5906" y="4991"/>
                    <a:pt x="5918" y="5027"/>
                  </a:cubicBezTo>
                  <a:lnTo>
                    <a:pt x="5990" y="6539"/>
                  </a:lnTo>
                  <a:lnTo>
                    <a:pt x="5990" y="6539"/>
                  </a:lnTo>
                  <a:lnTo>
                    <a:pt x="4644" y="5896"/>
                  </a:lnTo>
                  <a:cubicBezTo>
                    <a:pt x="4609" y="5884"/>
                    <a:pt x="4561" y="5884"/>
                    <a:pt x="4525" y="5884"/>
                  </a:cubicBezTo>
                  <a:cubicBezTo>
                    <a:pt x="4272" y="5957"/>
                    <a:pt x="4014" y="5992"/>
                    <a:pt x="3758" y="5992"/>
                  </a:cubicBezTo>
                  <a:cubicBezTo>
                    <a:pt x="2969" y="5992"/>
                    <a:pt x="2201" y="5659"/>
                    <a:pt x="1644" y="5074"/>
                  </a:cubicBezTo>
                  <a:cubicBezTo>
                    <a:pt x="1584" y="5015"/>
                    <a:pt x="1549" y="4955"/>
                    <a:pt x="1501" y="4896"/>
                  </a:cubicBezTo>
                  <a:cubicBezTo>
                    <a:pt x="1453" y="4836"/>
                    <a:pt x="1430" y="4789"/>
                    <a:pt x="1382" y="4729"/>
                  </a:cubicBezTo>
                  <a:lnTo>
                    <a:pt x="1382" y="4717"/>
                  </a:lnTo>
                  <a:cubicBezTo>
                    <a:pt x="1620" y="4300"/>
                    <a:pt x="1751" y="3836"/>
                    <a:pt x="1787" y="3384"/>
                  </a:cubicBezTo>
                  <a:cubicBezTo>
                    <a:pt x="1787" y="3288"/>
                    <a:pt x="1727" y="3205"/>
                    <a:pt x="1632" y="3205"/>
                  </a:cubicBezTo>
                  <a:cubicBezTo>
                    <a:pt x="1549" y="3205"/>
                    <a:pt x="1453" y="3265"/>
                    <a:pt x="1453" y="3348"/>
                  </a:cubicBezTo>
                  <a:cubicBezTo>
                    <a:pt x="1430" y="3836"/>
                    <a:pt x="1263" y="4312"/>
                    <a:pt x="977" y="4729"/>
                  </a:cubicBezTo>
                  <a:cubicBezTo>
                    <a:pt x="739" y="5074"/>
                    <a:pt x="441" y="5360"/>
                    <a:pt x="96" y="5586"/>
                  </a:cubicBezTo>
                  <a:cubicBezTo>
                    <a:pt x="25" y="5622"/>
                    <a:pt x="1" y="5729"/>
                    <a:pt x="37" y="5801"/>
                  </a:cubicBezTo>
                  <a:cubicBezTo>
                    <a:pt x="72" y="5848"/>
                    <a:pt x="132" y="5884"/>
                    <a:pt x="191" y="5884"/>
                  </a:cubicBezTo>
                  <a:cubicBezTo>
                    <a:pt x="215" y="5884"/>
                    <a:pt x="251" y="5860"/>
                    <a:pt x="275" y="5848"/>
                  </a:cubicBezTo>
                  <a:cubicBezTo>
                    <a:pt x="632" y="5622"/>
                    <a:pt x="953" y="5348"/>
                    <a:pt x="1192" y="5015"/>
                  </a:cubicBezTo>
                  <a:cubicBezTo>
                    <a:pt x="1203" y="5051"/>
                    <a:pt x="1215" y="5062"/>
                    <a:pt x="1251" y="5086"/>
                  </a:cubicBezTo>
                  <a:cubicBezTo>
                    <a:pt x="1311" y="5170"/>
                    <a:pt x="1370" y="5229"/>
                    <a:pt x="1406" y="5301"/>
                  </a:cubicBezTo>
                  <a:cubicBezTo>
                    <a:pt x="1811" y="5729"/>
                    <a:pt x="2323" y="6039"/>
                    <a:pt x="2894" y="6205"/>
                  </a:cubicBezTo>
                  <a:cubicBezTo>
                    <a:pt x="3179" y="6284"/>
                    <a:pt x="3465" y="6323"/>
                    <a:pt x="3749" y="6323"/>
                  </a:cubicBezTo>
                  <a:cubicBezTo>
                    <a:pt x="4021" y="6323"/>
                    <a:pt x="4293" y="6287"/>
                    <a:pt x="4561" y="6217"/>
                  </a:cubicBezTo>
                  <a:lnTo>
                    <a:pt x="6109" y="6956"/>
                  </a:lnTo>
                  <a:cubicBezTo>
                    <a:pt x="6145" y="6967"/>
                    <a:pt x="6156" y="6967"/>
                    <a:pt x="6192" y="6967"/>
                  </a:cubicBezTo>
                  <a:cubicBezTo>
                    <a:pt x="6216" y="6967"/>
                    <a:pt x="6252" y="6956"/>
                    <a:pt x="6275" y="6932"/>
                  </a:cubicBezTo>
                  <a:cubicBezTo>
                    <a:pt x="6323" y="6908"/>
                    <a:pt x="6347" y="6848"/>
                    <a:pt x="6347" y="6789"/>
                  </a:cubicBezTo>
                  <a:lnTo>
                    <a:pt x="6275" y="5074"/>
                  </a:lnTo>
                  <a:cubicBezTo>
                    <a:pt x="6668" y="4574"/>
                    <a:pt x="6883" y="3955"/>
                    <a:pt x="6918" y="3300"/>
                  </a:cubicBezTo>
                  <a:cubicBezTo>
                    <a:pt x="6930" y="2622"/>
                    <a:pt x="6752" y="1967"/>
                    <a:pt x="6371" y="1383"/>
                  </a:cubicBezTo>
                  <a:cubicBezTo>
                    <a:pt x="5859" y="633"/>
                    <a:pt x="5037" y="121"/>
                    <a:pt x="4132" y="2"/>
                  </a:cubicBezTo>
                  <a:cubicBezTo>
                    <a:pt x="4126" y="1"/>
                    <a:pt x="4120" y="1"/>
                    <a:pt x="41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3588;p71">
              <a:extLst>
                <a:ext uri="{FF2B5EF4-FFF2-40B4-BE49-F238E27FC236}">
                  <a16:creationId xmlns:a16="http://schemas.microsoft.com/office/drawing/2014/main" id="{940EDB1A-708A-99F4-0ED6-70A051FFB1B5}"/>
                </a:ext>
              </a:extLst>
            </p:cNvPr>
            <p:cNvSpPr/>
            <p:nvPr/>
          </p:nvSpPr>
          <p:spPr>
            <a:xfrm>
              <a:off x="3961923" y="2486317"/>
              <a:ext cx="259839" cy="220936"/>
            </a:xfrm>
            <a:custGeom>
              <a:avLst/>
              <a:gdLst/>
              <a:ahLst/>
              <a:cxnLst/>
              <a:rect l="l" t="t" r="r" b="b"/>
              <a:pathLst>
                <a:path w="8202" h="6974" extrusionOk="0">
                  <a:moveTo>
                    <a:pt x="3198" y="1"/>
                  </a:moveTo>
                  <a:cubicBezTo>
                    <a:pt x="2177" y="1"/>
                    <a:pt x="1174" y="493"/>
                    <a:pt x="560" y="1413"/>
                  </a:cubicBezTo>
                  <a:cubicBezTo>
                    <a:pt x="179" y="1973"/>
                    <a:pt x="1" y="2640"/>
                    <a:pt x="25" y="3318"/>
                  </a:cubicBezTo>
                  <a:cubicBezTo>
                    <a:pt x="60" y="3949"/>
                    <a:pt x="287" y="4556"/>
                    <a:pt x="668" y="5080"/>
                  </a:cubicBezTo>
                  <a:lnTo>
                    <a:pt x="596" y="6795"/>
                  </a:lnTo>
                  <a:cubicBezTo>
                    <a:pt x="596" y="6854"/>
                    <a:pt x="620" y="6914"/>
                    <a:pt x="668" y="6938"/>
                  </a:cubicBezTo>
                  <a:cubicBezTo>
                    <a:pt x="703" y="6962"/>
                    <a:pt x="727" y="6973"/>
                    <a:pt x="763" y="6973"/>
                  </a:cubicBezTo>
                  <a:cubicBezTo>
                    <a:pt x="787" y="6973"/>
                    <a:pt x="799" y="6973"/>
                    <a:pt x="834" y="6962"/>
                  </a:cubicBezTo>
                  <a:lnTo>
                    <a:pt x="2382" y="6235"/>
                  </a:lnTo>
                  <a:cubicBezTo>
                    <a:pt x="2647" y="6300"/>
                    <a:pt x="2916" y="6333"/>
                    <a:pt x="3186" y="6333"/>
                  </a:cubicBezTo>
                  <a:cubicBezTo>
                    <a:pt x="3512" y="6333"/>
                    <a:pt x="3837" y="6285"/>
                    <a:pt x="4156" y="6188"/>
                  </a:cubicBezTo>
                  <a:cubicBezTo>
                    <a:pt x="4240" y="6152"/>
                    <a:pt x="4287" y="6069"/>
                    <a:pt x="4251" y="5973"/>
                  </a:cubicBezTo>
                  <a:cubicBezTo>
                    <a:pt x="4233" y="5909"/>
                    <a:pt x="4172" y="5866"/>
                    <a:pt x="4107" y="5866"/>
                  </a:cubicBezTo>
                  <a:cubicBezTo>
                    <a:pt x="4088" y="5866"/>
                    <a:pt x="4068" y="5870"/>
                    <a:pt x="4049" y="5878"/>
                  </a:cubicBezTo>
                  <a:cubicBezTo>
                    <a:pt x="3772" y="5971"/>
                    <a:pt x="3484" y="6015"/>
                    <a:pt x="3198" y="6015"/>
                  </a:cubicBezTo>
                  <a:cubicBezTo>
                    <a:pt x="2931" y="6015"/>
                    <a:pt x="2664" y="5976"/>
                    <a:pt x="2406" y="5902"/>
                  </a:cubicBezTo>
                  <a:cubicBezTo>
                    <a:pt x="2391" y="5897"/>
                    <a:pt x="2376" y="5894"/>
                    <a:pt x="2361" y="5894"/>
                  </a:cubicBezTo>
                  <a:cubicBezTo>
                    <a:pt x="2339" y="5894"/>
                    <a:pt x="2315" y="5900"/>
                    <a:pt x="2287" y="5914"/>
                  </a:cubicBezTo>
                  <a:lnTo>
                    <a:pt x="941" y="6533"/>
                  </a:lnTo>
                  <a:lnTo>
                    <a:pt x="941" y="6533"/>
                  </a:lnTo>
                  <a:lnTo>
                    <a:pt x="1013" y="5021"/>
                  </a:lnTo>
                  <a:cubicBezTo>
                    <a:pt x="1013" y="4985"/>
                    <a:pt x="1001" y="4949"/>
                    <a:pt x="977" y="4902"/>
                  </a:cubicBezTo>
                  <a:cubicBezTo>
                    <a:pt x="203" y="3937"/>
                    <a:pt x="168" y="2604"/>
                    <a:pt x="846" y="1568"/>
                  </a:cubicBezTo>
                  <a:cubicBezTo>
                    <a:pt x="1393" y="759"/>
                    <a:pt x="2293" y="318"/>
                    <a:pt x="3208" y="318"/>
                  </a:cubicBezTo>
                  <a:cubicBezTo>
                    <a:pt x="3748" y="318"/>
                    <a:pt x="4294" y="472"/>
                    <a:pt x="4775" y="794"/>
                  </a:cubicBezTo>
                  <a:cubicBezTo>
                    <a:pt x="5430" y="1247"/>
                    <a:pt x="5883" y="1949"/>
                    <a:pt x="6002" y="2735"/>
                  </a:cubicBezTo>
                  <a:cubicBezTo>
                    <a:pt x="6013" y="2811"/>
                    <a:pt x="6083" y="2867"/>
                    <a:pt x="6168" y="2867"/>
                  </a:cubicBezTo>
                  <a:cubicBezTo>
                    <a:pt x="6176" y="2867"/>
                    <a:pt x="6184" y="2867"/>
                    <a:pt x="6192" y="2866"/>
                  </a:cubicBezTo>
                  <a:cubicBezTo>
                    <a:pt x="6275" y="2854"/>
                    <a:pt x="6335" y="2759"/>
                    <a:pt x="6323" y="2675"/>
                  </a:cubicBezTo>
                  <a:cubicBezTo>
                    <a:pt x="6264" y="2282"/>
                    <a:pt x="6133" y="1913"/>
                    <a:pt x="5954" y="1592"/>
                  </a:cubicBezTo>
                  <a:cubicBezTo>
                    <a:pt x="5990" y="1532"/>
                    <a:pt x="6025" y="1473"/>
                    <a:pt x="6073" y="1413"/>
                  </a:cubicBezTo>
                  <a:cubicBezTo>
                    <a:pt x="6133" y="1330"/>
                    <a:pt x="6192" y="1270"/>
                    <a:pt x="6252" y="1199"/>
                  </a:cubicBezTo>
                  <a:cubicBezTo>
                    <a:pt x="6395" y="1056"/>
                    <a:pt x="6561" y="901"/>
                    <a:pt x="6740" y="782"/>
                  </a:cubicBezTo>
                  <a:cubicBezTo>
                    <a:pt x="7121" y="520"/>
                    <a:pt x="7585" y="365"/>
                    <a:pt x="8050" y="318"/>
                  </a:cubicBezTo>
                  <a:cubicBezTo>
                    <a:pt x="8057" y="320"/>
                    <a:pt x="8065" y="322"/>
                    <a:pt x="8073" y="322"/>
                  </a:cubicBezTo>
                  <a:cubicBezTo>
                    <a:pt x="8137" y="322"/>
                    <a:pt x="8202" y="238"/>
                    <a:pt x="8180" y="163"/>
                  </a:cubicBezTo>
                  <a:cubicBezTo>
                    <a:pt x="8169" y="75"/>
                    <a:pt x="8107" y="7"/>
                    <a:pt x="8022" y="7"/>
                  </a:cubicBezTo>
                  <a:cubicBezTo>
                    <a:pt x="8016" y="7"/>
                    <a:pt x="8009" y="7"/>
                    <a:pt x="8002" y="8"/>
                  </a:cubicBezTo>
                  <a:cubicBezTo>
                    <a:pt x="7490" y="56"/>
                    <a:pt x="6978" y="234"/>
                    <a:pt x="6549" y="532"/>
                  </a:cubicBezTo>
                  <a:cubicBezTo>
                    <a:pt x="6359" y="663"/>
                    <a:pt x="6156" y="818"/>
                    <a:pt x="6002" y="996"/>
                  </a:cubicBezTo>
                  <a:cubicBezTo>
                    <a:pt x="5918" y="1068"/>
                    <a:pt x="5859" y="1139"/>
                    <a:pt x="5799" y="1211"/>
                  </a:cubicBezTo>
                  <a:cubicBezTo>
                    <a:pt x="5787" y="1247"/>
                    <a:pt x="5764" y="1258"/>
                    <a:pt x="5740" y="1294"/>
                  </a:cubicBezTo>
                  <a:cubicBezTo>
                    <a:pt x="5525" y="996"/>
                    <a:pt x="5252" y="735"/>
                    <a:pt x="4954" y="532"/>
                  </a:cubicBezTo>
                  <a:cubicBezTo>
                    <a:pt x="4414" y="174"/>
                    <a:pt x="3803" y="1"/>
                    <a:pt x="31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3589;p71">
              <a:extLst>
                <a:ext uri="{FF2B5EF4-FFF2-40B4-BE49-F238E27FC236}">
                  <a16:creationId xmlns:a16="http://schemas.microsoft.com/office/drawing/2014/main" id="{5DADF8AA-1AA8-18ED-F0ED-FEFDE95BA69C}"/>
                </a:ext>
              </a:extLst>
            </p:cNvPr>
            <p:cNvSpPr/>
            <p:nvPr/>
          </p:nvSpPr>
          <p:spPr>
            <a:xfrm>
              <a:off x="4015113" y="2540870"/>
              <a:ext cx="96212" cy="95832"/>
            </a:xfrm>
            <a:custGeom>
              <a:avLst/>
              <a:gdLst/>
              <a:ahLst/>
              <a:cxnLst/>
              <a:rect l="l" t="t" r="r" b="b"/>
              <a:pathLst>
                <a:path w="3037" h="3025" extrusionOk="0">
                  <a:moveTo>
                    <a:pt x="1418" y="346"/>
                  </a:moveTo>
                  <a:cubicBezTo>
                    <a:pt x="2013" y="346"/>
                    <a:pt x="2501" y="834"/>
                    <a:pt x="2501" y="1430"/>
                  </a:cubicBezTo>
                  <a:cubicBezTo>
                    <a:pt x="2501" y="1668"/>
                    <a:pt x="2430" y="1894"/>
                    <a:pt x="2299" y="2072"/>
                  </a:cubicBezTo>
                  <a:lnTo>
                    <a:pt x="1537" y="1310"/>
                  </a:lnTo>
                  <a:cubicBezTo>
                    <a:pt x="1507" y="1281"/>
                    <a:pt x="1462" y="1266"/>
                    <a:pt x="1418" y="1266"/>
                  </a:cubicBezTo>
                  <a:cubicBezTo>
                    <a:pt x="1373" y="1266"/>
                    <a:pt x="1328" y="1281"/>
                    <a:pt x="1298" y="1310"/>
                  </a:cubicBezTo>
                  <a:cubicBezTo>
                    <a:pt x="1239" y="1370"/>
                    <a:pt x="1239" y="1489"/>
                    <a:pt x="1298" y="1549"/>
                  </a:cubicBezTo>
                  <a:lnTo>
                    <a:pt x="2060" y="2311"/>
                  </a:lnTo>
                  <a:cubicBezTo>
                    <a:pt x="1870" y="2442"/>
                    <a:pt x="1656" y="2513"/>
                    <a:pt x="1418" y="2513"/>
                  </a:cubicBezTo>
                  <a:cubicBezTo>
                    <a:pt x="822" y="2513"/>
                    <a:pt x="334" y="2025"/>
                    <a:pt x="334" y="1430"/>
                  </a:cubicBezTo>
                  <a:cubicBezTo>
                    <a:pt x="334" y="834"/>
                    <a:pt x="822" y="346"/>
                    <a:pt x="1418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30"/>
                  </a:cubicBezTo>
                  <a:cubicBezTo>
                    <a:pt x="1" y="2215"/>
                    <a:pt x="644" y="2858"/>
                    <a:pt x="1429" y="2858"/>
                  </a:cubicBezTo>
                  <a:cubicBezTo>
                    <a:pt x="1763" y="2858"/>
                    <a:pt x="2072" y="2739"/>
                    <a:pt x="2310" y="2549"/>
                  </a:cubicBezTo>
                  <a:lnTo>
                    <a:pt x="2739" y="2977"/>
                  </a:lnTo>
                  <a:cubicBezTo>
                    <a:pt x="2775" y="3001"/>
                    <a:pt x="2811" y="3025"/>
                    <a:pt x="2858" y="3025"/>
                  </a:cubicBezTo>
                  <a:cubicBezTo>
                    <a:pt x="2906" y="3025"/>
                    <a:pt x="2953" y="3001"/>
                    <a:pt x="2977" y="2977"/>
                  </a:cubicBezTo>
                  <a:cubicBezTo>
                    <a:pt x="3037" y="2918"/>
                    <a:pt x="3037" y="2811"/>
                    <a:pt x="2977" y="2739"/>
                  </a:cubicBezTo>
                  <a:lnTo>
                    <a:pt x="2549" y="2311"/>
                  </a:lnTo>
                  <a:cubicBezTo>
                    <a:pt x="2739" y="2072"/>
                    <a:pt x="2858" y="1751"/>
                    <a:pt x="2858" y="1430"/>
                  </a:cubicBezTo>
                  <a:cubicBezTo>
                    <a:pt x="2858" y="644"/>
                    <a:pt x="2215" y="1"/>
                    <a:pt x="142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3590;p71">
              <a:extLst>
                <a:ext uri="{FF2B5EF4-FFF2-40B4-BE49-F238E27FC236}">
                  <a16:creationId xmlns:a16="http://schemas.microsoft.com/office/drawing/2014/main" id="{D33318CD-0A06-ADF4-13F3-ED9D65041FE8}"/>
                </a:ext>
              </a:extLst>
            </p:cNvPr>
            <p:cNvSpPr/>
            <p:nvPr/>
          </p:nvSpPr>
          <p:spPr>
            <a:xfrm>
              <a:off x="4186375" y="2539381"/>
              <a:ext cx="77331" cy="90541"/>
            </a:xfrm>
            <a:custGeom>
              <a:avLst/>
              <a:gdLst/>
              <a:ahLst/>
              <a:cxnLst/>
              <a:rect l="l" t="t" r="r" b="b"/>
              <a:pathLst>
                <a:path w="2441" h="2858" extrusionOk="0">
                  <a:moveTo>
                    <a:pt x="1203" y="607"/>
                  </a:moveTo>
                  <a:lnTo>
                    <a:pt x="1572" y="1524"/>
                  </a:lnTo>
                  <a:lnTo>
                    <a:pt x="834" y="1524"/>
                  </a:lnTo>
                  <a:lnTo>
                    <a:pt x="1203" y="607"/>
                  </a:lnTo>
                  <a:close/>
                  <a:moveTo>
                    <a:pt x="1215" y="0"/>
                  </a:moveTo>
                  <a:cubicBezTo>
                    <a:pt x="1155" y="0"/>
                    <a:pt x="1084" y="48"/>
                    <a:pt x="1072" y="107"/>
                  </a:cubicBezTo>
                  <a:lnTo>
                    <a:pt x="441" y="1619"/>
                  </a:lnTo>
                  <a:lnTo>
                    <a:pt x="24" y="2620"/>
                  </a:lnTo>
                  <a:cubicBezTo>
                    <a:pt x="0" y="2715"/>
                    <a:pt x="24" y="2798"/>
                    <a:pt x="119" y="2846"/>
                  </a:cubicBezTo>
                  <a:cubicBezTo>
                    <a:pt x="139" y="2851"/>
                    <a:pt x="159" y="2854"/>
                    <a:pt x="179" y="2854"/>
                  </a:cubicBezTo>
                  <a:cubicBezTo>
                    <a:pt x="245" y="2854"/>
                    <a:pt x="309" y="2823"/>
                    <a:pt x="345" y="2750"/>
                  </a:cubicBezTo>
                  <a:lnTo>
                    <a:pt x="714" y="1858"/>
                  </a:lnTo>
                  <a:lnTo>
                    <a:pt x="1750" y="1858"/>
                  </a:lnTo>
                  <a:lnTo>
                    <a:pt x="2131" y="2750"/>
                  </a:lnTo>
                  <a:cubicBezTo>
                    <a:pt x="2155" y="2810"/>
                    <a:pt x="2215" y="2858"/>
                    <a:pt x="2274" y="2858"/>
                  </a:cubicBezTo>
                  <a:cubicBezTo>
                    <a:pt x="2286" y="2858"/>
                    <a:pt x="2322" y="2858"/>
                    <a:pt x="2334" y="2846"/>
                  </a:cubicBezTo>
                  <a:cubicBezTo>
                    <a:pt x="2405" y="2798"/>
                    <a:pt x="2441" y="2715"/>
                    <a:pt x="2405" y="2620"/>
                  </a:cubicBezTo>
                  <a:lnTo>
                    <a:pt x="1988" y="1619"/>
                  </a:lnTo>
                  <a:lnTo>
                    <a:pt x="1369" y="107"/>
                  </a:lnTo>
                  <a:cubicBezTo>
                    <a:pt x="1334" y="48"/>
                    <a:pt x="1274" y="0"/>
                    <a:pt x="1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810784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2948</TotalTime>
  <Words>724</Words>
  <Application>Microsoft Office PowerPoint</Application>
  <PresentationFormat>寬螢幕</PresentationFormat>
  <Paragraphs>92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5" baseType="lpstr">
      <vt:lpstr>微軟正黑體</vt:lpstr>
      <vt:lpstr>微軟正黑體</vt:lpstr>
      <vt:lpstr>Arial</vt:lpstr>
      <vt:lpstr>Calibri</vt:lpstr>
      <vt:lpstr>Calibri Light</vt:lpstr>
      <vt:lpstr>Cambria Math</vt:lpstr>
      <vt:lpstr>Office 佈景主題</vt:lpstr>
      <vt:lpstr>大屯火山群高密度次聲波資料分析</vt:lpstr>
      <vt:lpstr>Introduction</vt:lpstr>
      <vt:lpstr>Methodology</vt:lpstr>
      <vt:lpstr>Preliminary Results – Time, Frequency, Spectrogram</vt:lpstr>
      <vt:lpstr>Preliminary Results – Power Spectral Density Plot</vt:lpstr>
      <vt:lpstr>Preliminary Results – Band Power Plot</vt:lpstr>
      <vt:lpstr>Conclusion &amp; Future Works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Identification of Tatun Volcano Group</dc:title>
  <dc:creator>奕丞 林</dc:creator>
  <cp:lastModifiedBy>奕丞 林</cp:lastModifiedBy>
  <cp:revision>609</cp:revision>
  <dcterms:created xsi:type="dcterms:W3CDTF">2023-07-19T02:18:21Z</dcterms:created>
  <dcterms:modified xsi:type="dcterms:W3CDTF">2023-07-28T04:47:25Z</dcterms:modified>
</cp:coreProperties>
</file>